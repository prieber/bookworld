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9" r:id="rId4"/>
    <p:sldId id="276" r:id="rId5"/>
    <p:sldId id="268" r:id="rId6"/>
    <p:sldId id="277" r:id="rId7"/>
    <p:sldId id="269" r:id="rId8"/>
    <p:sldId id="270" r:id="rId9"/>
    <p:sldId id="278" r:id="rId10"/>
    <p:sldId id="279" r:id="rId11"/>
    <p:sldId id="274" r:id="rId12"/>
    <p:sldId id="27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740"/>
    <a:srgbClr val="D0B700"/>
    <a:srgbClr val="A0522D"/>
    <a:srgbClr val="008A00"/>
    <a:srgbClr val="F0A30A"/>
    <a:srgbClr val="E3C800"/>
    <a:srgbClr val="FFFFFF"/>
    <a:srgbClr val="1BA1E2"/>
    <a:srgbClr val="E84D38"/>
    <a:srgbClr val="F2F1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256" autoAdjust="0"/>
  </p:normalViewPr>
  <p:slideViewPr>
    <p:cSldViewPr snapToGrid="0" snapToObjects="1">
      <p:cViewPr varScale="1">
        <p:scale>
          <a:sx n="94" d="100"/>
          <a:sy n="94"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57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FR" dirty="0"/>
              <a:t>Définition du RGPD : une réglementation européenne en vigueur depuis 2018, qui encadre comment les entreprises collectent, stockent et utilisent les données personnelles. Définition d'une donnée personnelle : toute info qui permet d'identifier quelqu'un, soit directement (nom, email), soit indirectement (en combinant plusieurs informations qui, ensemble, permettent de remonter à une personne).</a:t>
            </a:r>
            <a:endParaRPr lang="fr-FR" b="1" dirty="0"/>
          </a:p>
          <a:p>
            <a:endParaRPr lang="fr-FR" b="1" dirty="0"/>
          </a:p>
          <a:p>
            <a:r>
              <a:rPr lang="fr-FR" b="1" dirty="0"/>
              <a:t>Les 4 </a:t>
            </a:r>
            <a:r>
              <a:rPr lang="fr-FR" b="1" dirty="0" err="1"/>
              <a:t>bullets</a:t>
            </a:r>
            <a:r>
              <a:rPr lang="fr-FR" b="1" dirty="0"/>
              <a:t> (les principes clés)</a:t>
            </a:r>
            <a:endParaRPr lang="fr-FR" dirty="0"/>
          </a:p>
          <a:p>
            <a:r>
              <a:rPr lang="fr-FR" b="1" dirty="0"/>
              <a:t>Minimisation</a:t>
            </a:r>
            <a:r>
              <a:rPr lang="fr-FR" dirty="0"/>
              <a:t> — une entreprise ne doit collecter et garder que les données dont elle a vraiment besoin pour son usage prévu, rien de plus "au cas où".</a:t>
            </a:r>
          </a:p>
          <a:p>
            <a:r>
              <a:rPr lang="fr-FR" b="1" dirty="0"/>
              <a:t>Finalité</a:t>
            </a:r>
            <a:r>
              <a:rPr lang="fr-FR" dirty="0"/>
              <a:t> — une donnée collectée pour un usage précis (ex : facturation) ne peut pas être réutilisée pour autre chose (ex : marketing) sans nouvelle base légale.</a:t>
            </a:r>
          </a:p>
          <a:p>
            <a:r>
              <a:rPr lang="fr-FR" b="1" dirty="0"/>
              <a:t>Droits des personnes</a:t>
            </a:r>
            <a:r>
              <a:rPr lang="fr-FR" dirty="0"/>
              <a:t> — chaque individu peut demander à voir ses données, à les corriger, ou à les faire supprimer ("droit à l'oubli").</a:t>
            </a:r>
          </a:p>
          <a:p>
            <a:r>
              <a:rPr lang="fr-FR" b="1" dirty="0"/>
              <a:t>Sanctions</a:t>
            </a:r>
            <a:r>
              <a:rPr lang="fr-FR" dirty="0"/>
              <a:t> — l'enjeu concret : jusqu'à 4 % du chiffre d'affaires mondial annuel en cas de non-conformité, ce qui explique pourquoi les entreprises prennent ça au sérieux.</a:t>
            </a:r>
          </a:p>
          <a:p>
            <a:endParaRPr lang="fr-FR" dirty="0"/>
          </a:p>
        </p:txBody>
      </p:sp>
    </p:spTree>
    <p:extLst>
      <p:ext uri="{BB962C8B-B14F-4D97-AF65-F5344CB8AC3E}">
        <p14:creationId xmlns:p14="http://schemas.microsoft.com/office/powerpoint/2010/main" val="3935176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74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3" name="Shape 1"/>
          <p:cNvSpPr/>
          <p:nvPr/>
        </p:nvSpPr>
        <p:spPr>
          <a:xfrm>
            <a:off x="9692640" y="-1645920"/>
            <a:ext cx="4572000" cy="4572000"/>
          </a:xfrm>
          <a:prstGeom prst="ellipse">
            <a:avLst/>
          </a:prstGeom>
          <a:solidFill>
            <a:srgbClr val="2E3E5C"/>
          </a:solidFill>
          <a:ln/>
        </p:spPr>
        <p:txBody>
          <a:bodyPr/>
          <a:lstStyle/>
          <a:p>
            <a:endParaRPr lang="fr-FR">
              <a:latin typeface="Aptos" panose="020B0004020202020204" pitchFamily="34" charset="0"/>
              <a:cs typeface="Arial" panose="020B0604020202020204" pitchFamily="34" charset="0"/>
            </a:endParaRPr>
          </a:p>
        </p:txBody>
      </p:sp>
      <p:sp>
        <p:nvSpPr>
          <p:cNvPr id="4" name="Shape 2"/>
          <p:cNvSpPr/>
          <p:nvPr/>
        </p:nvSpPr>
        <p:spPr>
          <a:xfrm>
            <a:off x="-1645921" y="5296575"/>
            <a:ext cx="3115905" cy="3115905"/>
          </a:xfrm>
          <a:prstGeom prst="ellipse">
            <a:avLst/>
          </a:prstGeom>
          <a:solidFill>
            <a:srgbClr val="C23420"/>
          </a:solidFill>
          <a:ln/>
        </p:spPr>
        <p:txBody>
          <a:bodyPr/>
          <a:lstStyle/>
          <a:p>
            <a:endParaRPr lang="fr-FR">
              <a:latin typeface="Aptos" panose="020B0004020202020204" pitchFamily="34" charset="0"/>
              <a:cs typeface="Arial" panose="020B0604020202020204" pitchFamily="34" charset="0"/>
            </a:endParaRPr>
          </a:p>
        </p:txBody>
      </p:sp>
      <p:sp>
        <p:nvSpPr>
          <p:cNvPr id="5" name="Text 3"/>
          <p:cNvSpPr/>
          <p:nvPr/>
        </p:nvSpPr>
        <p:spPr>
          <a:xfrm>
            <a:off x="548640" y="1920240"/>
            <a:ext cx="9144000" cy="365760"/>
          </a:xfrm>
          <a:prstGeom prst="rect">
            <a:avLst/>
          </a:prstGeom>
          <a:noFill/>
          <a:ln/>
        </p:spPr>
        <p:txBody>
          <a:bodyPr wrap="square" lIns="0" tIns="0" rIns="0" bIns="0" rtlCol="0" anchor="ctr"/>
          <a:lstStyle/>
          <a:p>
            <a:pPr marL="0" indent="0">
              <a:buNone/>
            </a:pPr>
            <a:r>
              <a:rPr lang="en-US" sz="1400" b="1" kern="0" spc="200" dirty="0">
                <a:solidFill>
                  <a:srgbClr val="E8452F"/>
                </a:solidFill>
                <a:latin typeface="Aptos" panose="020B0004020202020204" pitchFamily="34" charset="0"/>
                <a:ea typeface="Calibri" pitchFamily="34" charset="-122"/>
                <a:cs typeface="Arial" panose="020B0604020202020204" pitchFamily="34" charset="0"/>
              </a:rPr>
              <a:t>CERTIFICATION RNCP — DATABIRD DAPT</a:t>
            </a:r>
            <a:endParaRPr lang="en-US" sz="1400" dirty="0">
              <a:latin typeface="Aptos" panose="020B0004020202020204" pitchFamily="34" charset="0"/>
              <a:cs typeface="Arial" panose="020B0604020202020204" pitchFamily="34" charset="0"/>
            </a:endParaRPr>
          </a:p>
        </p:txBody>
      </p:sp>
      <p:sp>
        <p:nvSpPr>
          <p:cNvPr id="6" name="Text 4"/>
          <p:cNvSpPr/>
          <p:nvPr/>
        </p:nvSpPr>
        <p:spPr>
          <a:xfrm>
            <a:off x="548640" y="2331720"/>
            <a:ext cx="10058400" cy="1188720"/>
          </a:xfrm>
          <a:prstGeom prst="rect">
            <a:avLst/>
          </a:prstGeom>
          <a:noFill/>
          <a:ln/>
        </p:spPr>
        <p:txBody>
          <a:bodyPr wrap="square" lIns="0" tIns="0" rIns="0" bIns="0" rtlCol="0" anchor="ctr"/>
          <a:lstStyle/>
          <a:p>
            <a:pPr marL="0" indent="0">
              <a:buNone/>
            </a:pPr>
            <a:r>
              <a:rPr lang="en-US" sz="6000" b="1" dirty="0">
                <a:solidFill>
                  <a:srgbClr val="FFFFFF"/>
                </a:solidFill>
                <a:latin typeface="Aptos" panose="020B0004020202020204" pitchFamily="34" charset="0"/>
                <a:ea typeface="Calibri" pitchFamily="34" charset="-122"/>
                <a:cs typeface="Arial" panose="020B0604020202020204" pitchFamily="34" charset="0"/>
              </a:rPr>
              <a:t>BookWorld</a:t>
            </a:r>
            <a:endParaRPr lang="en-US" sz="6000" dirty="0">
              <a:latin typeface="Aptos" panose="020B0004020202020204" pitchFamily="34" charset="0"/>
              <a:cs typeface="Arial" panose="020B0604020202020204" pitchFamily="34" charset="0"/>
            </a:endParaRPr>
          </a:p>
        </p:txBody>
      </p:sp>
      <p:sp>
        <p:nvSpPr>
          <p:cNvPr id="7" name="Text 5"/>
          <p:cNvSpPr/>
          <p:nvPr/>
        </p:nvSpPr>
        <p:spPr>
          <a:xfrm>
            <a:off x="548640" y="3520440"/>
            <a:ext cx="8686800" cy="822960"/>
          </a:xfrm>
          <a:prstGeom prst="rect">
            <a:avLst/>
          </a:prstGeom>
          <a:noFill/>
          <a:ln/>
        </p:spPr>
        <p:txBody>
          <a:bodyPr wrap="square" lIns="0" tIns="0" rIns="0" bIns="0" rtlCol="0" anchor="ctr"/>
          <a:lstStyle/>
          <a:p>
            <a:pPr marL="0" indent="0">
              <a:lnSpc>
                <a:spcPct val="120000"/>
              </a:lnSpc>
              <a:buNone/>
            </a:pPr>
            <a:r>
              <a:rPr lang="en-US" sz="1800" dirty="0">
                <a:solidFill>
                  <a:srgbClr val="C9CEDA"/>
                </a:solidFill>
                <a:latin typeface="Aptos" panose="020B0004020202020204" pitchFamily="34" charset="0"/>
                <a:ea typeface="Calibri" pitchFamily="34" charset="-122"/>
                <a:cs typeface="Arial" panose="020B0604020202020204" pitchFamily="34" charset="0"/>
              </a:rPr>
              <a:t>Pipeline de données, base SQL et API REST pour piloter</a:t>
            </a:r>
            <a:endParaRPr lang="en-US" sz="1800" dirty="0">
              <a:latin typeface="Aptos" panose="020B0004020202020204" pitchFamily="34" charset="0"/>
              <a:cs typeface="Arial" panose="020B0604020202020204" pitchFamily="34" charset="0"/>
            </a:endParaRPr>
          </a:p>
          <a:p>
            <a:pPr marL="0" indent="0">
              <a:lnSpc>
                <a:spcPct val="120000"/>
              </a:lnSpc>
              <a:buNone/>
            </a:pPr>
            <a:r>
              <a:rPr lang="en-US" sz="1800" dirty="0">
                <a:solidFill>
                  <a:srgbClr val="C9CEDA"/>
                </a:solidFill>
                <a:latin typeface="Aptos" panose="020B0004020202020204" pitchFamily="34" charset="0"/>
                <a:ea typeface="Calibri" pitchFamily="34" charset="-122"/>
                <a:cs typeface="Arial" panose="020B0604020202020204" pitchFamily="34" charset="0"/>
              </a:rPr>
              <a:t>des ventes de livres à l'international</a:t>
            </a:r>
            <a:endParaRPr lang="en-US" sz="1800" dirty="0">
              <a:latin typeface="Aptos" panose="020B0004020202020204" pitchFamily="34" charset="0"/>
              <a:cs typeface="Arial" panose="020B0604020202020204" pitchFamily="34" charset="0"/>
            </a:endParaRPr>
          </a:p>
        </p:txBody>
      </p:sp>
      <p:sp>
        <p:nvSpPr>
          <p:cNvPr id="8" name="Shape 6"/>
          <p:cNvSpPr/>
          <p:nvPr/>
        </p:nvSpPr>
        <p:spPr>
          <a:xfrm>
            <a:off x="548640" y="4617720"/>
            <a:ext cx="1097280" cy="0"/>
          </a:xfrm>
          <a:prstGeom prst="line">
            <a:avLst/>
          </a:prstGeom>
          <a:noFill/>
          <a:ln w="38100">
            <a:solidFill>
              <a:srgbClr val="E8452F"/>
            </a:solidFill>
            <a:prstDash val="solid"/>
          </a:ln>
        </p:spPr>
        <p:txBody>
          <a:bodyPr/>
          <a:lstStyle/>
          <a:p>
            <a:endParaRPr lang="fr-FR">
              <a:latin typeface="Aptos" panose="020B0004020202020204" pitchFamily="34" charset="0"/>
              <a:cs typeface="Arial" panose="020B0604020202020204" pitchFamily="34" charset="0"/>
            </a:endParaRPr>
          </a:p>
        </p:txBody>
      </p:sp>
      <p:sp>
        <p:nvSpPr>
          <p:cNvPr id="9" name="Text 7"/>
          <p:cNvSpPr/>
          <p:nvPr/>
        </p:nvSpPr>
        <p:spPr>
          <a:xfrm>
            <a:off x="548640" y="4846320"/>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Aptos" panose="020B0004020202020204" pitchFamily="34" charset="0"/>
                <a:ea typeface="Calibri" pitchFamily="34" charset="-122"/>
                <a:cs typeface="Arial" panose="020B0604020202020204" pitchFamily="34" charset="0"/>
              </a:rPr>
              <a:t>RIEBER Pierre</a:t>
            </a:r>
            <a:endParaRPr lang="en-US" sz="1500" dirty="0">
              <a:latin typeface="Aptos" panose="020B00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cs typeface="Arial" panose="020B06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Arial" panose="020B0604020202020204" pitchFamily="34" charset="0"/>
              </a:rPr>
              <a:t>2</a:t>
            </a:r>
            <a:endParaRPr lang="en-US" sz="2000" dirty="0">
              <a:latin typeface="Aptos" panose="020B0004020202020204" pitchFamily="34" charset="0"/>
              <a:cs typeface="Arial" panose="020B06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Arial" panose="020B0604020202020204" pitchFamily="34" charset="0"/>
              </a:rPr>
              <a:t>INTRODUCTION</a:t>
            </a:r>
            <a:endParaRPr lang="en-US" sz="1200" dirty="0">
              <a:latin typeface="Aptos" panose="020B0004020202020204" pitchFamily="34" charset="0"/>
              <a:cs typeface="Arial" panose="020B06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Arial" panose="020B0604020202020204" pitchFamily="34" charset="0"/>
              </a:rPr>
              <a:t>Le contexte du projet</a:t>
            </a:r>
            <a:endParaRPr lang="en-US" sz="2600" dirty="0">
              <a:latin typeface="Aptos" panose="020B0004020202020204" pitchFamily="34" charset="0"/>
              <a:cs typeface="Arial" panose="020B0604020202020204" pitchFamily="34" charset="0"/>
            </a:endParaRPr>
          </a:p>
        </p:txBody>
      </p:sp>
      <p:sp>
        <p:nvSpPr>
          <p:cNvPr id="6" name="Text 4"/>
          <p:cNvSpPr/>
          <p:nvPr/>
        </p:nvSpPr>
        <p:spPr>
          <a:xfrm>
            <a:off x="548640" y="1508760"/>
            <a:ext cx="6035040" cy="1005840"/>
          </a:xfrm>
          <a:prstGeom prst="rect">
            <a:avLst/>
          </a:prstGeom>
          <a:noFill/>
          <a:ln/>
        </p:spPr>
        <p:txBody>
          <a:bodyPr wrap="square" lIns="0" tIns="0" rIns="0" bIns="0" rtlCol="0" anchor="ctr"/>
          <a:lstStyle/>
          <a:p>
            <a:pPr marL="0" indent="0">
              <a:lnSpc>
                <a:spcPct val="125000"/>
              </a:lnSpc>
              <a:buNone/>
            </a:pPr>
            <a:r>
              <a:rPr lang="en-US" sz="1600" b="1" dirty="0">
                <a:solidFill>
                  <a:srgbClr val="E84D38"/>
                </a:solidFill>
                <a:latin typeface="Aptos" panose="020B0004020202020204" pitchFamily="34" charset="0"/>
                <a:ea typeface="Calibri" pitchFamily="34" charset="-122"/>
                <a:cs typeface="Arial" panose="020B0604020202020204" pitchFamily="34" charset="0"/>
              </a:rPr>
              <a:t>BookWorld</a:t>
            </a:r>
            <a:r>
              <a:rPr lang="en-US" sz="1600" dirty="0">
                <a:solidFill>
                  <a:srgbClr val="1B2740"/>
                </a:solidFill>
                <a:latin typeface="Aptos" panose="020B0004020202020204" pitchFamily="34" charset="0"/>
                <a:ea typeface="Calibri" pitchFamily="34" charset="-122"/>
                <a:cs typeface="Arial" panose="020B0604020202020204" pitchFamily="34" charset="0"/>
              </a:rPr>
              <a:t> est une entreprise fictive de vente de livres en ligne, qui souhaite mieux piloter son activité à l'international.</a:t>
            </a:r>
            <a:endParaRPr lang="en-US" sz="1600" dirty="0">
              <a:latin typeface="Aptos" panose="020B0004020202020204" pitchFamily="34" charset="0"/>
              <a:cs typeface="Arial" panose="020B0604020202020204" pitchFamily="34" charset="0"/>
            </a:endParaRPr>
          </a:p>
        </p:txBody>
      </p:sp>
      <p:sp>
        <p:nvSpPr>
          <p:cNvPr id="7" name="Text 5"/>
          <p:cNvSpPr/>
          <p:nvPr/>
        </p:nvSpPr>
        <p:spPr>
          <a:xfrm>
            <a:off x="548640" y="2606040"/>
            <a:ext cx="6035040" cy="1005840"/>
          </a:xfrm>
          <a:prstGeom prst="rect">
            <a:avLst/>
          </a:prstGeom>
          <a:noFill/>
          <a:ln/>
        </p:spPr>
        <p:txBody>
          <a:bodyPr wrap="square" lIns="0" tIns="0" rIns="0" bIns="0" rtlCol="0" anchor="ctr"/>
          <a:lstStyle/>
          <a:p>
            <a:pPr marL="0" indent="0">
              <a:lnSpc>
                <a:spcPct val="125000"/>
              </a:lnSpc>
              <a:buNone/>
            </a:pPr>
            <a:r>
              <a:rPr lang="en-US" sz="1600" u="sng" dirty="0">
                <a:solidFill>
                  <a:srgbClr val="1B2740"/>
                </a:solidFill>
                <a:latin typeface="Aptos" panose="020B0004020202020204" pitchFamily="34" charset="0"/>
                <a:ea typeface="Calibri" pitchFamily="34" charset="-122"/>
                <a:cs typeface="Arial" panose="020B0604020202020204" pitchFamily="34" charset="0"/>
              </a:rPr>
              <a:t>Problème</a:t>
            </a:r>
            <a:r>
              <a:rPr lang="en-US" sz="1600" dirty="0">
                <a:solidFill>
                  <a:srgbClr val="1B2740"/>
                </a:solidFill>
                <a:latin typeface="Aptos" panose="020B0004020202020204" pitchFamily="34" charset="0"/>
                <a:ea typeface="Calibri" pitchFamily="34" charset="-122"/>
                <a:cs typeface="Arial" panose="020B0604020202020204" pitchFamily="34" charset="0"/>
              </a:rPr>
              <a:t> : ses données sont dispersées entre 4 sources hétérogènes, sans vision consolidée des ventes par pays.</a:t>
            </a:r>
            <a:endParaRPr lang="en-US" sz="1600" dirty="0">
              <a:latin typeface="Aptos" panose="020B0004020202020204" pitchFamily="34" charset="0"/>
              <a:cs typeface="Arial" panose="020B0604020202020204" pitchFamily="34" charset="0"/>
            </a:endParaRPr>
          </a:p>
        </p:txBody>
      </p:sp>
      <p:sp>
        <p:nvSpPr>
          <p:cNvPr id="8" name="Shape 6"/>
          <p:cNvSpPr/>
          <p:nvPr/>
        </p:nvSpPr>
        <p:spPr>
          <a:xfrm>
            <a:off x="7223760" y="155448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9" name="Text 7"/>
          <p:cNvSpPr/>
          <p:nvPr/>
        </p:nvSpPr>
        <p:spPr>
          <a:xfrm>
            <a:off x="7360920" y="166420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CSV</a:t>
            </a:r>
            <a:endParaRPr lang="en-US" sz="1600" dirty="0">
              <a:latin typeface="Aptos" panose="020B0004020202020204" pitchFamily="34" charset="0"/>
              <a:cs typeface="Arial" panose="020B0604020202020204" pitchFamily="34" charset="0"/>
            </a:endParaRPr>
          </a:p>
        </p:txBody>
      </p:sp>
      <p:sp>
        <p:nvSpPr>
          <p:cNvPr id="10" name="Text 8"/>
          <p:cNvSpPr/>
          <p:nvPr/>
        </p:nvSpPr>
        <p:spPr>
          <a:xfrm>
            <a:off x="7360920" y="208483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Ventes brutes</a:t>
            </a:r>
            <a:endParaRPr lang="en-US" sz="1400" b="1" cap="small" dirty="0">
              <a:latin typeface="Aptos" panose="020B0004020202020204" pitchFamily="34" charset="0"/>
              <a:cs typeface="Arial" panose="020B0604020202020204" pitchFamily="34" charset="0"/>
            </a:endParaRPr>
          </a:p>
        </p:txBody>
      </p:sp>
      <p:sp>
        <p:nvSpPr>
          <p:cNvPr id="11" name="Shape 9"/>
          <p:cNvSpPr/>
          <p:nvPr/>
        </p:nvSpPr>
        <p:spPr>
          <a:xfrm>
            <a:off x="9555480" y="155448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12" name="Text 10"/>
          <p:cNvSpPr/>
          <p:nvPr/>
        </p:nvSpPr>
        <p:spPr>
          <a:xfrm>
            <a:off x="9692640" y="166420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SQLite</a:t>
            </a:r>
            <a:endParaRPr lang="en-US" sz="1600" dirty="0">
              <a:latin typeface="Aptos" panose="020B0004020202020204" pitchFamily="34" charset="0"/>
              <a:cs typeface="Arial" panose="020B0604020202020204" pitchFamily="34" charset="0"/>
            </a:endParaRPr>
          </a:p>
        </p:txBody>
      </p:sp>
      <p:sp>
        <p:nvSpPr>
          <p:cNvPr id="13" name="Text 11"/>
          <p:cNvSpPr/>
          <p:nvPr/>
        </p:nvSpPr>
        <p:spPr>
          <a:xfrm>
            <a:off x="9692640" y="208483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Référentiels métier</a:t>
            </a:r>
            <a:endParaRPr lang="en-US" sz="1400" b="1" cap="small" dirty="0">
              <a:latin typeface="Aptos" panose="020B0004020202020204" pitchFamily="34" charset="0"/>
              <a:cs typeface="Arial" panose="020B0604020202020204" pitchFamily="34" charset="0"/>
            </a:endParaRPr>
          </a:p>
        </p:txBody>
      </p:sp>
      <p:sp>
        <p:nvSpPr>
          <p:cNvPr id="14" name="Shape 12"/>
          <p:cNvSpPr/>
          <p:nvPr/>
        </p:nvSpPr>
        <p:spPr>
          <a:xfrm>
            <a:off x="7223760" y="278892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15" name="Text 13"/>
          <p:cNvSpPr/>
          <p:nvPr/>
        </p:nvSpPr>
        <p:spPr>
          <a:xfrm>
            <a:off x="7360920" y="289864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Web</a:t>
            </a:r>
            <a:endParaRPr lang="en-US" sz="1600" dirty="0">
              <a:latin typeface="Aptos" panose="020B0004020202020204" pitchFamily="34" charset="0"/>
              <a:cs typeface="Arial" panose="020B0604020202020204" pitchFamily="34" charset="0"/>
            </a:endParaRPr>
          </a:p>
        </p:txBody>
      </p:sp>
      <p:sp>
        <p:nvSpPr>
          <p:cNvPr id="16" name="Text 14"/>
          <p:cNvSpPr/>
          <p:nvPr/>
        </p:nvSpPr>
        <p:spPr>
          <a:xfrm>
            <a:off x="7360920" y="331927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Catalogue de livres</a:t>
            </a:r>
            <a:endParaRPr lang="en-US" sz="1400" b="1" cap="small" dirty="0">
              <a:latin typeface="Aptos" panose="020B0004020202020204" pitchFamily="34" charset="0"/>
              <a:cs typeface="Arial" panose="020B0604020202020204" pitchFamily="34" charset="0"/>
            </a:endParaRPr>
          </a:p>
        </p:txBody>
      </p:sp>
      <p:sp>
        <p:nvSpPr>
          <p:cNvPr id="17" name="Shape 15"/>
          <p:cNvSpPr/>
          <p:nvPr/>
        </p:nvSpPr>
        <p:spPr>
          <a:xfrm>
            <a:off x="9555480" y="2788920"/>
            <a:ext cx="2148840" cy="1051560"/>
          </a:xfrm>
          <a:prstGeom prst="roundRect">
            <a:avLst>
              <a:gd name="adj" fmla="val 6957"/>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18" name="Text 16"/>
          <p:cNvSpPr/>
          <p:nvPr/>
        </p:nvSpPr>
        <p:spPr>
          <a:xfrm>
            <a:off x="9692640" y="2898648"/>
            <a:ext cx="1874520" cy="365760"/>
          </a:xfrm>
          <a:prstGeom prst="rect">
            <a:avLst/>
          </a:prstGeom>
          <a:noFill/>
          <a:ln/>
        </p:spPr>
        <p:txBody>
          <a:bodyPr wrap="square" lIns="0" tIns="0" rIns="0" bIns="0" rtlCol="0" anchor="ctr"/>
          <a:lstStyle/>
          <a:p>
            <a:pPr marL="0" indent="0">
              <a:buNone/>
            </a:pPr>
            <a:r>
              <a:rPr lang="en-US" sz="1600" b="1" dirty="0">
                <a:solidFill>
                  <a:srgbClr val="E8452F"/>
                </a:solidFill>
                <a:latin typeface="Aptos" panose="020B0004020202020204" pitchFamily="34" charset="0"/>
                <a:ea typeface="Calibri" pitchFamily="34" charset="-122"/>
                <a:cs typeface="Arial" panose="020B0604020202020204" pitchFamily="34" charset="0"/>
              </a:rPr>
              <a:t>API</a:t>
            </a:r>
            <a:endParaRPr lang="en-US" sz="1600" dirty="0">
              <a:latin typeface="Aptos" panose="020B0004020202020204" pitchFamily="34" charset="0"/>
              <a:cs typeface="Arial" panose="020B0604020202020204" pitchFamily="34" charset="0"/>
            </a:endParaRPr>
          </a:p>
        </p:txBody>
      </p:sp>
      <p:sp>
        <p:nvSpPr>
          <p:cNvPr id="19" name="Text 17"/>
          <p:cNvSpPr/>
          <p:nvPr/>
        </p:nvSpPr>
        <p:spPr>
          <a:xfrm>
            <a:off x="9692640" y="3319272"/>
            <a:ext cx="1874520" cy="457200"/>
          </a:xfrm>
          <a:prstGeom prst="rect">
            <a:avLst/>
          </a:prstGeom>
          <a:noFill/>
          <a:ln/>
        </p:spPr>
        <p:txBody>
          <a:bodyPr wrap="square" lIns="0" tIns="0" rIns="0" bIns="0" rtlCol="0" anchor="ctr"/>
          <a:lstStyle/>
          <a:p>
            <a:pPr marL="0" indent="0">
              <a:buNone/>
            </a:pPr>
            <a:r>
              <a:rPr lang="en-US" sz="1400" b="1" cap="small" dirty="0">
                <a:solidFill>
                  <a:srgbClr val="1B2740"/>
                </a:solidFill>
                <a:latin typeface="Aptos" panose="020B0004020202020204" pitchFamily="34" charset="0"/>
                <a:ea typeface="Calibri" pitchFamily="34" charset="-122"/>
                <a:cs typeface="Arial" panose="020B0604020202020204" pitchFamily="34" charset="0"/>
              </a:rPr>
              <a:t>Taux de change</a:t>
            </a:r>
            <a:endParaRPr lang="en-US" sz="1400" b="1" cap="small" dirty="0">
              <a:latin typeface="Aptos" panose="020B0004020202020204" pitchFamily="34" charset="0"/>
              <a:cs typeface="Arial" panose="020B0604020202020204" pitchFamily="34" charset="0"/>
            </a:endParaRPr>
          </a:p>
        </p:txBody>
      </p:sp>
      <p:sp>
        <p:nvSpPr>
          <p:cNvPr id="20" name="Shape 18"/>
          <p:cNvSpPr/>
          <p:nvPr/>
        </p:nvSpPr>
        <p:spPr>
          <a:xfrm>
            <a:off x="548640" y="3977640"/>
            <a:ext cx="11064240" cy="1965960"/>
          </a:xfrm>
          <a:prstGeom prst="roundRect">
            <a:avLst>
              <a:gd name="adj" fmla="val 4651"/>
            </a:avLst>
          </a:prstGeom>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21" name="Text 19"/>
          <p:cNvSpPr/>
          <p:nvPr/>
        </p:nvSpPr>
        <p:spPr>
          <a:xfrm>
            <a:off x="914400" y="4206240"/>
            <a:ext cx="3657600" cy="320040"/>
          </a:xfrm>
          <a:prstGeom prst="rect">
            <a:avLst/>
          </a:prstGeom>
          <a:noFill/>
          <a:ln/>
        </p:spPr>
        <p:txBody>
          <a:bodyPr wrap="square" lIns="0" tIns="0" rIns="0" bIns="0" rtlCol="0" anchor="ctr"/>
          <a:lstStyle/>
          <a:p>
            <a:pPr marL="0" indent="0">
              <a:buNone/>
            </a:pPr>
            <a:r>
              <a:rPr lang="en-US" sz="1600" b="1" kern="0" cap="small" spc="100" dirty="0">
                <a:solidFill>
                  <a:srgbClr val="E8452F"/>
                </a:solidFill>
                <a:latin typeface="Aptos" panose="020B0004020202020204" pitchFamily="34" charset="0"/>
                <a:ea typeface="Calibri" pitchFamily="34" charset="-122"/>
                <a:cs typeface="Arial" panose="020B0604020202020204" pitchFamily="34" charset="0"/>
              </a:rPr>
              <a:t>Objectif</a:t>
            </a:r>
            <a:endParaRPr lang="en-US" sz="1200" cap="small" dirty="0">
              <a:latin typeface="Aptos" panose="020B0004020202020204" pitchFamily="34" charset="0"/>
              <a:cs typeface="Arial" panose="020B0604020202020204" pitchFamily="34" charset="0"/>
            </a:endParaRPr>
          </a:p>
        </p:txBody>
      </p:sp>
      <p:sp>
        <p:nvSpPr>
          <p:cNvPr id="22" name="Text 20"/>
          <p:cNvSpPr/>
          <p:nvPr/>
        </p:nvSpPr>
        <p:spPr>
          <a:xfrm>
            <a:off x="914400" y="4526280"/>
            <a:ext cx="10332720" cy="1280160"/>
          </a:xfrm>
          <a:prstGeom prst="rect">
            <a:avLst/>
          </a:prstGeom>
          <a:noFill/>
          <a:ln/>
        </p:spPr>
        <p:txBody>
          <a:bodyPr wrap="square" lIns="0" tIns="0" rIns="0" bIns="0" rtlCol="0" anchor="ctr"/>
          <a:lstStyle/>
          <a:p>
            <a:pPr marL="0" indent="0">
              <a:lnSpc>
                <a:spcPct val="130000"/>
              </a:lnSpc>
              <a:buNone/>
            </a:pPr>
            <a:r>
              <a:rPr lang="en-US" sz="1500" dirty="0">
                <a:solidFill>
                  <a:srgbClr val="FFFFFF"/>
                </a:solidFill>
                <a:latin typeface="Aptos" panose="020B0004020202020204" pitchFamily="34" charset="0"/>
                <a:ea typeface="Calibri" pitchFamily="34" charset="-122"/>
                <a:cs typeface="Arial" panose="020B0604020202020204" pitchFamily="34" charset="0"/>
              </a:rPr>
              <a:t>Construire un pipeline qui centralise ces sources, produit un jeu de données final propre (les ventes agrégées par pays), crée une base SQL exploitable, et expose un indicateur métier via une API REST.</a:t>
            </a:r>
            <a:endParaRPr lang="en-US" sz="1500" dirty="0">
              <a:latin typeface="Aptos" panose="020B0004020202020204" pitchFamily="34" charset="0"/>
              <a:cs typeface="Arial" panose="020B0604020202020204" pitchFamily="34" charset="0"/>
            </a:endParaRPr>
          </a:p>
        </p:txBody>
      </p:sp>
      <p:sp>
        <p:nvSpPr>
          <p:cNvPr id="30" name="Footnote Livrables"/>
          <p:cNvSpPr/>
          <p:nvPr/>
        </p:nvSpPr>
        <p:spPr>
          <a:xfrm>
            <a:off x="548640" y="6010000"/>
            <a:ext cx="11064240" cy="365760"/>
          </a:xfrm>
          <a:prstGeom prst="rect">
            <a:avLst/>
          </a:prstGeom>
          <a:noFill/>
        </p:spPr>
        <p:txBody>
          <a:bodyPr wrap="square" lIns="0" tIns="0" rIns="0" bIns="0" rtlCol="0" anchor="ctr"/>
          <a:lstStyle/>
          <a:p>
            <a:pPr marL="0" indent="0" algn="ctr">
              <a:buNone/>
            </a:pPr>
            <a:r>
              <a:rPr lang="en-US" sz="1150" i="1" dirty="0">
                <a:solidFill>
                  <a:srgbClr val="6B7280"/>
                </a:solidFill>
                <a:latin typeface="Aptos" panose="020B0004020202020204" pitchFamily="34" charset="0"/>
              </a:rPr>
              <a:t>4 livrables : pipeline Python (extract/transform/load) · base SQL conforme RGPD · API REST (/health, /sales-by-country) · documentation (README, queries.sql, rapport).</a:t>
            </a:r>
          </a:p>
        </p:txBody>
      </p:sp>
      <p:sp>
        <p:nvSpPr>
          <p:cNvPr id="23" name="Text 21"/>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Arial" panose="020B0604020202020204" pitchFamily="34" charset="0"/>
              </a:rPr>
              <a:t>2 / 12</a:t>
            </a:r>
            <a:endParaRPr lang="en-US" sz="1000" dirty="0">
              <a:latin typeface="Aptos" panose="020B00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5" name="Shape 18">
            <a:extLst>
              <a:ext uri="{FF2B5EF4-FFF2-40B4-BE49-F238E27FC236}">
                <a16:creationId xmlns:a16="http://schemas.microsoft.com/office/drawing/2014/main" id="{6482F621-7089-4F7A-65AF-B4646EA9A69A}"/>
              </a:ext>
            </a:extLst>
          </p:cNvPr>
          <p:cNvSpPr/>
          <p:nvPr/>
        </p:nvSpPr>
        <p:spPr>
          <a:xfrm>
            <a:off x="548640" y="3977640"/>
            <a:ext cx="11064240" cy="1965960"/>
          </a:xfrm>
          <a:prstGeom prst="roundRect">
            <a:avLst>
              <a:gd name="adj" fmla="val 4651"/>
            </a:avLst>
          </a:prstGeom>
          <a:solidFill>
            <a:srgbClr val="F2F1EF"/>
          </a:solidFill>
          <a:ln>
            <a:solidFill>
              <a:srgbClr val="1B2740"/>
            </a:solidFill>
          </a:ln>
        </p:spPr>
        <p:txBody>
          <a:bodyPr/>
          <a:lstStyle/>
          <a:p>
            <a:endParaRPr lang="fr-FR">
              <a:latin typeface="Aptos" panose="020B0004020202020204" pitchFamily="34" charset="0"/>
              <a:cs typeface="Arial" panose="020B0604020202020204" pitchFamily="34" charset="0"/>
            </a:endParaRPr>
          </a:p>
        </p:txBody>
      </p:sp>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3</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VUE D'ENSEMBLE</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Pipeline en bref</a:t>
            </a:r>
            <a:endParaRPr lang="en-US" sz="2600" dirty="0">
              <a:latin typeface="Aptos" panose="020B0004020202020204" pitchFamily="34" charset="0"/>
            </a:endParaRPr>
          </a:p>
        </p:txBody>
      </p:sp>
      <p:sp>
        <p:nvSpPr>
          <p:cNvPr id="6" name="Shape 4"/>
          <p:cNvSpPr/>
          <p:nvPr/>
        </p:nvSpPr>
        <p:spPr>
          <a:xfrm>
            <a:off x="1295248" y="1828800"/>
            <a:ext cx="2743200" cy="1371600"/>
          </a:xfrm>
          <a:prstGeom prst="roundRect">
            <a:avLst>
              <a:gd name="adj" fmla="val 6667"/>
            </a:avLst>
          </a:prstGeom>
          <a:solidFill>
            <a:srgbClr val="1B2740"/>
          </a:solidFill>
          <a:ln/>
        </p:spPr>
        <p:txBody>
          <a:bodyPr/>
          <a:lstStyle/>
          <a:p>
            <a:endParaRPr lang="fr-FR">
              <a:latin typeface="Aptos" panose="020B0004020202020204" pitchFamily="34" charset="0"/>
            </a:endParaRPr>
          </a:p>
        </p:txBody>
      </p:sp>
      <p:sp>
        <p:nvSpPr>
          <p:cNvPr id="7" name="Text 5"/>
          <p:cNvSpPr/>
          <p:nvPr/>
        </p:nvSpPr>
        <p:spPr>
          <a:xfrm>
            <a:off x="1295248" y="2011680"/>
            <a:ext cx="2743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onsolas" pitchFamily="34" charset="-122"/>
                <a:cs typeface="Consolas" pitchFamily="34" charset="-120"/>
              </a:rPr>
              <a:t>extract()</a:t>
            </a:r>
            <a:endParaRPr lang="en-US" sz="2000" dirty="0">
              <a:latin typeface="Aptos" panose="020B0004020202020204" pitchFamily="34" charset="0"/>
            </a:endParaRPr>
          </a:p>
        </p:txBody>
      </p:sp>
      <p:sp>
        <p:nvSpPr>
          <p:cNvPr id="8" name="Text 6"/>
          <p:cNvSpPr/>
          <p:nvPr/>
        </p:nvSpPr>
        <p:spPr>
          <a:xfrm>
            <a:off x="1478128" y="2514600"/>
            <a:ext cx="2377440" cy="594360"/>
          </a:xfrm>
          <a:prstGeom prst="rect">
            <a:avLst/>
          </a:prstGeom>
          <a:noFill/>
          <a:ln/>
        </p:spPr>
        <p:txBody>
          <a:bodyPr wrap="square" lIns="0" tIns="0" rIns="0" bIns="0" rtlCol="0" anchor="ctr"/>
          <a:lstStyle/>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Collecte les 4 sources</a:t>
            </a:r>
            <a:endParaRPr lang="en-US" sz="1400" dirty="0">
              <a:latin typeface="Aptos" panose="020B0004020202020204" pitchFamily="34" charset="0"/>
            </a:endParaRPr>
          </a:p>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 dict de DataFrames</a:t>
            </a:r>
            <a:endParaRPr lang="en-US" sz="1400" dirty="0">
              <a:latin typeface="Aptos" panose="020B0004020202020204" pitchFamily="34" charset="0"/>
            </a:endParaRPr>
          </a:p>
        </p:txBody>
      </p:sp>
      <p:sp>
        <p:nvSpPr>
          <p:cNvPr id="9" name="Text 7"/>
          <p:cNvSpPr/>
          <p:nvPr/>
        </p:nvSpPr>
        <p:spPr>
          <a:xfrm>
            <a:off x="4038448" y="2148840"/>
            <a:ext cx="685800" cy="731520"/>
          </a:xfrm>
          <a:prstGeom prst="rect">
            <a:avLst/>
          </a:prstGeom>
          <a:noFill/>
          <a:ln/>
        </p:spPr>
        <p:txBody>
          <a:bodyPr wrap="square" lIns="0" tIns="0" rIns="0" bIns="0" rtlCol="0" anchor="ctr"/>
          <a:lstStyle/>
          <a:p>
            <a:pPr marL="0" indent="0" algn="ctr">
              <a:buNone/>
            </a:pPr>
            <a:r>
              <a:rPr lang="en-US" sz="2800" b="1" dirty="0">
                <a:solidFill>
                  <a:srgbClr val="1B2740"/>
                </a:solidFill>
                <a:latin typeface="Aptos" panose="020B0004020202020204" pitchFamily="34" charset="0"/>
                <a:ea typeface="Calibri" pitchFamily="34" charset="-122"/>
                <a:cs typeface="Calibri" pitchFamily="34" charset="-120"/>
              </a:rPr>
              <a:t>→</a:t>
            </a:r>
            <a:endParaRPr lang="en-US" sz="2800" dirty="0">
              <a:latin typeface="Aptos" panose="020B0004020202020204" pitchFamily="34" charset="0"/>
            </a:endParaRPr>
          </a:p>
        </p:txBody>
      </p:sp>
      <p:sp>
        <p:nvSpPr>
          <p:cNvPr id="10" name="Shape 8"/>
          <p:cNvSpPr/>
          <p:nvPr/>
        </p:nvSpPr>
        <p:spPr>
          <a:xfrm>
            <a:off x="4724248" y="1828800"/>
            <a:ext cx="2743200" cy="1371600"/>
          </a:xfrm>
          <a:prstGeom prst="roundRect">
            <a:avLst>
              <a:gd name="adj" fmla="val 6667"/>
            </a:avLst>
          </a:prstGeom>
          <a:solidFill>
            <a:srgbClr val="E8452F"/>
          </a:solidFill>
          <a:ln/>
        </p:spPr>
        <p:txBody>
          <a:bodyPr/>
          <a:lstStyle/>
          <a:p>
            <a:endParaRPr lang="fr-FR">
              <a:latin typeface="Aptos" panose="020B0004020202020204" pitchFamily="34" charset="0"/>
            </a:endParaRPr>
          </a:p>
        </p:txBody>
      </p:sp>
      <p:sp>
        <p:nvSpPr>
          <p:cNvPr id="11" name="Text 9"/>
          <p:cNvSpPr/>
          <p:nvPr/>
        </p:nvSpPr>
        <p:spPr>
          <a:xfrm>
            <a:off x="4724248" y="2011680"/>
            <a:ext cx="2743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onsolas" pitchFamily="34" charset="-122"/>
                <a:cs typeface="Consolas" pitchFamily="34" charset="-120"/>
              </a:rPr>
              <a:t>transform()</a:t>
            </a:r>
            <a:endParaRPr lang="en-US" sz="2000" dirty="0">
              <a:latin typeface="Aptos" panose="020B0004020202020204" pitchFamily="34" charset="0"/>
            </a:endParaRPr>
          </a:p>
        </p:txBody>
      </p:sp>
      <p:sp>
        <p:nvSpPr>
          <p:cNvPr id="12" name="Text 10"/>
          <p:cNvSpPr/>
          <p:nvPr/>
        </p:nvSpPr>
        <p:spPr>
          <a:xfrm>
            <a:off x="4907128" y="2514600"/>
            <a:ext cx="2377440" cy="594360"/>
          </a:xfrm>
          <a:prstGeom prst="rect">
            <a:avLst/>
          </a:prstGeom>
          <a:noFill/>
          <a:ln/>
        </p:spPr>
        <p:txBody>
          <a:bodyPr wrap="square" lIns="0" tIns="0" rIns="0" bIns="0" rtlCol="0" anchor="ctr"/>
          <a:lstStyle/>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Nettoie, enrichit,</a:t>
            </a:r>
            <a:endParaRPr lang="en-US" sz="1400" dirty="0">
              <a:latin typeface="Aptos" panose="020B0004020202020204" pitchFamily="34" charset="0"/>
            </a:endParaRPr>
          </a:p>
          <a:p>
            <a:pPr marL="0" indent="0" algn="ctr">
              <a:lnSpc>
                <a:spcPct val="115000"/>
              </a:lnSpc>
              <a:buNone/>
            </a:pPr>
            <a:r>
              <a:rPr lang="en-US" sz="1400" dirty="0" err="1">
                <a:solidFill>
                  <a:srgbClr val="E8E8E8"/>
                </a:solidFill>
                <a:latin typeface="Aptos" panose="020B0004020202020204" pitchFamily="34" charset="0"/>
                <a:ea typeface="Calibri" pitchFamily="34" charset="-122"/>
                <a:cs typeface="Calibri" pitchFamily="34" charset="-120"/>
              </a:rPr>
              <a:t>agrège</a:t>
            </a:r>
            <a:endParaRPr lang="en-US" sz="1400" dirty="0">
              <a:latin typeface="Aptos" panose="020B0004020202020204" pitchFamily="34" charset="0"/>
            </a:endParaRPr>
          </a:p>
        </p:txBody>
      </p:sp>
      <p:sp>
        <p:nvSpPr>
          <p:cNvPr id="13" name="Text 11"/>
          <p:cNvSpPr/>
          <p:nvPr/>
        </p:nvSpPr>
        <p:spPr>
          <a:xfrm>
            <a:off x="7467448" y="2148840"/>
            <a:ext cx="685800" cy="731520"/>
          </a:xfrm>
          <a:prstGeom prst="rect">
            <a:avLst/>
          </a:prstGeom>
          <a:noFill/>
          <a:ln/>
        </p:spPr>
        <p:txBody>
          <a:bodyPr wrap="square" lIns="0" tIns="0" rIns="0" bIns="0" rtlCol="0" anchor="ctr"/>
          <a:lstStyle/>
          <a:p>
            <a:pPr marL="0" indent="0" algn="ctr">
              <a:buNone/>
            </a:pPr>
            <a:r>
              <a:rPr lang="en-US" sz="2800" b="1" dirty="0">
                <a:solidFill>
                  <a:srgbClr val="1B2740"/>
                </a:solidFill>
                <a:latin typeface="Aptos" panose="020B0004020202020204" pitchFamily="34" charset="0"/>
                <a:ea typeface="Calibri" pitchFamily="34" charset="-122"/>
                <a:cs typeface="Calibri" pitchFamily="34" charset="-120"/>
              </a:rPr>
              <a:t>→</a:t>
            </a:r>
            <a:endParaRPr lang="en-US" sz="2800" dirty="0">
              <a:latin typeface="Aptos" panose="020B0004020202020204" pitchFamily="34" charset="0"/>
            </a:endParaRPr>
          </a:p>
        </p:txBody>
      </p:sp>
      <p:sp>
        <p:nvSpPr>
          <p:cNvPr id="14" name="Shape 12"/>
          <p:cNvSpPr/>
          <p:nvPr/>
        </p:nvSpPr>
        <p:spPr>
          <a:xfrm>
            <a:off x="8153248" y="1828800"/>
            <a:ext cx="2743200" cy="1371600"/>
          </a:xfrm>
          <a:prstGeom prst="roundRect">
            <a:avLst>
              <a:gd name="adj" fmla="val 6667"/>
            </a:avLst>
          </a:prstGeom>
          <a:solidFill>
            <a:srgbClr val="1B2740"/>
          </a:solidFill>
          <a:ln/>
        </p:spPr>
        <p:txBody>
          <a:bodyPr/>
          <a:lstStyle/>
          <a:p>
            <a:endParaRPr lang="fr-FR">
              <a:latin typeface="Aptos" panose="020B0004020202020204" pitchFamily="34" charset="0"/>
            </a:endParaRPr>
          </a:p>
        </p:txBody>
      </p:sp>
      <p:sp>
        <p:nvSpPr>
          <p:cNvPr id="15" name="Text 13"/>
          <p:cNvSpPr/>
          <p:nvPr/>
        </p:nvSpPr>
        <p:spPr>
          <a:xfrm>
            <a:off x="8153248" y="2011680"/>
            <a:ext cx="2743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onsolas" pitchFamily="34" charset="-122"/>
                <a:cs typeface="Consolas" pitchFamily="34" charset="-120"/>
              </a:rPr>
              <a:t>load()</a:t>
            </a:r>
            <a:endParaRPr lang="en-US" sz="2000" dirty="0">
              <a:latin typeface="Aptos" panose="020B0004020202020204" pitchFamily="34" charset="0"/>
            </a:endParaRPr>
          </a:p>
        </p:txBody>
      </p:sp>
      <p:sp>
        <p:nvSpPr>
          <p:cNvPr id="16" name="Text 14"/>
          <p:cNvSpPr/>
          <p:nvPr/>
        </p:nvSpPr>
        <p:spPr>
          <a:xfrm>
            <a:off x="8336128" y="2514600"/>
            <a:ext cx="2377440" cy="594360"/>
          </a:xfrm>
          <a:prstGeom prst="rect">
            <a:avLst/>
          </a:prstGeom>
          <a:noFill/>
          <a:ln/>
        </p:spPr>
        <p:txBody>
          <a:bodyPr wrap="square" lIns="0" tIns="0" rIns="0" bIns="0" rtlCol="0" anchor="ctr"/>
          <a:lstStyle/>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Crée la base finale</a:t>
            </a:r>
            <a:endParaRPr lang="en-US" sz="1400" dirty="0">
              <a:latin typeface="Aptos" panose="020B0004020202020204" pitchFamily="34" charset="0"/>
            </a:endParaRPr>
          </a:p>
          <a:p>
            <a:pPr marL="0" indent="0" algn="ctr">
              <a:lnSpc>
                <a:spcPct val="115000"/>
              </a:lnSpc>
              <a:buNone/>
            </a:pPr>
            <a:r>
              <a:rPr lang="en-US" sz="1400" dirty="0">
                <a:solidFill>
                  <a:srgbClr val="E8E8E8"/>
                </a:solidFill>
                <a:latin typeface="Aptos" panose="020B0004020202020204" pitchFamily="34" charset="0"/>
                <a:ea typeface="Calibri" pitchFamily="34" charset="-122"/>
                <a:cs typeface="Calibri" pitchFamily="34" charset="-120"/>
              </a:rPr>
              <a:t>et la peuple</a:t>
            </a:r>
            <a:endParaRPr lang="en-US" sz="1400" dirty="0">
              <a:latin typeface="Aptos" panose="020B0004020202020204" pitchFamily="34" charset="0"/>
            </a:endParaRPr>
          </a:p>
        </p:txBody>
      </p:sp>
      <p:sp>
        <p:nvSpPr>
          <p:cNvPr id="17" name="Text 15"/>
          <p:cNvSpPr/>
          <p:nvPr/>
        </p:nvSpPr>
        <p:spPr>
          <a:xfrm>
            <a:off x="548640" y="3520440"/>
            <a:ext cx="10972800" cy="365760"/>
          </a:xfrm>
          <a:prstGeom prst="rect">
            <a:avLst/>
          </a:prstGeom>
          <a:noFill/>
          <a:ln/>
        </p:spPr>
        <p:txBody>
          <a:bodyPr wrap="square" lIns="0" tIns="0" rIns="0" bIns="0" rtlCol="0" anchor="ctr"/>
          <a:lstStyle/>
          <a:p>
            <a:pPr marL="0" indent="0" algn="ctr">
              <a:buNone/>
            </a:pPr>
            <a:r>
              <a:rPr lang="en-US" sz="1400" i="1" dirty="0">
                <a:solidFill>
                  <a:srgbClr val="6B7280"/>
                </a:solidFill>
                <a:latin typeface="Aptos" panose="020B0004020202020204" pitchFamily="34" charset="0"/>
                <a:ea typeface="Consolas" pitchFamily="34" charset="-122"/>
                <a:cs typeface="Consolas" pitchFamily="34" charset="-120"/>
              </a:rPr>
              <a:t>main() orchestre l'enchaînement, appelé depuis if __name__ == "__main__":</a:t>
            </a:r>
            <a:endParaRPr lang="en-US" sz="1400" dirty="0">
              <a:latin typeface="Aptos" panose="020B0004020202020204" pitchFamily="34" charset="0"/>
            </a:endParaRPr>
          </a:p>
        </p:txBody>
      </p:sp>
      <p:sp>
        <p:nvSpPr>
          <p:cNvPr id="21" name="Text 19"/>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3 / 12</a:t>
            </a:r>
            <a:endParaRPr lang="en-US" sz="1000" dirty="0">
              <a:latin typeface="Aptos" panose="020B0004020202020204" pitchFamily="34" charset="0"/>
            </a:endParaRPr>
          </a:p>
        </p:txBody>
      </p:sp>
      <p:sp>
        <p:nvSpPr>
          <p:cNvPr id="23" name="Text 19">
            <a:extLst>
              <a:ext uri="{FF2B5EF4-FFF2-40B4-BE49-F238E27FC236}">
                <a16:creationId xmlns:a16="http://schemas.microsoft.com/office/drawing/2014/main" id="{327F2C9C-F0F4-71E6-D948-BB11C2B7F76C}"/>
              </a:ext>
            </a:extLst>
          </p:cNvPr>
          <p:cNvSpPr/>
          <p:nvPr/>
        </p:nvSpPr>
        <p:spPr>
          <a:xfrm>
            <a:off x="914400" y="4206240"/>
            <a:ext cx="3657600" cy="320040"/>
          </a:xfrm>
          <a:prstGeom prst="rect">
            <a:avLst/>
          </a:prstGeom>
          <a:noFill/>
          <a:ln/>
        </p:spPr>
        <p:txBody>
          <a:bodyPr wrap="square" lIns="0" tIns="0" rIns="0" bIns="0" rtlCol="0" anchor="ctr"/>
          <a:lstStyle/>
          <a:p>
            <a:r>
              <a:rPr lang="en-US" sz="1600" b="1" i="1" dirty="0">
                <a:solidFill>
                  <a:srgbClr val="E8452F"/>
                </a:solidFill>
                <a:latin typeface="Aptos" panose="020B0004020202020204" pitchFamily="34" charset="0"/>
                <a:ea typeface="Consolas" pitchFamily="34" charset="-122"/>
                <a:cs typeface="Consolas" pitchFamily="34" charset="-120"/>
              </a:rPr>
              <a:t>En </a:t>
            </a:r>
            <a:r>
              <a:rPr lang="en-US" sz="1600" b="1" i="1" dirty="0" err="1">
                <a:solidFill>
                  <a:srgbClr val="E8452F"/>
                </a:solidFill>
                <a:latin typeface="Aptos" panose="020B0004020202020204" pitchFamily="34" charset="0"/>
                <a:ea typeface="Consolas" pitchFamily="34" charset="-122"/>
                <a:cs typeface="Consolas" pitchFamily="34" charset="-120"/>
              </a:rPr>
              <a:t>bref</a:t>
            </a:r>
            <a:endParaRPr lang="en-US" sz="1600" i="1" dirty="0">
              <a:latin typeface="Aptos" panose="020B0004020202020204" pitchFamily="34" charset="0"/>
            </a:endParaRPr>
          </a:p>
        </p:txBody>
      </p:sp>
      <p:sp>
        <p:nvSpPr>
          <p:cNvPr id="24" name="Text 20">
            <a:extLst>
              <a:ext uri="{FF2B5EF4-FFF2-40B4-BE49-F238E27FC236}">
                <a16:creationId xmlns:a16="http://schemas.microsoft.com/office/drawing/2014/main" id="{355BC740-0276-B4D3-B9BE-44BF75B83EE1}"/>
              </a:ext>
            </a:extLst>
          </p:cNvPr>
          <p:cNvSpPr/>
          <p:nvPr/>
        </p:nvSpPr>
        <p:spPr>
          <a:xfrm>
            <a:off x="914400" y="4526280"/>
            <a:ext cx="10332720" cy="1280160"/>
          </a:xfrm>
          <a:prstGeom prst="rect">
            <a:avLst/>
          </a:prstGeom>
          <a:noFill/>
          <a:ln/>
        </p:spPr>
        <p:txBody>
          <a:bodyPr wrap="square" lIns="0" tIns="0" rIns="0" bIns="0" rtlCol="0" anchor="ctr"/>
          <a:lstStyle/>
          <a:p>
            <a:pPr marL="228600" indent="-228600">
              <a:lnSpc>
                <a:spcPct val="115000"/>
              </a:lnSpc>
              <a:buFont typeface="Arial" panose="020B0604020202020204" pitchFamily="34" charset="0"/>
              <a:buChar char="•"/>
            </a:pPr>
            <a:r>
              <a:rPr lang="fr-FR" sz="1300" b="1" cap="small" dirty="0">
                <a:solidFill>
                  <a:srgbClr val="E8452F"/>
                </a:solidFill>
                <a:latin typeface="Aptos" panose="020B0004020202020204" pitchFamily="34" charset="0"/>
              </a:rPr>
              <a:t>4 sources extraites </a:t>
            </a:r>
            <a:r>
              <a:rPr lang="fr-FR" sz="1300" b="1" dirty="0">
                <a:solidFill>
                  <a:srgbClr val="E8452F"/>
                </a:solidFill>
                <a:latin typeface="Aptos" panose="020B0004020202020204" pitchFamily="34" charset="0"/>
              </a:rPr>
              <a:t>: </a:t>
            </a:r>
            <a:r>
              <a:rPr lang="fr-FR" sz="1300" dirty="0">
                <a:solidFill>
                  <a:srgbClr val="1B2740"/>
                </a:solidFill>
                <a:latin typeface="Aptos" panose="020B0004020202020204" pitchFamily="34" charset="0"/>
              </a:rPr>
              <a:t>CSV, SQLite, scraping (books.toscrape.com), API REST (taux de change) — gestion d’erreur différenciée (tout ou rien / best effort selon la source).</a:t>
            </a:r>
          </a:p>
          <a:p>
            <a:pPr marL="228600" indent="-228600">
              <a:lnSpc>
                <a:spcPct val="115000"/>
              </a:lnSpc>
              <a:buFont typeface="Arial" panose="020B0604020202020204" pitchFamily="34" charset="0"/>
              <a:buChar char="•"/>
            </a:pPr>
            <a:r>
              <a:rPr lang="fr-FR" sz="1300" b="1" cap="small" dirty="0">
                <a:solidFill>
                  <a:srgbClr val="E8452F"/>
                </a:solidFill>
                <a:latin typeface="Aptos" panose="020B0004020202020204" pitchFamily="34" charset="0"/>
              </a:rPr>
              <a:t>3 incohérences de données </a:t>
            </a:r>
            <a:r>
              <a:rPr lang="fr-FR" sz="1300" dirty="0">
                <a:solidFill>
                  <a:srgbClr val="1B2740"/>
                </a:solidFill>
                <a:latin typeface="Aptos" panose="020B0004020202020204" pitchFamily="34" charset="0"/>
              </a:rPr>
              <a:t>identifiées et documentées plutôt que masquées (référentiel incomplet — voir Résultats).</a:t>
            </a:r>
          </a:p>
        </p:txBody>
      </p:sp>
      <p:sp>
        <p:nvSpPr>
          <p:cNvPr id="19" name="Fichier genere 200">
            <a:extLst>
              <a:ext uri="{FF2B5EF4-FFF2-40B4-BE49-F238E27FC236}">
                <a16:creationId xmlns:a16="http://schemas.microsoft.com/office/drawing/2014/main" id="{42D192CD-BB66-8B75-1680-6D6D567B9C31}"/>
              </a:ext>
            </a:extLst>
          </p:cNvPr>
          <p:cNvSpPr/>
          <p:nvPr/>
        </p:nvSpPr>
        <p:spPr>
          <a:xfrm>
            <a:off x="1295248" y="3220000"/>
            <a:ext cx="2743200" cy="280000"/>
          </a:xfrm>
          <a:prstGeom prst="rect">
            <a:avLst/>
          </a:prstGeom>
          <a:noFill/>
        </p:spPr>
        <p:txBody>
          <a:bodyPr wrap="square" lIns="0" tIns="0" rIns="0" bIns="0" rtlCol="0" anchor="ctr"/>
          <a:lstStyle/>
          <a:p>
            <a:pPr marL="0" indent="0" algn="ctr">
              <a:buNone/>
            </a:pPr>
            <a:r>
              <a:rPr lang="fr-FR" sz="1100" i="1" dirty="0">
                <a:solidFill>
                  <a:srgbClr val="1B2740"/>
                </a:solidFill>
                <a:latin typeface="Consolas" panose="020B0609020204030204" pitchFamily="49" charset="0"/>
              </a:rPr>
              <a:t>→ </a:t>
            </a:r>
            <a:r>
              <a:rPr lang="fr-FR" sz="1100" b="1" i="1" dirty="0">
                <a:solidFill>
                  <a:srgbClr val="1B2740"/>
                </a:solidFill>
                <a:latin typeface="Consolas" panose="020B0609020204030204" pitchFamily="49" charset="0"/>
              </a:rPr>
              <a:t>queries.sql</a:t>
            </a:r>
          </a:p>
        </p:txBody>
      </p:sp>
      <p:sp>
        <p:nvSpPr>
          <p:cNvPr id="22" name="Fichier genere 202">
            <a:extLst>
              <a:ext uri="{FF2B5EF4-FFF2-40B4-BE49-F238E27FC236}">
                <a16:creationId xmlns:a16="http://schemas.microsoft.com/office/drawing/2014/main" id="{8EA6E9B4-2502-C031-6637-9DE8C2E4C90C}"/>
              </a:ext>
            </a:extLst>
          </p:cNvPr>
          <p:cNvSpPr/>
          <p:nvPr/>
        </p:nvSpPr>
        <p:spPr>
          <a:xfrm>
            <a:off x="8153248" y="3220000"/>
            <a:ext cx="2743200" cy="280000"/>
          </a:xfrm>
          <a:prstGeom prst="rect">
            <a:avLst/>
          </a:prstGeom>
          <a:noFill/>
        </p:spPr>
        <p:txBody>
          <a:bodyPr wrap="square" lIns="0" tIns="0" rIns="0" bIns="0" rtlCol="0" anchor="ctr"/>
          <a:lstStyle/>
          <a:p>
            <a:pPr marL="0" indent="0" algn="ctr">
              <a:buNone/>
            </a:pPr>
            <a:r>
              <a:rPr lang="fr-FR" sz="1100" i="1" dirty="0">
                <a:solidFill>
                  <a:srgbClr val="1B2740"/>
                </a:solidFill>
                <a:latin typeface="Consolas" panose="020B0609020204030204" pitchFamily="49" charset="0"/>
              </a:rPr>
              <a:t>→ </a:t>
            </a:r>
            <a:r>
              <a:rPr lang="fr-FR" sz="1100" b="1" i="1" dirty="0">
                <a:solidFill>
                  <a:srgbClr val="1B2740"/>
                </a:solidFill>
                <a:latin typeface="Consolas" panose="020B0609020204030204" pitchFamily="49" charset="0"/>
              </a:rPr>
              <a:t>bookworld_final.db</a:t>
            </a:r>
          </a:p>
        </p:txBody>
      </p:sp>
      <p:sp>
        <p:nvSpPr>
          <p:cNvPr id="27" name="Fichier genere 201">
            <a:extLst>
              <a:ext uri="{FF2B5EF4-FFF2-40B4-BE49-F238E27FC236}">
                <a16:creationId xmlns:a16="http://schemas.microsoft.com/office/drawing/2014/main" id="{7B78529F-A2BB-E66C-8E2D-1E2D84D4BD2D}"/>
              </a:ext>
            </a:extLst>
          </p:cNvPr>
          <p:cNvSpPr/>
          <p:nvPr/>
        </p:nvSpPr>
        <p:spPr>
          <a:xfrm>
            <a:off x="4724248" y="3220000"/>
            <a:ext cx="2743200" cy="280000"/>
          </a:xfrm>
          <a:prstGeom prst="rect">
            <a:avLst/>
          </a:prstGeom>
          <a:noFill/>
        </p:spPr>
        <p:txBody>
          <a:bodyPr wrap="square" lIns="0" tIns="0" rIns="0" bIns="0" rtlCol="0" anchor="ctr"/>
          <a:lstStyle/>
          <a:p>
            <a:pPr algn="ctr"/>
            <a:r>
              <a:rPr lang="fr-FR" sz="1100" i="1" dirty="0">
                <a:solidFill>
                  <a:srgbClr val="6B7280"/>
                </a:solidFill>
                <a:latin typeface="Consolas" panose="020B0609020204030204" pitchFamily="49" charset="0"/>
              </a:rPr>
              <a:t>(</a:t>
            </a:r>
            <a:r>
              <a:rPr lang="fr-FR" sz="1100" i="1" dirty="0">
                <a:solidFill>
                  <a:srgbClr val="1B2740"/>
                </a:solidFill>
                <a:latin typeface="Consolas" panose="020B0609020204030204" pitchFamily="49" charset="0"/>
              </a:rPr>
              <a:t>→ </a:t>
            </a:r>
            <a:r>
              <a:rPr lang="fr-FR" sz="1100" i="1" dirty="0">
                <a:solidFill>
                  <a:srgbClr val="6B7280"/>
                </a:solidFill>
                <a:latin typeface="Consolas" panose="020B0609020204030204" pitchFamily="49" charset="0"/>
              </a:rPr>
              <a:t>‘</a:t>
            </a:r>
            <a:r>
              <a:rPr lang="en-US" sz="1100" b="1" i="1" dirty="0" err="1">
                <a:solidFill>
                  <a:srgbClr val="1B2740"/>
                </a:solidFill>
                <a:latin typeface="Aptos" panose="020B0004020202020204" pitchFamily="34" charset="0"/>
                <a:ea typeface="Calibri" pitchFamily="34" charset="-122"/>
                <a:cs typeface="Calibri" pitchFamily="34" charset="-120"/>
              </a:rPr>
              <a:t>sales_by_country</a:t>
            </a:r>
            <a:r>
              <a:rPr lang="en-US" sz="1100" dirty="0">
                <a:solidFill>
                  <a:srgbClr val="1B2740"/>
                </a:solidFill>
                <a:latin typeface="Aptos" panose="020B0004020202020204" pitchFamily="34" charset="0"/>
                <a:ea typeface="Calibri" pitchFamily="34" charset="-122"/>
                <a:cs typeface="Calibri" pitchFamily="34" charset="-120"/>
              </a:rPr>
              <a:t>’</a:t>
            </a:r>
            <a:r>
              <a:rPr lang="fr-FR" sz="1100" i="1" dirty="0">
                <a:solidFill>
                  <a:srgbClr val="6B7280"/>
                </a:solidFill>
                <a:latin typeface="Consolas" panose="020B0609020204030204" pitchFamily="49"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4</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RÉSULTATS</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Ce que révèle sales_by_country</a:t>
            </a:r>
            <a:endParaRPr lang="en-US" sz="2600" dirty="0">
              <a:latin typeface="Aptos" panose="020B0004020202020204" pitchFamily="34" charset="0"/>
            </a:endParaRPr>
          </a:p>
        </p:txBody>
      </p:sp>
      <p:sp>
        <p:nvSpPr>
          <p:cNvPr id="6" name="Shape 4"/>
          <p:cNvSpPr/>
          <p:nvPr/>
        </p:nvSpPr>
        <p:spPr>
          <a:xfrm>
            <a:off x="548640" y="1783080"/>
            <a:ext cx="3520440" cy="3017520"/>
          </a:xfrm>
          <a:prstGeom prst="roundRect">
            <a:avLst>
              <a:gd name="adj" fmla="val 3030"/>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7" name="Shape 5"/>
          <p:cNvSpPr/>
          <p:nvPr/>
        </p:nvSpPr>
        <p:spPr>
          <a:xfrm>
            <a:off x="822960" y="2057400"/>
            <a:ext cx="822960" cy="82296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8" name="Text 6"/>
          <p:cNvSpPr/>
          <p:nvPr/>
        </p:nvSpPr>
        <p:spPr>
          <a:xfrm>
            <a:off x="822960" y="205740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anose="020B0004020202020204" pitchFamily="34" charset="0"/>
                <a:ea typeface="Calibri" pitchFamily="34" charset="-122"/>
                <a:cs typeface="Calibri" pitchFamily="34" charset="-120"/>
              </a:rPr>
              <a:t>20k£</a:t>
            </a:r>
            <a:endParaRPr lang="en-US" sz="2200" dirty="0">
              <a:latin typeface="Aptos" panose="020B0004020202020204" pitchFamily="34" charset="0"/>
            </a:endParaRPr>
          </a:p>
        </p:txBody>
      </p:sp>
      <p:sp>
        <p:nvSpPr>
          <p:cNvPr id="9" name="Text 7"/>
          <p:cNvSpPr/>
          <p:nvPr/>
        </p:nvSpPr>
        <p:spPr>
          <a:xfrm>
            <a:off x="822960" y="3017520"/>
            <a:ext cx="297180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Revenu total</a:t>
            </a:r>
            <a:endParaRPr lang="en-US" sz="1600" dirty="0">
              <a:latin typeface="Aptos" panose="020B0004020202020204" pitchFamily="34" charset="0"/>
            </a:endParaRPr>
          </a:p>
        </p:txBody>
      </p:sp>
      <p:sp>
        <p:nvSpPr>
          <p:cNvPr id="10" name="Text 8"/>
          <p:cNvSpPr/>
          <p:nvPr/>
        </p:nvSpPr>
        <p:spPr>
          <a:xfrm>
            <a:off x="822960" y="3429000"/>
            <a:ext cx="2971800" cy="1188720"/>
          </a:xfrm>
          <a:prstGeom prst="rect">
            <a:avLst/>
          </a:prstGeom>
          <a:noFill/>
          <a:ln/>
        </p:spPr>
        <p:txBody>
          <a:bodyPr wrap="square" lIns="0" tIns="0" rIns="0" bIns="0" rtlCol="0" anchor="ctr"/>
          <a:lstStyle/>
          <a:p>
            <a:pPr marL="0" indent="0">
              <a:lnSpc>
                <a:spcPct val="125000"/>
              </a:lnSpc>
              <a:buNone/>
            </a:pPr>
            <a:r>
              <a:rPr lang="en-US" sz="1250" dirty="0">
                <a:solidFill>
                  <a:srgbClr val="1B2740"/>
                </a:solidFill>
                <a:latin typeface="Aptos" panose="020B0004020202020204" pitchFamily="34" charset="0"/>
                <a:ea typeface="Calibri" pitchFamily="34" charset="-122"/>
                <a:cs typeface="Calibri" pitchFamily="34" charset="-120"/>
              </a:rPr>
              <a:t>20 059 £ (~23 256 €) sur 240 commandes, 8 pays.</a:t>
            </a:r>
            <a:endParaRPr lang="en-US" sz="1250" dirty="0">
              <a:latin typeface="Aptos" panose="020B0004020202020204" pitchFamily="34" charset="0"/>
            </a:endParaRPr>
          </a:p>
        </p:txBody>
      </p:sp>
      <p:sp>
        <p:nvSpPr>
          <p:cNvPr id="11" name="Shape 9"/>
          <p:cNvSpPr/>
          <p:nvPr/>
        </p:nvSpPr>
        <p:spPr>
          <a:xfrm>
            <a:off x="4325112" y="1783080"/>
            <a:ext cx="3520440" cy="3017520"/>
          </a:xfrm>
          <a:prstGeom prst="roundRect">
            <a:avLst>
              <a:gd name="adj" fmla="val 3030"/>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2" name="Shape 10"/>
          <p:cNvSpPr/>
          <p:nvPr/>
        </p:nvSpPr>
        <p:spPr>
          <a:xfrm>
            <a:off x="4599432" y="2057400"/>
            <a:ext cx="822960" cy="82296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13" name="Text 11"/>
          <p:cNvSpPr/>
          <p:nvPr/>
        </p:nvSpPr>
        <p:spPr>
          <a:xfrm>
            <a:off x="4599432" y="205740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anose="020B0004020202020204" pitchFamily="34" charset="0"/>
                <a:ea typeface="Calibri" pitchFamily="34" charset="-122"/>
                <a:cs typeface="Calibri" pitchFamily="34" charset="-120"/>
              </a:rPr>
              <a:t>39%</a:t>
            </a:r>
            <a:endParaRPr lang="en-US" sz="2200" dirty="0">
              <a:latin typeface="Aptos" panose="020B0004020202020204" pitchFamily="34" charset="0"/>
            </a:endParaRPr>
          </a:p>
        </p:txBody>
      </p:sp>
      <p:sp>
        <p:nvSpPr>
          <p:cNvPr id="14" name="Text 12"/>
          <p:cNvSpPr/>
          <p:nvPr/>
        </p:nvSpPr>
        <p:spPr>
          <a:xfrm>
            <a:off x="4599432" y="3017520"/>
            <a:ext cx="297180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Allemagne + France</a:t>
            </a:r>
            <a:endParaRPr lang="en-US" sz="1600" dirty="0">
              <a:latin typeface="Aptos" panose="020B0004020202020204" pitchFamily="34" charset="0"/>
            </a:endParaRPr>
          </a:p>
        </p:txBody>
      </p:sp>
      <p:sp>
        <p:nvSpPr>
          <p:cNvPr id="15" name="Text 13"/>
          <p:cNvSpPr/>
          <p:nvPr/>
        </p:nvSpPr>
        <p:spPr>
          <a:xfrm>
            <a:off x="4599432" y="3429000"/>
            <a:ext cx="2971800" cy="1188720"/>
          </a:xfrm>
          <a:prstGeom prst="rect">
            <a:avLst/>
          </a:prstGeom>
          <a:noFill/>
          <a:ln/>
        </p:spPr>
        <p:txBody>
          <a:bodyPr wrap="square" lIns="0" tIns="0" rIns="0" bIns="0" rtlCol="0" anchor="ctr"/>
          <a:lstStyle/>
          <a:p>
            <a:pPr marL="0" indent="0">
              <a:lnSpc>
                <a:spcPct val="125000"/>
              </a:lnSpc>
              <a:buNone/>
            </a:pPr>
            <a:r>
              <a:rPr lang="en-US" sz="1250" dirty="0">
                <a:solidFill>
                  <a:srgbClr val="1B2740"/>
                </a:solidFill>
                <a:latin typeface="Aptos" panose="020B0004020202020204" pitchFamily="34" charset="0"/>
                <a:ea typeface="Calibri" pitchFamily="34" charset="-122"/>
                <a:cs typeface="Calibri" pitchFamily="34" charset="-120"/>
              </a:rPr>
              <a:t>concentrent à elles seules plus du tiers du revenu total.</a:t>
            </a:r>
            <a:endParaRPr lang="en-US" sz="1250" dirty="0">
              <a:latin typeface="Aptos" panose="020B0004020202020204" pitchFamily="34" charset="0"/>
            </a:endParaRPr>
          </a:p>
        </p:txBody>
      </p:sp>
      <p:sp>
        <p:nvSpPr>
          <p:cNvPr id="16" name="Shape 14"/>
          <p:cNvSpPr/>
          <p:nvPr/>
        </p:nvSpPr>
        <p:spPr>
          <a:xfrm>
            <a:off x="8101584" y="1783080"/>
            <a:ext cx="3520440" cy="3017520"/>
          </a:xfrm>
          <a:prstGeom prst="roundRect">
            <a:avLst>
              <a:gd name="adj" fmla="val 3030"/>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7" name="Shape 15"/>
          <p:cNvSpPr/>
          <p:nvPr/>
        </p:nvSpPr>
        <p:spPr>
          <a:xfrm>
            <a:off x="8375904" y="2057400"/>
            <a:ext cx="822960" cy="82296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18" name="Text 16"/>
          <p:cNvSpPr/>
          <p:nvPr/>
        </p:nvSpPr>
        <p:spPr>
          <a:xfrm>
            <a:off x="8375904" y="205740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anose="020B0004020202020204" pitchFamily="34" charset="0"/>
                <a:ea typeface="Calibri" pitchFamily="34" charset="-122"/>
                <a:cs typeface="Calibri" pitchFamily="34" charset="-120"/>
              </a:rPr>
              <a:t>63%</a:t>
            </a:r>
            <a:endParaRPr lang="en-US" sz="2200" dirty="0">
              <a:latin typeface="Aptos" panose="020B0004020202020204" pitchFamily="34" charset="0"/>
            </a:endParaRPr>
          </a:p>
        </p:txBody>
      </p:sp>
      <p:sp>
        <p:nvSpPr>
          <p:cNvPr id="19" name="Text 17"/>
          <p:cNvSpPr/>
          <p:nvPr/>
        </p:nvSpPr>
        <p:spPr>
          <a:xfrm>
            <a:off x="8375904" y="3017520"/>
            <a:ext cx="2971800" cy="365760"/>
          </a:xfrm>
          <a:prstGeom prst="rect">
            <a:avLst/>
          </a:prstGeom>
          <a:noFill/>
          <a:ln/>
        </p:spPr>
        <p:txBody>
          <a:bodyPr wrap="square" lIns="0" tIns="0" rIns="0" bIns="0" rtlCol="0" anchor="ctr"/>
          <a:lstStyle/>
          <a:p>
            <a:pPr marL="0" indent="0">
              <a:buNone/>
            </a:pPr>
            <a:r>
              <a:rPr lang="en-US" sz="1600" b="1" dirty="0">
                <a:solidFill>
                  <a:srgbClr val="1B2740"/>
                </a:solidFill>
                <a:latin typeface="Aptos" panose="020B0004020202020204" pitchFamily="34" charset="0"/>
                <a:ea typeface="Calibri" pitchFamily="34" charset="-122"/>
                <a:cs typeface="Calibri" pitchFamily="34" charset="-120"/>
              </a:rPr>
              <a:t>Canal WEB</a:t>
            </a:r>
            <a:endParaRPr lang="en-US" sz="1600" dirty="0">
              <a:latin typeface="Aptos" panose="020B0004020202020204" pitchFamily="34" charset="0"/>
            </a:endParaRPr>
          </a:p>
        </p:txBody>
      </p:sp>
      <p:sp>
        <p:nvSpPr>
          <p:cNvPr id="20" name="Text 18"/>
          <p:cNvSpPr/>
          <p:nvPr/>
        </p:nvSpPr>
        <p:spPr>
          <a:xfrm>
            <a:off x="8375904" y="3429000"/>
            <a:ext cx="2971800" cy="1188720"/>
          </a:xfrm>
          <a:prstGeom prst="rect">
            <a:avLst/>
          </a:prstGeom>
          <a:noFill/>
          <a:ln/>
        </p:spPr>
        <p:txBody>
          <a:bodyPr wrap="square" lIns="0" tIns="0" rIns="0" bIns="0" rtlCol="0" anchor="ctr"/>
          <a:lstStyle/>
          <a:p>
            <a:pPr marL="0" indent="0">
              <a:lnSpc>
                <a:spcPct val="125000"/>
              </a:lnSpc>
              <a:buNone/>
            </a:pPr>
            <a:r>
              <a:rPr lang="en-US" sz="1250" dirty="0">
                <a:solidFill>
                  <a:srgbClr val="1B2740"/>
                </a:solidFill>
                <a:latin typeface="Aptos" panose="020B0004020202020204" pitchFamily="34" charset="0"/>
                <a:ea typeface="Calibri" pitchFamily="34" charset="-122"/>
                <a:cs typeface="Calibri" pitchFamily="34" charset="-120"/>
              </a:rPr>
              <a:t>du revenu total, loin devant APP et MKT.</a:t>
            </a:r>
            <a:endParaRPr lang="en-US" sz="1250" dirty="0">
              <a:latin typeface="Aptos" panose="020B0004020202020204" pitchFamily="34" charset="0"/>
            </a:endParaRPr>
          </a:p>
        </p:txBody>
      </p:sp>
      <p:sp>
        <p:nvSpPr>
          <p:cNvPr id="21" name="Shape 19"/>
          <p:cNvSpPr/>
          <p:nvPr/>
        </p:nvSpPr>
        <p:spPr>
          <a:xfrm>
            <a:off x="548640" y="5029200"/>
            <a:ext cx="11064240" cy="868680"/>
          </a:xfrm>
          <a:prstGeom prst="roundRect">
            <a:avLst>
              <a:gd name="adj" fmla="val 10526"/>
            </a:avLst>
          </a:prstGeom>
          <a:solidFill>
            <a:srgbClr val="1B2740"/>
          </a:solidFill>
          <a:ln/>
        </p:spPr>
        <p:txBody>
          <a:bodyPr/>
          <a:lstStyle/>
          <a:p>
            <a:endParaRPr lang="fr-FR">
              <a:latin typeface="Aptos" panose="020B0004020202020204" pitchFamily="34" charset="0"/>
            </a:endParaRPr>
          </a:p>
        </p:txBody>
      </p:sp>
      <p:sp>
        <p:nvSpPr>
          <p:cNvPr id="22" name="Text 20"/>
          <p:cNvSpPr/>
          <p:nvPr/>
        </p:nvSpPr>
        <p:spPr>
          <a:xfrm>
            <a:off x="868680" y="5193792"/>
            <a:ext cx="10424160" cy="548640"/>
          </a:xfrm>
          <a:prstGeom prst="rect">
            <a:avLst/>
          </a:prstGeom>
          <a:noFill/>
          <a:ln/>
        </p:spPr>
        <p:txBody>
          <a:bodyPr wrap="square" lIns="0" tIns="0" rIns="0" bIns="0" rtlCol="0" anchor="ctr"/>
          <a:lstStyle/>
          <a:p>
            <a:r>
              <a:rPr lang="en-US" sz="1400" b="1" dirty="0">
                <a:solidFill>
                  <a:srgbClr val="FFFFFF"/>
                </a:solidFill>
                <a:latin typeface="Aptos" panose="020B0004020202020204" pitchFamily="34" charset="0"/>
                <a:ea typeface="Calibri" pitchFamily="34" charset="-122"/>
                <a:cs typeface="Calibri" pitchFamily="34" charset="-120"/>
              </a:rPr>
              <a:t>Le </a:t>
            </a:r>
            <a:r>
              <a:rPr lang="en-US" sz="1400" b="1" i="1" dirty="0">
                <a:solidFill>
                  <a:srgbClr val="FFFFFF"/>
                </a:solidFill>
                <a:latin typeface="Aptos" panose="020B0004020202020204" pitchFamily="34" charset="0"/>
                <a:ea typeface="Calibri" pitchFamily="34" charset="-122"/>
                <a:cs typeface="Calibri" pitchFamily="34" charset="-120"/>
              </a:rPr>
              <a:t>Portugal</a:t>
            </a:r>
            <a:r>
              <a:rPr lang="en-US" sz="1400" b="1" dirty="0">
                <a:solidFill>
                  <a:srgbClr val="FFFFFF"/>
                </a:solidFill>
                <a:latin typeface="Aptos" panose="020B0004020202020204" pitchFamily="34" charset="0"/>
                <a:ea typeface="Calibri" pitchFamily="34" charset="-122"/>
                <a:cs typeface="Calibri" pitchFamily="34" charset="-120"/>
              </a:rPr>
              <a:t> et la </a:t>
            </a:r>
            <a:r>
              <a:rPr lang="en-US" sz="1400" b="1" dirty="0" err="1">
                <a:solidFill>
                  <a:srgbClr val="FFFFFF"/>
                </a:solidFill>
                <a:latin typeface="Aptos" panose="020B0004020202020204" pitchFamily="34" charset="0"/>
                <a:ea typeface="Calibri" pitchFamily="34" charset="-122"/>
                <a:cs typeface="Calibri" pitchFamily="34" charset="-120"/>
              </a:rPr>
              <a:t>categorie</a:t>
            </a:r>
            <a:r>
              <a:rPr lang="en-US" sz="1400" b="1" dirty="0">
                <a:solidFill>
                  <a:srgbClr val="FFFFFF"/>
                </a:solidFill>
                <a:latin typeface="Aptos" panose="020B0004020202020204" pitchFamily="34" charset="0"/>
                <a:ea typeface="Calibri" pitchFamily="34" charset="-122"/>
                <a:cs typeface="Calibri" pitchFamily="34" charset="-120"/>
              </a:rPr>
              <a:t> </a:t>
            </a:r>
            <a:r>
              <a:rPr lang="en-US" sz="1400" b="1" i="1" dirty="0">
                <a:solidFill>
                  <a:srgbClr val="FFFFFF"/>
                </a:solidFill>
                <a:latin typeface="Aptos" panose="020B0004020202020204" pitchFamily="34" charset="0"/>
                <a:ea typeface="Calibri" pitchFamily="34" charset="-122"/>
                <a:cs typeface="Calibri" pitchFamily="34" charset="-120"/>
              </a:rPr>
              <a:t>Horror</a:t>
            </a:r>
            <a:r>
              <a:rPr lang="en-US" sz="1400" b="1" dirty="0">
                <a:solidFill>
                  <a:srgbClr val="FFFFFF"/>
                </a:solidFill>
                <a:latin typeface="Aptos" panose="020B0004020202020204" pitchFamily="34" charset="0"/>
                <a:ea typeface="Calibri" pitchFamily="34" charset="-122"/>
                <a:cs typeface="Calibri" pitchFamily="34" charset="-120"/>
              </a:rPr>
              <a:t> (</a:t>
            </a:r>
            <a:r>
              <a:rPr lang="en-US" sz="1400" b="1" dirty="0" err="1">
                <a:solidFill>
                  <a:srgbClr val="FFFFFF"/>
                </a:solidFill>
                <a:latin typeface="Aptos" panose="020B0004020202020204" pitchFamily="34" charset="0"/>
                <a:ea typeface="Calibri" pitchFamily="34" charset="-122"/>
                <a:cs typeface="Calibri" pitchFamily="34" charset="-120"/>
              </a:rPr>
              <a:t>inactifs</a:t>
            </a:r>
            <a:r>
              <a:rPr lang="en-US" sz="1400" b="1" dirty="0">
                <a:solidFill>
                  <a:srgbClr val="FFFFFF"/>
                </a:solidFill>
                <a:latin typeface="Aptos" panose="020B0004020202020204" pitchFamily="34" charset="0"/>
                <a:ea typeface="Calibri" pitchFamily="34" charset="-122"/>
                <a:cs typeface="Calibri" pitchFamily="34" charset="-120"/>
              </a:rPr>
              <a:t>), les </a:t>
            </a:r>
            <a:r>
              <a:rPr lang="en-US" sz="1400" b="1" i="1" dirty="0">
                <a:solidFill>
                  <a:srgbClr val="FFFFFF"/>
                </a:solidFill>
                <a:latin typeface="Aptos" panose="020B0004020202020204" pitchFamily="34" charset="0"/>
                <a:ea typeface="Calibri" pitchFamily="34" charset="-122"/>
                <a:cs typeface="Calibri" pitchFamily="34" charset="-120"/>
              </a:rPr>
              <a:t>Pays-Bas</a:t>
            </a:r>
            <a:r>
              <a:rPr lang="en-US" sz="1400" b="1" dirty="0">
                <a:solidFill>
                  <a:srgbClr val="FFFFFF"/>
                </a:solidFill>
                <a:latin typeface="Aptos" panose="020B0004020202020204" pitchFamily="34" charset="0"/>
                <a:ea typeface="Calibri" pitchFamily="34" charset="-122"/>
                <a:cs typeface="Calibri" pitchFamily="34" charset="-120"/>
              </a:rPr>
              <a:t> (absents du </a:t>
            </a:r>
            <a:r>
              <a:rPr lang="en-US" sz="1400" b="1" dirty="0" err="1">
                <a:solidFill>
                  <a:srgbClr val="FFFFFF"/>
                </a:solidFill>
                <a:latin typeface="Aptos" panose="020B0004020202020204" pitchFamily="34" charset="0"/>
                <a:ea typeface="Calibri" pitchFamily="34" charset="-122"/>
                <a:cs typeface="Calibri" pitchFamily="34" charset="-120"/>
              </a:rPr>
              <a:t>référentiel</a:t>
            </a:r>
            <a:r>
              <a:rPr lang="en-US" sz="1400" b="1" dirty="0">
                <a:solidFill>
                  <a:srgbClr val="FFFFFF"/>
                </a:solidFill>
                <a:latin typeface="Aptos" panose="020B0004020202020204" pitchFamily="34" charset="0"/>
                <a:ea typeface="Calibri" pitchFamily="34" charset="-122"/>
                <a:cs typeface="Calibri" pitchFamily="34" charset="-120"/>
              </a:rPr>
              <a:t>), et 7 categories </a:t>
            </a:r>
            <a:r>
              <a:rPr lang="en-US" sz="1400" b="1" dirty="0" err="1">
                <a:solidFill>
                  <a:srgbClr val="FFFFFF"/>
                </a:solidFill>
                <a:latin typeface="Aptos" panose="020B0004020202020204" pitchFamily="34" charset="0"/>
                <a:ea typeface="Calibri" pitchFamily="34" charset="-122"/>
                <a:cs typeface="Calibri" pitchFamily="34" charset="-120"/>
              </a:rPr>
              <a:t>scrapées</a:t>
            </a:r>
            <a:r>
              <a:rPr lang="en-US" sz="1400" b="1" dirty="0">
                <a:solidFill>
                  <a:srgbClr val="FFFFFF"/>
                </a:solidFill>
                <a:latin typeface="Aptos" panose="020B0004020202020204" pitchFamily="34" charset="0"/>
                <a:ea typeface="Calibri" pitchFamily="34" charset="-122"/>
                <a:cs typeface="Calibri" pitchFamily="34" charset="-120"/>
              </a:rPr>
              <a:t> hors </a:t>
            </a:r>
            <a:r>
              <a:rPr lang="en-US" sz="1400" b="1" i="1" dirty="0" err="1">
                <a:solidFill>
                  <a:srgbClr val="FFFFFF"/>
                </a:solidFill>
                <a:latin typeface="Aptos" panose="020B0004020202020204" pitchFamily="34" charset="0"/>
                <a:ea typeface="Calibri" pitchFamily="34" charset="-122"/>
                <a:cs typeface="Calibri" pitchFamily="34" charset="-120"/>
              </a:rPr>
              <a:t>category_rules</a:t>
            </a:r>
            <a:r>
              <a:rPr lang="en-US" sz="1400" b="1" dirty="0">
                <a:solidFill>
                  <a:srgbClr val="FFFFFF"/>
                </a:solidFill>
                <a:latin typeface="Aptos" panose="020B0004020202020204" pitchFamily="34" charset="0"/>
                <a:ea typeface="Calibri" pitchFamily="34" charset="-122"/>
                <a:cs typeface="Calibri" pitchFamily="34" charset="-120"/>
              </a:rPr>
              <a:t>  génèrent malgré tout un revenu non </a:t>
            </a:r>
            <a:r>
              <a:rPr lang="en-US" sz="1400" b="1" dirty="0" err="1">
                <a:solidFill>
                  <a:srgbClr val="FFFFFF"/>
                </a:solidFill>
                <a:latin typeface="Aptos" panose="020B0004020202020204" pitchFamily="34" charset="0"/>
                <a:ea typeface="Calibri" pitchFamily="34" charset="-122"/>
                <a:cs typeface="Calibri" pitchFamily="34" charset="-120"/>
              </a:rPr>
              <a:t>négligeable</a:t>
            </a:r>
            <a:r>
              <a:rPr lang="en-US" sz="1400" b="1" dirty="0">
                <a:solidFill>
                  <a:srgbClr val="FFFFFF"/>
                </a:solidFill>
                <a:latin typeface="Aptos" panose="020B0004020202020204" pitchFamily="34" charset="0"/>
                <a:ea typeface="Calibri" pitchFamily="34" charset="-122"/>
                <a:cs typeface="Calibri" pitchFamily="34" charset="-120"/>
              </a:rPr>
              <a:t> – 3 </a:t>
            </a:r>
            <a:r>
              <a:rPr lang="en-US" sz="1400" b="1" dirty="0" err="1">
                <a:solidFill>
                  <a:srgbClr val="FFFFFF"/>
                </a:solidFill>
                <a:latin typeface="Aptos" panose="020B0004020202020204" pitchFamily="34" charset="0"/>
                <a:ea typeface="Calibri" pitchFamily="34" charset="-122"/>
                <a:cs typeface="Calibri" pitchFamily="34" charset="-120"/>
              </a:rPr>
              <a:t>incohérences</a:t>
            </a:r>
            <a:r>
              <a:rPr lang="en-US" sz="1400" b="1" dirty="0">
                <a:solidFill>
                  <a:srgbClr val="FFFFFF"/>
                </a:solidFill>
                <a:latin typeface="Aptos" panose="020B0004020202020204" pitchFamily="34" charset="0"/>
                <a:ea typeface="Calibri" pitchFamily="34" charset="-122"/>
                <a:cs typeface="Calibri" pitchFamily="34" charset="-120"/>
              </a:rPr>
              <a:t> </a:t>
            </a:r>
            <a:r>
              <a:rPr lang="en-US" sz="1400" b="1" dirty="0" err="1">
                <a:solidFill>
                  <a:srgbClr val="FFFFFF"/>
                </a:solidFill>
                <a:latin typeface="Aptos" panose="020B0004020202020204" pitchFamily="34" charset="0"/>
                <a:ea typeface="Calibri" pitchFamily="34" charset="-122"/>
                <a:cs typeface="Calibri" pitchFamily="34" charset="-120"/>
              </a:rPr>
              <a:t>documentées</a:t>
            </a:r>
            <a:r>
              <a:rPr lang="en-US" sz="1400" b="1" dirty="0">
                <a:solidFill>
                  <a:srgbClr val="FFFFFF"/>
                </a:solidFill>
                <a:latin typeface="Aptos" panose="020B0004020202020204" pitchFamily="34" charset="0"/>
                <a:ea typeface="Calibri" pitchFamily="34" charset="-122"/>
                <a:cs typeface="Calibri" pitchFamily="34" charset="-120"/>
              </a:rPr>
              <a:t>, pas </a:t>
            </a:r>
            <a:r>
              <a:rPr lang="en-US" sz="1400" b="1" dirty="0" err="1">
                <a:solidFill>
                  <a:srgbClr val="FFFFFF"/>
                </a:solidFill>
                <a:latin typeface="Aptos" panose="020B0004020202020204" pitchFamily="34" charset="0"/>
                <a:ea typeface="Calibri" pitchFamily="34" charset="-122"/>
                <a:cs typeface="Calibri" pitchFamily="34" charset="-120"/>
              </a:rPr>
              <a:t>masquées</a:t>
            </a:r>
            <a:r>
              <a:rPr lang="en-US" sz="1400" b="1" dirty="0">
                <a:solidFill>
                  <a:srgbClr val="FFFFFF"/>
                </a:solidFill>
                <a:latin typeface="Aptos" panose="020B0004020202020204" pitchFamily="34" charset="0"/>
                <a:ea typeface="Calibri" pitchFamily="34" charset="-122"/>
                <a:cs typeface="Calibri" pitchFamily="34" charset="-120"/>
              </a:rPr>
              <a:t>.</a:t>
            </a:r>
            <a:endParaRPr lang="en-US" sz="1400" dirty="0">
              <a:latin typeface="Aptos" panose="020B0004020202020204" pitchFamily="34" charset="0"/>
            </a:endParaRPr>
          </a:p>
        </p:txBody>
      </p:sp>
      <p:sp>
        <p:nvSpPr>
          <p:cNvPr id="60" name="Footnote formule"/>
          <p:cNvSpPr/>
          <p:nvPr/>
        </p:nvSpPr>
        <p:spPr>
          <a:xfrm>
            <a:off x="548640" y="5940000"/>
            <a:ext cx="11064240" cy="365760"/>
          </a:xfrm>
          <a:prstGeom prst="rect">
            <a:avLst/>
          </a:prstGeom>
          <a:noFill/>
        </p:spPr>
        <p:txBody>
          <a:bodyPr wrap="square" lIns="0" tIns="0" rIns="0" bIns="0" rtlCol="0" anchor="ctr"/>
          <a:lstStyle/>
          <a:p>
            <a:pPr marL="0" indent="0" algn="ctr">
              <a:buNone/>
            </a:pPr>
            <a:r>
              <a:rPr lang="fr-FR" sz="1150" i="1" u="sng" dirty="0">
                <a:solidFill>
                  <a:srgbClr val="6B7280"/>
                </a:solidFill>
                <a:latin typeface="Aptos" panose="020B0004020202020204" pitchFamily="34" charset="0"/>
              </a:rPr>
              <a:t>Pistes d'action</a:t>
            </a:r>
            <a:r>
              <a:rPr lang="fr-FR" sz="1150" i="1" dirty="0">
                <a:solidFill>
                  <a:srgbClr val="6B7280"/>
                </a:solidFill>
                <a:latin typeface="Aptos" panose="020B0004020202020204" pitchFamily="34" charset="0"/>
              </a:rPr>
              <a:t> : renforcer le canal WEB et creuser pourquoi APP et MKT sous-performent. </a:t>
            </a:r>
          </a:p>
          <a:p>
            <a:pPr marL="0" indent="0" algn="ctr">
              <a:buNone/>
            </a:pPr>
            <a:r>
              <a:rPr lang="fr-FR" sz="1150" i="1" dirty="0">
                <a:solidFill>
                  <a:srgbClr val="6B7280"/>
                </a:solidFill>
                <a:latin typeface="Aptos" panose="020B0004020202020204" pitchFamily="34" charset="0"/>
              </a:rPr>
              <a:t>Exposé via l'API, cet indicateur pourrait alimenter un tableau de bord de suivi continu plutôt qu'une lecture ponctuelle.</a:t>
            </a:r>
            <a:endParaRPr lang="en-US" sz="1150" i="1" dirty="0">
              <a:solidFill>
                <a:srgbClr val="6B7280"/>
              </a:solidFill>
              <a:latin typeface="Aptos" panose="020B0004020202020204" pitchFamily="34" charset="0"/>
            </a:endParaRPr>
          </a:p>
        </p:txBody>
      </p:sp>
      <p:sp>
        <p:nvSpPr>
          <p:cNvPr id="23" name="Text 21"/>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4 / 12</a:t>
            </a:r>
            <a:endParaRPr lang="en-US" sz="100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5</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2.2 / 3.1</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Schéma de la base finale — 7 tables</a:t>
            </a:r>
            <a:endParaRPr lang="en-US" sz="2600" dirty="0">
              <a:latin typeface="Aptos" panose="020B0004020202020204" pitchFamily="34" charset="0"/>
            </a:endParaRPr>
          </a:p>
        </p:txBody>
      </p:sp>
      <p:sp>
        <p:nvSpPr>
          <p:cNvPr id="7" name="Text 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5 / 12</a:t>
            </a:r>
            <a:endParaRPr lang="en-US" sz="1000" dirty="0">
              <a:latin typeface="Aptos" panose="020B0004020202020204" pitchFamily="34" charset="0"/>
            </a:endParaRPr>
          </a:p>
        </p:txBody>
      </p:sp>
      <p:pic>
        <p:nvPicPr>
          <p:cNvPr id="9" name="Image 8">
            <a:extLst>
              <a:ext uri="{FF2B5EF4-FFF2-40B4-BE49-F238E27FC236}">
                <a16:creationId xmlns:a16="http://schemas.microsoft.com/office/drawing/2014/main" id="{1B6298F8-0B9E-FCCA-D5DD-81C909A0D7BE}"/>
              </a:ext>
            </a:extLst>
          </p:cNvPr>
          <p:cNvPicPr>
            <a:picLocks noChangeAspect="1"/>
          </p:cNvPicPr>
          <p:nvPr/>
        </p:nvPicPr>
        <p:blipFill>
          <a:blip r:embed="rId3"/>
          <a:stretch>
            <a:fillRect/>
          </a:stretch>
        </p:blipFill>
        <p:spPr>
          <a:xfrm>
            <a:off x="548640" y="1245326"/>
            <a:ext cx="6024499" cy="5489583"/>
          </a:xfrm>
          <a:prstGeom prst="rect">
            <a:avLst/>
          </a:prstGeom>
        </p:spPr>
      </p:pic>
      <p:sp>
        <p:nvSpPr>
          <p:cNvPr id="8" name="Fact 100">
            <a:extLst>
              <a:ext uri="{FF2B5EF4-FFF2-40B4-BE49-F238E27FC236}">
                <a16:creationId xmlns:a16="http://schemas.microsoft.com/office/drawing/2014/main" id="{1C35189E-3D5A-C310-92AC-4FAAC01361B1}"/>
              </a:ext>
            </a:extLst>
          </p:cNvPr>
          <p:cNvSpPr/>
          <p:nvPr/>
        </p:nvSpPr>
        <p:spPr>
          <a:xfrm>
            <a:off x="6875585" y="1931620"/>
            <a:ext cx="4788655" cy="668380"/>
          </a:xfrm>
          <a:prstGeom prst="rect">
            <a:avLst/>
          </a:prstGeom>
          <a:noFill/>
        </p:spPr>
        <p:txBody>
          <a:bodyPr wrap="square" lIns="0" tIns="0" rIns="0" bIns="0" rtlCol="0" anchor="t"/>
          <a:lstStyle/>
          <a:p>
            <a:pPr marL="228600" indent="-228600" algn="just">
              <a:lnSpc>
                <a:spcPct val="115000"/>
              </a:lnSpc>
              <a:buFont typeface="Arial" panose="020B0604020202020204" pitchFamily="34" charset="0"/>
              <a:buChar char="•"/>
            </a:pPr>
            <a:r>
              <a:rPr lang="fr-FR" sz="1500" b="1" dirty="0">
                <a:solidFill>
                  <a:srgbClr val="E8452F"/>
                </a:solidFill>
                <a:latin typeface="Aptos" panose="020B0004020202020204" pitchFamily="34" charset="0"/>
              </a:rPr>
              <a:t>7 tables : </a:t>
            </a:r>
            <a:r>
              <a:rPr lang="fr-FR" sz="1500" dirty="0">
                <a:solidFill>
                  <a:srgbClr val="1B2740"/>
                </a:solidFill>
                <a:latin typeface="Aptos" panose="020B0004020202020204" pitchFamily="34" charset="0"/>
              </a:rPr>
              <a:t>référentiels (channels, countries, category_rules), catalogue scrapé, ventes, taux de change, résultat agrégé.</a:t>
            </a:r>
          </a:p>
        </p:txBody>
      </p:sp>
      <p:sp>
        <p:nvSpPr>
          <p:cNvPr id="11" name="Fact 101">
            <a:extLst>
              <a:ext uri="{FF2B5EF4-FFF2-40B4-BE49-F238E27FC236}">
                <a16:creationId xmlns:a16="http://schemas.microsoft.com/office/drawing/2014/main" id="{6E9F6E9A-B73C-DFCE-2A00-BB7BC06726A9}"/>
              </a:ext>
            </a:extLst>
          </p:cNvPr>
          <p:cNvSpPr/>
          <p:nvPr/>
        </p:nvSpPr>
        <p:spPr>
          <a:xfrm>
            <a:off x="6875585" y="2931620"/>
            <a:ext cx="4788655" cy="668380"/>
          </a:xfrm>
          <a:prstGeom prst="rect">
            <a:avLst/>
          </a:prstGeom>
          <a:noFill/>
        </p:spPr>
        <p:txBody>
          <a:bodyPr wrap="square" lIns="0" tIns="0" rIns="0" bIns="0" rtlCol="0" anchor="t"/>
          <a:lstStyle/>
          <a:p>
            <a:pPr marL="228600" indent="-228600" algn="just">
              <a:lnSpc>
                <a:spcPct val="115000"/>
              </a:lnSpc>
              <a:buFont typeface="Arial" panose="020B0604020202020204" pitchFamily="34" charset="0"/>
              <a:buChar char="•"/>
            </a:pPr>
            <a:r>
              <a:rPr lang="fr-FR" sz="1500" b="1" dirty="0">
                <a:solidFill>
                  <a:srgbClr val="E8452F"/>
                </a:solidFill>
                <a:latin typeface="Aptos" panose="020B0004020202020204" pitchFamily="34" charset="0"/>
              </a:rPr>
              <a:t>Clés étrangères strictes : </a:t>
            </a:r>
            <a:r>
              <a:rPr lang="fr-FR" sz="1500" dirty="0">
                <a:solidFill>
                  <a:srgbClr val="1B2740"/>
                </a:solidFill>
                <a:latin typeface="Aptos" panose="020B0004020202020204" pitchFamily="34" charset="0"/>
              </a:rPr>
              <a:t>sales.book_name, </a:t>
            </a:r>
            <a:r>
              <a:rPr lang="fr-FR" sz="1500" dirty="0" err="1">
                <a:solidFill>
                  <a:srgbClr val="1B2740"/>
                </a:solidFill>
                <a:latin typeface="Aptos" panose="020B0004020202020204" pitchFamily="34" charset="0"/>
              </a:rPr>
              <a:t>sales.channel_code</a:t>
            </a:r>
            <a:r>
              <a:rPr lang="fr-FR" sz="1500" dirty="0">
                <a:solidFill>
                  <a:srgbClr val="1B2740"/>
                </a:solidFill>
                <a:latin typeface="Aptos" panose="020B0004020202020204" pitchFamily="34" charset="0"/>
              </a:rPr>
              <a:t>, </a:t>
            </a:r>
            <a:r>
              <a:rPr lang="fr-FR" sz="1500" dirty="0" err="1">
                <a:solidFill>
                  <a:srgbClr val="1B2740"/>
                </a:solidFill>
                <a:latin typeface="Aptos" panose="020B0004020202020204" pitchFamily="34" charset="0"/>
              </a:rPr>
              <a:t>category_rules.default_channel</a:t>
            </a:r>
            <a:r>
              <a:rPr lang="fr-FR" sz="1500" dirty="0">
                <a:solidFill>
                  <a:srgbClr val="1B2740"/>
                </a:solidFill>
                <a:latin typeface="Aptos" panose="020B0004020202020204" pitchFamily="34" charset="0"/>
              </a:rPr>
              <a:t> _code.</a:t>
            </a:r>
          </a:p>
        </p:txBody>
      </p:sp>
      <p:sp>
        <p:nvSpPr>
          <p:cNvPr id="13" name="Fact 102">
            <a:extLst>
              <a:ext uri="{FF2B5EF4-FFF2-40B4-BE49-F238E27FC236}">
                <a16:creationId xmlns:a16="http://schemas.microsoft.com/office/drawing/2014/main" id="{D034C064-998C-F43A-245A-E7A1F9719BB0}"/>
              </a:ext>
            </a:extLst>
          </p:cNvPr>
          <p:cNvSpPr/>
          <p:nvPr/>
        </p:nvSpPr>
        <p:spPr>
          <a:xfrm>
            <a:off x="6875585" y="3931620"/>
            <a:ext cx="4788655" cy="668380"/>
          </a:xfrm>
          <a:prstGeom prst="rect">
            <a:avLst/>
          </a:prstGeom>
          <a:noFill/>
        </p:spPr>
        <p:txBody>
          <a:bodyPr wrap="square" lIns="0" tIns="0" rIns="0" bIns="0" rtlCol="0" anchor="t"/>
          <a:lstStyle/>
          <a:p>
            <a:pPr marL="228600" indent="-228600" algn="just">
              <a:lnSpc>
                <a:spcPct val="115000"/>
              </a:lnSpc>
              <a:buFont typeface="Arial" panose="020B0604020202020204" pitchFamily="34" charset="0"/>
              <a:buChar char="•"/>
            </a:pPr>
            <a:r>
              <a:rPr lang="fr-FR" sz="1500" b="1" dirty="0">
                <a:solidFill>
                  <a:srgbClr val="E8452F"/>
                </a:solidFill>
                <a:latin typeface="Aptos" panose="020B0004020202020204" pitchFamily="34" charset="0"/>
              </a:rPr>
              <a:t>3 relations non contraintes : </a:t>
            </a:r>
            <a:r>
              <a:rPr lang="fr-FR" sz="1500" dirty="0">
                <a:solidFill>
                  <a:srgbClr val="1B2740"/>
                </a:solidFill>
                <a:latin typeface="Aptos" panose="020B0004020202020204" pitchFamily="34" charset="0"/>
              </a:rPr>
              <a:t>sales.country_code, sales_by_country.country_code, </a:t>
            </a:r>
            <a:r>
              <a:rPr lang="fr-FR" sz="1500" dirty="0" err="1">
                <a:solidFill>
                  <a:srgbClr val="1B2740"/>
                </a:solidFill>
                <a:latin typeface="Aptos" panose="020B0004020202020204" pitchFamily="34" charset="0"/>
              </a:rPr>
              <a:t>book_catalog.category</a:t>
            </a:r>
            <a:r>
              <a:rPr lang="fr-FR" sz="1500" dirty="0">
                <a:solidFill>
                  <a:srgbClr val="1B2740"/>
                </a:solidFill>
                <a:latin typeface="Aptos" panose="020B0004020202020204" pitchFamily="34" charset="0"/>
              </a:rPr>
              <a:t> – une contrainte stricte rejetterait des ventes réelles (Pays-Bas absents du référentiel, catégories </a:t>
            </a:r>
            <a:r>
              <a:rPr lang="fr-FR" sz="1500" dirty="0" err="1">
                <a:solidFill>
                  <a:srgbClr val="1B2740"/>
                </a:solidFill>
                <a:latin typeface="Aptos" panose="020B0004020202020204" pitchFamily="34" charset="0"/>
              </a:rPr>
              <a:t>scrapées</a:t>
            </a:r>
            <a:r>
              <a:rPr lang="fr-FR" sz="1500" dirty="0">
                <a:solidFill>
                  <a:srgbClr val="1B2740"/>
                </a:solidFill>
                <a:latin typeface="Aptos" panose="020B0004020202020204" pitchFamily="34" charset="0"/>
              </a:rPr>
              <a:t> hors </a:t>
            </a:r>
            <a:r>
              <a:rPr lang="fr-FR" sz="1500" dirty="0" err="1">
                <a:solidFill>
                  <a:srgbClr val="1B2740"/>
                </a:solidFill>
                <a:latin typeface="Aptos" panose="020B0004020202020204" pitchFamily="34" charset="0"/>
              </a:rPr>
              <a:t>category_rules</a:t>
            </a:r>
            <a:r>
              <a:rPr lang="fr-FR" sz="1500" dirty="0">
                <a:solidFill>
                  <a:srgbClr val="1B2740"/>
                </a:solidFill>
                <a:latin typeface="Aptos" panose="020B0004020202020204"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6</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3.1</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RGPD — Les principes</a:t>
            </a:r>
            <a:endParaRPr lang="en-US" sz="2600" dirty="0">
              <a:latin typeface="Aptos" panose="020B0004020202020204" pitchFamily="34" charset="0"/>
            </a:endParaRPr>
          </a:p>
        </p:txBody>
      </p:sp>
      <p:sp>
        <p:nvSpPr>
          <p:cNvPr id="6" name="Text 4"/>
          <p:cNvSpPr/>
          <p:nvPr/>
        </p:nvSpPr>
        <p:spPr>
          <a:xfrm>
            <a:off x="548640" y="1554480"/>
            <a:ext cx="11064240" cy="1005840"/>
          </a:xfrm>
          <a:prstGeom prst="rect">
            <a:avLst/>
          </a:prstGeom>
          <a:noFill/>
          <a:ln/>
        </p:spPr>
        <p:txBody>
          <a:bodyPr wrap="square" lIns="0" tIns="0" rIns="0" bIns="0" rtlCol="0" anchor="ctr"/>
          <a:lstStyle/>
          <a:p>
            <a:pPr marL="0" indent="0">
              <a:lnSpc>
                <a:spcPct val="130000"/>
              </a:lnSpc>
              <a:buNone/>
            </a:pPr>
            <a:r>
              <a:rPr lang="en-US" sz="1500" dirty="0">
                <a:solidFill>
                  <a:srgbClr val="1B2740"/>
                </a:solidFill>
                <a:latin typeface="Aptos" panose="020B0004020202020204" pitchFamily="34" charset="0"/>
              </a:rPr>
              <a:t>Le RGPD (Règlement Général sur la Protection des Données) encadre, depuis 2018, la collecte, le stockage et l’utilisation des données personnelles par les entreprises.</a:t>
            </a:r>
          </a:p>
          <a:p>
            <a:pPr marL="0" indent="0">
              <a:lnSpc>
                <a:spcPct val="130000"/>
              </a:lnSpc>
              <a:buNone/>
            </a:pPr>
            <a:r>
              <a:rPr lang="en-US" sz="1500" dirty="0">
                <a:solidFill>
                  <a:srgbClr val="1B2740"/>
                </a:solidFill>
                <a:latin typeface="Aptos" panose="020B0004020202020204" pitchFamily="34" charset="0"/>
              </a:rPr>
              <a:t>Une donnée personnelle : toute information permettant d’identifier une personne, directement (nom, email) ou indirectement (combinaison d’informations).</a:t>
            </a:r>
          </a:p>
        </p:txBody>
      </p:sp>
      <p:sp>
        <p:nvSpPr>
          <p:cNvPr id="90" name="Principe 90"/>
          <p:cNvSpPr/>
          <p:nvPr/>
        </p:nvSpPr>
        <p:spPr>
          <a:xfrm>
            <a:off x="822960" y="2789040"/>
            <a:ext cx="10515600" cy="502920"/>
          </a:xfrm>
          <a:prstGeom prst="rect">
            <a:avLst/>
          </a:prstGeom>
          <a:noFill/>
        </p:spPr>
        <p:txBody>
          <a:bodyPr wrap="square" lIns="0" tIns="0" rIns="0" bIns="0" rtlCol="0" anchor="ctr"/>
          <a:lstStyle/>
          <a:p>
            <a:pPr marL="342900" indent="-342900">
              <a:buFont typeface="Arial" panose="020B0604020202020204" pitchFamily="34" charset="0"/>
              <a:buChar char="•"/>
            </a:pPr>
            <a:r>
              <a:rPr lang="en-US" sz="1500" b="1" dirty="0">
                <a:solidFill>
                  <a:srgbClr val="E8452F"/>
                </a:solidFill>
                <a:latin typeface="Aptos" panose="020B0004020202020204" pitchFamily="34" charset="0"/>
              </a:rPr>
              <a:t>Minimisation : </a:t>
            </a:r>
            <a:r>
              <a:rPr lang="en-US" sz="1500" dirty="0">
                <a:solidFill>
                  <a:srgbClr val="1B2740"/>
                </a:solidFill>
                <a:latin typeface="Aptos" panose="020B0004020202020204" pitchFamily="34" charset="0"/>
              </a:rPr>
              <a:t>ne collecter et conserver que les données strictement nécessaires à l’usage prévu.</a:t>
            </a:r>
          </a:p>
        </p:txBody>
      </p:sp>
      <p:sp>
        <p:nvSpPr>
          <p:cNvPr id="91" name="Principe 91"/>
          <p:cNvSpPr/>
          <p:nvPr/>
        </p:nvSpPr>
        <p:spPr>
          <a:xfrm>
            <a:off x="822960" y="3382320"/>
            <a:ext cx="10515600" cy="502920"/>
          </a:xfrm>
          <a:prstGeom prst="rect">
            <a:avLst/>
          </a:prstGeom>
          <a:noFill/>
        </p:spPr>
        <p:txBody>
          <a:bodyPr wrap="square" lIns="0" tIns="0" rIns="0" bIns="0" rtlCol="0" anchor="ctr"/>
          <a:lstStyle/>
          <a:p>
            <a:pPr marL="342900" indent="-342900">
              <a:buFont typeface="Arial" panose="020B0604020202020204" pitchFamily="34" charset="0"/>
              <a:buChar char="•"/>
            </a:pPr>
            <a:r>
              <a:rPr lang="en-US" sz="1500" b="1" dirty="0">
                <a:solidFill>
                  <a:srgbClr val="E8452F"/>
                </a:solidFill>
                <a:latin typeface="Aptos" panose="020B0004020202020204" pitchFamily="34" charset="0"/>
              </a:rPr>
              <a:t>Finalité : </a:t>
            </a:r>
            <a:r>
              <a:rPr lang="en-US" sz="1500" dirty="0">
                <a:solidFill>
                  <a:srgbClr val="1B2740"/>
                </a:solidFill>
                <a:latin typeface="Aptos" panose="020B0004020202020204" pitchFamily="34" charset="0"/>
              </a:rPr>
              <a:t>les données ne peuvent être utilisées que pour l’objectif annoncé lors de leur collecte.</a:t>
            </a:r>
          </a:p>
        </p:txBody>
      </p:sp>
      <p:sp>
        <p:nvSpPr>
          <p:cNvPr id="92" name="Principe 92"/>
          <p:cNvSpPr/>
          <p:nvPr/>
        </p:nvSpPr>
        <p:spPr>
          <a:xfrm>
            <a:off x="822960" y="3975600"/>
            <a:ext cx="10515600" cy="502920"/>
          </a:xfrm>
          <a:prstGeom prst="rect">
            <a:avLst/>
          </a:prstGeom>
          <a:noFill/>
        </p:spPr>
        <p:txBody>
          <a:bodyPr wrap="square" lIns="0" tIns="0" rIns="0" bIns="0" rtlCol="0" anchor="ctr"/>
          <a:lstStyle/>
          <a:p>
            <a:pPr marL="342900" indent="-342900">
              <a:buFont typeface="Arial" panose="020B0604020202020204" pitchFamily="34" charset="0"/>
              <a:buChar char="•"/>
            </a:pPr>
            <a:r>
              <a:rPr lang="en-US" sz="1500" b="1" dirty="0">
                <a:solidFill>
                  <a:srgbClr val="E8452F"/>
                </a:solidFill>
                <a:latin typeface="Aptos" panose="020B0004020202020204" pitchFamily="34" charset="0"/>
              </a:rPr>
              <a:t>Droits des personnes : </a:t>
            </a:r>
            <a:r>
              <a:rPr lang="en-US" sz="1500" dirty="0">
                <a:solidFill>
                  <a:srgbClr val="1B2740"/>
                </a:solidFill>
                <a:latin typeface="Aptos" panose="020B0004020202020204" pitchFamily="34" charset="0"/>
              </a:rPr>
              <a:t>accès, rectification, effacement (« droit à l’oubli ») sur leurs propres données.</a:t>
            </a:r>
          </a:p>
        </p:txBody>
      </p:sp>
      <p:sp>
        <p:nvSpPr>
          <p:cNvPr id="93" name="Principe 93"/>
          <p:cNvSpPr/>
          <p:nvPr/>
        </p:nvSpPr>
        <p:spPr>
          <a:xfrm>
            <a:off x="822960" y="4568880"/>
            <a:ext cx="10515600" cy="502920"/>
          </a:xfrm>
          <a:prstGeom prst="rect">
            <a:avLst/>
          </a:prstGeom>
          <a:noFill/>
        </p:spPr>
        <p:txBody>
          <a:bodyPr wrap="square" lIns="0" tIns="0" rIns="0" bIns="0" rtlCol="0" anchor="ctr"/>
          <a:lstStyle/>
          <a:p>
            <a:pPr marL="342900" indent="-342900">
              <a:buFont typeface="Arial" panose="020B0604020202020204" pitchFamily="34" charset="0"/>
              <a:buChar char="•"/>
            </a:pPr>
            <a:r>
              <a:rPr lang="en-US" sz="1500" b="1" dirty="0">
                <a:solidFill>
                  <a:srgbClr val="E8452F"/>
                </a:solidFill>
                <a:latin typeface="Aptos" panose="020B0004020202020204" pitchFamily="34" charset="0"/>
              </a:rPr>
              <a:t>Sanctions : </a:t>
            </a:r>
            <a:r>
              <a:rPr lang="en-US" sz="1500" dirty="0">
                <a:solidFill>
                  <a:srgbClr val="1B2740"/>
                </a:solidFill>
                <a:latin typeface="Aptos" panose="020B0004020202020204" pitchFamily="34" charset="0"/>
              </a:rPr>
              <a:t>jusqu’à 4 % du chiffre d’affaires mondial annuel en cas de non-conformité.</a:t>
            </a:r>
          </a:p>
        </p:txBody>
      </p:sp>
      <p:sp>
        <p:nvSpPr>
          <p:cNvPr id="15" name="Text 13"/>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6 / 12</a:t>
            </a:r>
            <a:endParaRPr lang="en-US" sz="1000" dirty="0">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7</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3.1</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RGPD appliqué à BookWorld (</a:t>
            </a:r>
            <a:r>
              <a:rPr lang="en-US" sz="2600" b="1" dirty="0" err="1">
                <a:solidFill>
                  <a:srgbClr val="1B2740"/>
                </a:solidFill>
                <a:latin typeface="Aptos" panose="020B0004020202020204" pitchFamily="34" charset="0"/>
                <a:ea typeface="Calibri" pitchFamily="34" charset="-122"/>
                <a:cs typeface="Calibri" pitchFamily="34" charset="-120"/>
              </a:rPr>
              <a:t>Démo</a:t>
            </a:r>
            <a:r>
              <a:rPr lang="en-US" sz="2600" b="1" dirty="0">
                <a:solidFill>
                  <a:srgbClr val="1B2740"/>
                </a:solidFill>
                <a:latin typeface="Aptos" panose="020B0004020202020204" pitchFamily="34" charset="0"/>
                <a:ea typeface="Calibri" pitchFamily="34" charset="-122"/>
                <a:cs typeface="Calibri" pitchFamily="34" charset="-120"/>
              </a:rPr>
              <a:t>: </a:t>
            </a:r>
            <a:r>
              <a:rPr lang="en-US" sz="2600" b="1" i="1" dirty="0">
                <a:solidFill>
                  <a:srgbClr val="1B2740"/>
                </a:solidFill>
                <a:latin typeface="Aptos" panose="020B0004020202020204" pitchFamily="34" charset="0"/>
                <a:ea typeface="Calibri" pitchFamily="34" charset="-122"/>
                <a:cs typeface="Calibri" pitchFamily="34" charset="-120"/>
              </a:rPr>
              <a:t>VS Code</a:t>
            </a:r>
            <a:r>
              <a:rPr lang="en-US" sz="2600" b="1" dirty="0">
                <a:solidFill>
                  <a:srgbClr val="1B2740"/>
                </a:solidFill>
                <a:latin typeface="Aptos" panose="020B0004020202020204" pitchFamily="34" charset="0"/>
                <a:ea typeface="Calibri" pitchFamily="34" charset="-122"/>
                <a:cs typeface="Calibri" pitchFamily="34" charset="-120"/>
              </a:rPr>
              <a:t> &amp; </a:t>
            </a:r>
            <a:r>
              <a:rPr lang="en-US" sz="2600" b="1" i="1" dirty="0">
                <a:solidFill>
                  <a:srgbClr val="1B2740"/>
                </a:solidFill>
                <a:latin typeface="Aptos" panose="020B0004020202020204" pitchFamily="34" charset="0"/>
                <a:ea typeface="Calibri" pitchFamily="34" charset="-122"/>
                <a:cs typeface="Calibri" pitchFamily="34" charset="-120"/>
              </a:rPr>
              <a:t>DBeaver</a:t>
            </a:r>
            <a:r>
              <a:rPr lang="en-US" sz="2600" b="1" dirty="0">
                <a:solidFill>
                  <a:srgbClr val="1B2740"/>
                </a:solidFill>
                <a:latin typeface="Aptos" panose="020B0004020202020204" pitchFamily="34" charset="0"/>
                <a:ea typeface="Calibri" pitchFamily="34" charset="-122"/>
                <a:cs typeface="Calibri" pitchFamily="34" charset="-120"/>
              </a:rPr>
              <a:t>)</a:t>
            </a:r>
            <a:endParaRPr lang="en-US" sz="2600" dirty="0">
              <a:latin typeface="Aptos" panose="020B0004020202020204" pitchFamily="34" charset="0"/>
            </a:endParaRPr>
          </a:p>
        </p:txBody>
      </p:sp>
      <p:sp>
        <p:nvSpPr>
          <p:cNvPr id="6" name="Text 4"/>
          <p:cNvSpPr/>
          <p:nvPr/>
        </p:nvSpPr>
        <p:spPr>
          <a:xfrm>
            <a:off x="548640" y="1600200"/>
            <a:ext cx="11064240" cy="822960"/>
          </a:xfrm>
          <a:prstGeom prst="rect">
            <a:avLst/>
          </a:prstGeom>
          <a:noFill/>
          <a:ln/>
        </p:spPr>
        <p:txBody>
          <a:bodyPr wrap="square" lIns="0" tIns="0" rIns="0" bIns="0" rtlCol="0" anchor="ctr"/>
          <a:lstStyle/>
          <a:p>
            <a:pPr marL="0" indent="0">
              <a:lnSpc>
                <a:spcPct val="130000"/>
              </a:lnSpc>
              <a:buNone/>
            </a:pPr>
            <a:r>
              <a:rPr lang="en-US" sz="1500" dirty="0">
                <a:solidFill>
                  <a:srgbClr val="1B2740"/>
                </a:solidFill>
                <a:latin typeface="Aptos" panose="020B0004020202020204" pitchFamily="34" charset="0"/>
                <a:ea typeface="Calibri" pitchFamily="34" charset="-122"/>
                <a:cs typeface="Calibri" pitchFamily="34" charset="-120"/>
              </a:rPr>
              <a:t>Le RGPD encadre la collecte et l'usage des données personnelles. </a:t>
            </a:r>
          </a:p>
          <a:p>
            <a:pPr marL="0" indent="0">
              <a:lnSpc>
                <a:spcPct val="130000"/>
              </a:lnSpc>
              <a:buNone/>
            </a:pPr>
            <a:r>
              <a:rPr lang="en-US" sz="1500" dirty="0">
                <a:solidFill>
                  <a:srgbClr val="1B2740"/>
                </a:solidFill>
                <a:latin typeface="Aptos" panose="020B0004020202020204" pitchFamily="34" charset="0"/>
                <a:ea typeface="Calibri" pitchFamily="34" charset="-122"/>
                <a:cs typeface="Calibri" pitchFamily="34" charset="-120"/>
              </a:rPr>
              <a:t>Principe central : la minimization, </a:t>
            </a:r>
            <a:r>
              <a:rPr lang="en-US" sz="1500" i="1" dirty="0" err="1">
                <a:solidFill>
                  <a:srgbClr val="1B2740"/>
                </a:solidFill>
                <a:latin typeface="Aptos" panose="020B0004020202020204" pitchFamily="34" charset="0"/>
                <a:ea typeface="Calibri" pitchFamily="34" charset="-122"/>
                <a:cs typeface="Calibri" pitchFamily="34" charset="-120"/>
              </a:rPr>
              <a:t>i.e</a:t>
            </a:r>
            <a:r>
              <a:rPr lang="en-US" sz="1500" dirty="0">
                <a:solidFill>
                  <a:srgbClr val="1B2740"/>
                </a:solidFill>
                <a:latin typeface="Aptos" panose="020B0004020202020204" pitchFamily="34" charset="0"/>
                <a:ea typeface="Calibri" pitchFamily="34" charset="-122"/>
                <a:cs typeface="Calibri" pitchFamily="34" charset="-120"/>
              </a:rPr>
              <a:t> ne conserver que ce qui est strictement nécessaire à l'usage prévu.</a:t>
            </a:r>
            <a:endParaRPr lang="en-US" sz="1500" dirty="0">
              <a:latin typeface="Aptos" panose="020B0004020202020204" pitchFamily="34" charset="0"/>
            </a:endParaRPr>
          </a:p>
        </p:txBody>
      </p:sp>
      <p:sp>
        <p:nvSpPr>
          <p:cNvPr id="7" name="Shape 5"/>
          <p:cNvSpPr/>
          <p:nvPr/>
        </p:nvSpPr>
        <p:spPr>
          <a:xfrm>
            <a:off x="548640" y="2606040"/>
            <a:ext cx="5349240" cy="2103120"/>
          </a:xfrm>
          <a:prstGeom prst="roundRect">
            <a:avLst>
              <a:gd name="adj" fmla="val 4348"/>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8" name="Text 6"/>
          <p:cNvSpPr/>
          <p:nvPr/>
        </p:nvSpPr>
        <p:spPr>
          <a:xfrm>
            <a:off x="822960" y="2834640"/>
            <a:ext cx="4800600" cy="320040"/>
          </a:xfrm>
          <a:prstGeom prst="rect">
            <a:avLst/>
          </a:prstGeom>
          <a:noFill/>
          <a:ln/>
        </p:spPr>
        <p:txBody>
          <a:bodyPr wrap="square" lIns="0" tIns="0" rIns="0" bIns="0" rtlCol="0" anchor="ctr"/>
          <a:lstStyle/>
          <a:p>
            <a:pPr marL="0" indent="0">
              <a:buNone/>
            </a:pPr>
            <a:r>
              <a:rPr lang="en-US" sz="1500" b="1" cap="small" dirty="0">
                <a:solidFill>
                  <a:srgbClr val="E8452F"/>
                </a:solidFill>
                <a:latin typeface="Aptos" panose="020B0004020202020204" pitchFamily="34" charset="0"/>
                <a:ea typeface="Calibri" pitchFamily="34" charset="-122"/>
                <a:cs typeface="Calibri" pitchFamily="34" charset="-120"/>
              </a:rPr>
              <a:t>Application à BookWorld</a:t>
            </a:r>
            <a:endParaRPr lang="en-US" sz="1500" cap="small" dirty="0">
              <a:latin typeface="Aptos" panose="020B0004020202020204" pitchFamily="34" charset="0"/>
            </a:endParaRPr>
          </a:p>
        </p:txBody>
      </p:sp>
      <p:sp>
        <p:nvSpPr>
          <p:cNvPr id="9" name="Text 7"/>
          <p:cNvSpPr/>
          <p:nvPr/>
        </p:nvSpPr>
        <p:spPr>
          <a:xfrm>
            <a:off x="822960" y="3246120"/>
            <a:ext cx="4800600" cy="1280160"/>
          </a:xfrm>
          <a:prstGeom prst="rect">
            <a:avLst/>
          </a:prstGeom>
          <a:noFill/>
          <a:ln/>
        </p:spPr>
        <p:txBody>
          <a:bodyPr wrap="square" lIns="0" tIns="0" rIns="0" bIns="0" rtlCol="0" anchor="ctr"/>
          <a:lstStyle/>
          <a:p>
            <a:pPr marL="0" indent="0">
              <a:lnSpc>
                <a:spcPct val="130000"/>
              </a:lnSpc>
              <a:buNone/>
            </a:pPr>
            <a:r>
              <a:rPr lang="en-US" sz="1400" u="sng" dirty="0">
                <a:solidFill>
                  <a:srgbClr val="1B2740"/>
                </a:solidFill>
                <a:latin typeface="Aptos" panose="020B0004020202020204" pitchFamily="34" charset="0"/>
                <a:ea typeface="Calibri" pitchFamily="34" charset="-122"/>
                <a:cs typeface="Calibri" pitchFamily="34" charset="-120"/>
              </a:rPr>
              <a:t>customer_first_name</a:t>
            </a:r>
            <a:r>
              <a:rPr lang="en-US" sz="1400" dirty="0">
                <a:solidFill>
                  <a:srgbClr val="1B2740"/>
                </a:solidFill>
                <a:latin typeface="Aptos" panose="020B0004020202020204" pitchFamily="34" charset="0"/>
                <a:ea typeface="Calibri" pitchFamily="34" charset="-122"/>
                <a:cs typeface="Calibri" pitchFamily="34" charset="-120"/>
              </a:rPr>
              <a:t> / </a:t>
            </a:r>
            <a:r>
              <a:rPr lang="en-US" sz="1400" u="sng" dirty="0">
                <a:solidFill>
                  <a:srgbClr val="1B2740"/>
                </a:solidFill>
                <a:latin typeface="Aptos" panose="020B0004020202020204" pitchFamily="34" charset="0"/>
                <a:ea typeface="Calibri" pitchFamily="34" charset="-122"/>
                <a:cs typeface="Calibri" pitchFamily="34" charset="-120"/>
              </a:rPr>
              <a:t>customer_last_name</a:t>
            </a:r>
            <a:r>
              <a:rPr lang="en-US" sz="1400" dirty="0">
                <a:solidFill>
                  <a:srgbClr val="1B2740"/>
                </a:solidFill>
                <a:latin typeface="Aptos" panose="020B0004020202020204" pitchFamily="34" charset="0"/>
                <a:ea typeface="Calibri" pitchFamily="34" charset="-122"/>
                <a:cs typeface="Calibri" pitchFamily="34" charset="-120"/>
              </a:rPr>
              <a:t> sont des identifiants directs. </a:t>
            </a:r>
          </a:p>
          <a:p>
            <a:pPr marL="0" indent="0" algn="just">
              <a:lnSpc>
                <a:spcPct val="130000"/>
              </a:lnSpc>
              <a:buNone/>
            </a:pPr>
            <a:r>
              <a:rPr lang="en-US" sz="1400" dirty="0" err="1">
                <a:solidFill>
                  <a:srgbClr val="1B2740"/>
                </a:solidFill>
                <a:latin typeface="Aptos" panose="020B0004020202020204" pitchFamily="34" charset="0"/>
                <a:ea typeface="Calibri" pitchFamily="34" charset="-122"/>
                <a:cs typeface="Calibri" pitchFamily="34" charset="-120"/>
              </a:rPr>
              <a:t>L'usage</a:t>
            </a:r>
            <a:r>
              <a:rPr lang="en-US" sz="1400" dirty="0">
                <a:solidFill>
                  <a:srgbClr val="1B2740"/>
                </a:solidFill>
                <a:latin typeface="Aptos" panose="020B0004020202020204" pitchFamily="34" charset="0"/>
                <a:ea typeface="Calibri" pitchFamily="34" charset="-122"/>
                <a:cs typeface="Calibri" pitchFamily="34" charset="-120"/>
              </a:rPr>
              <a:t> final (agrégation par pays) n'en a jamais besoin.</a:t>
            </a:r>
            <a:endParaRPr lang="en-US" sz="1400" dirty="0">
              <a:latin typeface="Aptos" panose="020B0004020202020204" pitchFamily="34" charset="0"/>
            </a:endParaRPr>
          </a:p>
        </p:txBody>
      </p:sp>
      <p:sp>
        <p:nvSpPr>
          <p:cNvPr id="10" name="Shape 8"/>
          <p:cNvSpPr/>
          <p:nvPr/>
        </p:nvSpPr>
        <p:spPr>
          <a:xfrm>
            <a:off x="6263640" y="2606040"/>
            <a:ext cx="5349240" cy="2103120"/>
          </a:xfrm>
          <a:prstGeom prst="roundRect">
            <a:avLst>
              <a:gd name="adj" fmla="val 4348"/>
            </a:avLst>
          </a:prstGeom>
          <a:solidFill>
            <a:srgbClr val="1B2740"/>
          </a:solidFill>
          <a:ln/>
        </p:spPr>
        <p:txBody>
          <a:bodyPr/>
          <a:lstStyle/>
          <a:p>
            <a:endParaRPr lang="fr-FR">
              <a:latin typeface="Aptos" panose="020B0004020202020204" pitchFamily="34" charset="0"/>
            </a:endParaRPr>
          </a:p>
        </p:txBody>
      </p:sp>
      <p:sp>
        <p:nvSpPr>
          <p:cNvPr id="11" name="Text 9"/>
          <p:cNvSpPr/>
          <p:nvPr/>
        </p:nvSpPr>
        <p:spPr>
          <a:xfrm>
            <a:off x="6537960" y="2834640"/>
            <a:ext cx="4800600" cy="320040"/>
          </a:xfrm>
          <a:prstGeom prst="rect">
            <a:avLst/>
          </a:prstGeom>
          <a:noFill/>
          <a:ln/>
        </p:spPr>
        <p:txBody>
          <a:bodyPr wrap="square" lIns="0" tIns="0" rIns="0" bIns="0" rtlCol="0" anchor="ctr"/>
          <a:lstStyle/>
          <a:p>
            <a:pPr marL="0" indent="0">
              <a:buNone/>
            </a:pPr>
            <a:r>
              <a:rPr lang="en-US" sz="1500" b="1" cap="small" dirty="0">
                <a:solidFill>
                  <a:srgbClr val="E8452F"/>
                </a:solidFill>
                <a:latin typeface="Aptos" panose="020B0004020202020204" pitchFamily="34" charset="0"/>
                <a:ea typeface="Calibri" pitchFamily="34" charset="-122"/>
                <a:cs typeface="Calibri" pitchFamily="34" charset="-120"/>
              </a:rPr>
              <a:t>Exclusion au niveau du schéma</a:t>
            </a:r>
            <a:endParaRPr lang="en-US" sz="1500" cap="small" dirty="0">
              <a:latin typeface="Aptos" panose="020B0004020202020204" pitchFamily="34" charset="0"/>
            </a:endParaRPr>
          </a:p>
        </p:txBody>
      </p:sp>
      <p:sp>
        <p:nvSpPr>
          <p:cNvPr id="12" name="Text 10"/>
          <p:cNvSpPr/>
          <p:nvPr/>
        </p:nvSpPr>
        <p:spPr>
          <a:xfrm>
            <a:off x="6537960" y="3246120"/>
            <a:ext cx="4800600" cy="128016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Aptos" panose="020B0004020202020204" pitchFamily="34" charset="0"/>
                <a:ea typeface="Calibri" pitchFamily="34" charset="-122"/>
                <a:cs typeface="Calibri" pitchFamily="34" charset="-120"/>
              </a:rPr>
              <a:t>Colonnes absentes de sales dès sa création — pas juste filtrées après coup. "Privacy by design" : une erreur future dans load() ne peut pas les réintroduire.</a:t>
            </a:r>
            <a:endParaRPr lang="en-US" sz="1300" dirty="0">
              <a:latin typeface="Aptos" panose="020B0004020202020204" pitchFamily="34" charset="0"/>
            </a:endParaRPr>
          </a:p>
        </p:txBody>
      </p:sp>
      <p:sp>
        <p:nvSpPr>
          <p:cNvPr id="13" name="Shape 11"/>
          <p:cNvSpPr/>
          <p:nvPr/>
        </p:nvSpPr>
        <p:spPr>
          <a:xfrm>
            <a:off x="548640" y="4937760"/>
            <a:ext cx="11064240" cy="1005840"/>
          </a:xfrm>
          <a:prstGeom prst="roundRect">
            <a:avLst>
              <a:gd name="adj" fmla="val 7273"/>
            </a:avLst>
          </a:prstGeom>
          <a:solidFill>
            <a:srgbClr val="2E3E5C"/>
          </a:solidFill>
          <a:ln/>
        </p:spPr>
        <p:txBody>
          <a:bodyPr/>
          <a:lstStyle/>
          <a:p>
            <a:endParaRPr lang="fr-FR">
              <a:latin typeface="Aptos" panose="020B0004020202020204" pitchFamily="34" charset="0"/>
            </a:endParaRPr>
          </a:p>
        </p:txBody>
      </p:sp>
      <p:sp>
        <p:nvSpPr>
          <p:cNvPr id="14" name="Text 12"/>
          <p:cNvSpPr/>
          <p:nvPr/>
        </p:nvSpPr>
        <p:spPr>
          <a:xfrm>
            <a:off x="822960" y="4937760"/>
            <a:ext cx="10515600" cy="1005840"/>
          </a:xfrm>
          <a:prstGeom prst="rect">
            <a:avLst/>
          </a:prstGeom>
          <a:noFill/>
          <a:ln/>
        </p:spPr>
        <p:txBody>
          <a:bodyPr wrap="square" lIns="0" tIns="0" rIns="0" bIns="0" rtlCol="0" anchor="ctr"/>
          <a:lstStyle/>
          <a:p>
            <a:pPr marL="0" indent="0">
              <a:lnSpc>
                <a:spcPct val="130000"/>
              </a:lnSpc>
              <a:buNone/>
            </a:pPr>
            <a:r>
              <a:rPr lang="en-US" sz="1300" dirty="0">
                <a:solidFill>
                  <a:srgbClr val="E8452F"/>
                </a:solidFill>
                <a:latin typeface="Aptos" panose="020B0004020202020204" pitchFamily="34" charset="0"/>
                <a:ea typeface="Consolas" pitchFamily="34" charset="-122"/>
                <a:cs typeface="Consolas" pitchFamily="34" charset="-120"/>
              </a:rPr>
              <a:t>CREATE TABLE sales (order_id, order_date, book_name, country_code, channel_code,</a:t>
            </a:r>
            <a:endParaRPr lang="en-US" sz="1300" dirty="0">
              <a:latin typeface="Aptos" panose="020B0004020202020204" pitchFamily="34" charset="0"/>
            </a:endParaRPr>
          </a:p>
          <a:p>
            <a:pPr marL="0" indent="0">
              <a:lnSpc>
                <a:spcPct val="130000"/>
              </a:lnSpc>
              <a:buNone/>
            </a:pPr>
            <a:r>
              <a:rPr lang="en-US" sz="1300" dirty="0">
                <a:solidFill>
                  <a:srgbClr val="E8452F"/>
                </a:solidFill>
                <a:latin typeface="Aptos" panose="020B0004020202020204" pitchFamily="34" charset="0"/>
                <a:ea typeface="Consolas" pitchFamily="34" charset="-122"/>
                <a:cs typeface="Consolas" pitchFamily="34" charset="-120"/>
              </a:rPr>
              <a:t>quantity, discount_rate, revenue_gbp, ...)   </a:t>
            </a:r>
            <a:r>
              <a:rPr lang="en-US" sz="1300" b="1" dirty="0">
                <a:solidFill>
                  <a:schemeClr val="bg1"/>
                </a:solidFill>
                <a:latin typeface="Aptos" panose="020B0004020202020204" pitchFamily="34" charset="0"/>
                <a:ea typeface="Consolas" pitchFamily="34" charset="-122"/>
                <a:cs typeface="Consolas" pitchFamily="34" charset="-120"/>
              </a:rPr>
              <a:t>← pas de nom / prénom client</a:t>
            </a:r>
            <a:endParaRPr lang="en-US" sz="1300" b="1" dirty="0">
              <a:solidFill>
                <a:schemeClr val="bg1"/>
              </a:solidFill>
              <a:latin typeface="Aptos" panose="020B0004020202020204" pitchFamily="34" charset="0"/>
            </a:endParaRPr>
          </a:p>
        </p:txBody>
      </p:sp>
      <p:sp>
        <p:nvSpPr>
          <p:cNvPr id="80" name="Footnote RGPD"/>
          <p:cNvSpPr/>
          <p:nvPr/>
        </p:nvSpPr>
        <p:spPr>
          <a:xfrm>
            <a:off x="548640" y="5980000"/>
            <a:ext cx="11064240" cy="365760"/>
          </a:xfrm>
          <a:prstGeom prst="rect">
            <a:avLst/>
          </a:prstGeom>
          <a:noFill/>
        </p:spPr>
        <p:txBody>
          <a:bodyPr wrap="square" lIns="0" tIns="0" rIns="0" bIns="0" rtlCol="0" anchor="ctr"/>
          <a:lstStyle/>
          <a:p>
            <a:pPr marL="0" indent="0" algn="ctr">
              <a:buNone/>
            </a:pPr>
            <a:r>
              <a:rPr lang="en-US" sz="1150" i="1" dirty="0">
                <a:solidFill>
                  <a:srgbClr val="6B7280"/>
                </a:solidFill>
                <a:latin typeface="Aptos" panose="020B0004020202020204" pitchFamily="34" charset="0"/>
              </a:rPr>
              <a:t>Données fictives ici — le RGPD ne s’applique pas légalement, mais la démarche est transposable à un contexte réel. Limite résiduelle : sales_raw.csv (données en clair) reste versionné sur Git.</a:t>
            </a:r>
          </a:p>
        </p:txBody>
      </p:sp>
      <p:sp>
        <p:nvSpPr>
          <p:cNvPr id="15" name="Text 13"/>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7 / 12</a:t>
            </a:r>
            <a:endParaRPr lang="en-US" sz="100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8</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4.1</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API REST — Endpoints</a:t>
            </a:r>
            <a:endParaRPr lang="en-US" sz="2600" dirty="0">
              <a:latin typeface="Aptos" panose="020B0004020202020204" pitchFamily="34" charset="0"/>
            </a:endParaRPr>
          </a:p>
        </p:txBody>
      </p:sp>
      <p:graphicFrame>
        <p:nvGraphicFramePr>
          <p:cNvPr id="16" name="Table 0"/>
          <p:cNvGraphicFramePr>
            <a:graphicFrameLocks noGrp="1"/>
          </p:cNvGraphicFramePr>
          <p:nvPr>
            <p:extLst>
              <p:ext uri="{D42A27DB-BD31-4B8C-83A1-F6EECF244321}">
                <p14:modId xmlns:p14="http://schemas.microsoft.com/office/powerpoint/2010/main" val="3773952718"/>
              </p:ext>
            </p:extLst>
          </p:nvPr>
        </p:nvGraphicFramePr>
        <p:xfrm>
          <a:off x="548640" y="1737360"/>
          <a:ext cx="11064240" cy="1645920"/>
        </p:xfrm>
        <a:graphic>
          <a:graphicData uri="http://schemas.openxmlformats.org/drawingml/2006/table">
            <a:tbl>
              <a:tblPr/>
              <a:tblGrid>
                <a:gridCol w="16459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754880">
                  <a:extLst>
                    <a:ext uri="{9D8B030D-6E8A-4147-A177-3AD203B41FA5}">
                      <a16:colId xmlns:a16="http://schemas.microsoft.com/office/drawing/2014/main" val="20003"/>
                    </a:ext>
                  </a:extLst>
                </a:gridCol>
              </a:tblGrid>
              <a:tr h="548640">
                <a:tc>
                  <a:txBody>
                    <a:bodyP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Méthode</a:t>
                      </a:r>
                      <a:endParaRPr lang="en-US" sz="1400" dirty="0">
                        <a:latin typeface="Aptos" panose="020B0004020202020204" pitchFamily="34"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Route</a:t>
                      </a:r>
                      <a:endParaRPr lang="en-US" sz="1400" dirty="0">
                        <a:latin typeface="Aptos" panose="020B0004020202020204" pitchFamily="34"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Auth</a:t>
                      </a:r>
                      <a:endParaRPr lang="en-US" sz="1400" dirty="0">
                        <a:latin typeface="Aptos" panose="020B0004020202020204" pitchFamily="34"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tc>
                  <a:txBody>
                    <a:bodyP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Description</a:t>
                      </a:r>
                      <a:endParaRPr lang="en-US" sz="1400" dirty="0">
                        <a:latin typeface="Aptos" panose="020B0004020202020204" pitchFamily="34"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1B2740"/>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buNone/>
                      </a:pPr>
                      <a:r>
                        <a:rPr lang="en-US" sz="1400" dirty="0">
                          <a:solidFill>
                            <a:srgbClr val="1B2740"/>
                          </a:solidFill>
                          <a:latin typeface="Consolas" pitchFamily="34" charset="0"/>
                          <a:ea typeface="Consolas" pitchFamily="34" charset="-122"/>
                          <a:cs typeface="Consolas" pitchFamily="34" charset="-120"/>
                        </a:rPr>
                        <a:t>/health</a:t>
                      </a:r>
                      <a:endParaRPr lang="en-US" sz="1400" dirty="0">
                        <a:latin typeface="Consolas" charset="0"/>
                        <a:ea typeface="Consolas" charset="0"/>
                        <a:cs typeface="Consolas"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{"status": "ok"} si l'API fonctionne</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2F1EF"/>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buNone/>
                      </a:pPr>
                      <a:r>
                        <a:rPr lang="en-US" sz="1400" dirty="0">
                          <a:solidFill>
                            <a:srgbClr val="1B2740"/>
                          </a:solidFill>
                          <a:latin typeface="Consolas" pitchFamily="34" charset="0"/>
                          <a:ea typeface="Consolas" pitchFamily="34" charset="-122"/>
                          <a:cs typeface="Consolas" pitchFamily="34" charset="-120"/>
                        </a:rPr>
                        <a:t>/sales-by-country</a:t>
                      </a:r>
                      <a:endParaRPr lang="en-US" sz="1400" dirty="0">
                        <a:latin typeface="Consolas" charset="0"/>
                        <a:ea typeface="Consolas" charset="0"/>
                        <a:cs typeface="Consolas"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buNone/>
                      </a:pPr>
                      <a:r>
                        <a:rPr lang="en-US" sz="1400" b="1" dirty="0">
                          <a:solidFill>
                            <a:srgbClr val="E8452F"/>
                          </a:solidFill>
                          <a:latin typeface="Calibri" pitchFamily="34" charset="0"/>
                          <a:ea typeface="Calibri" pitchFamily="34" charset="-122"/>
                          <a:cs typeface="Calibri" pitchFamily="34" charset="-120"/>
                        </a:rPr>
                        <a:t>Oui (token)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tc>
                  <a:txBody>
                    <a:bodyPr/>
                    <a:lstStyle/>
                    <a:p>
                      <a:pPr marL="0" indent="0">
                        <a:buNone/>
                      </a:pPr>
                      <a:r>
                        <a:rPr lang="en-US" sz="1400" dirty="0">
                          <a:solidFill>
                            <a:srgbClr val="1B2740"/>
                          </a:solidFill>
                          <a:latin typeface="Calibri" pitchFamily="34" charset="0"/>
                          <a:ea typeface="Calibri" pitchFamily="34" charset="-122"/>
                          <a:cs typeface="Calibri" pitchFamily="34" charset="-120"/>
                        </a:rPr>
                        <a:t>Données agrégées en JSON</a:t>
                      </a:r>
                      <a:endParaRPr lang="en-US" sz="1400" dirty="0">
                        <a:latin typeface="Calibri" charset="0"/>
                        <a:ea typeface="Calibri" charset="0"/>
                        <a:cs typeface="Calibri" charset="0"/>
                      </a:endParaRPr>
                    </a:p>
                  </a:txBody>
                  <a:tcPr marL="127000" marR="127000" marT="101600" marB="101600" anchor="ctr">
                    <a:lnL w="12700" cap="flat" cmpd="sng" algn="ctr">
                      <a:solidFill>
                        <a:srgbClr val="E3E2E0"/>
                      </a:solidFill>
                      <a:prstDash val="solid"/>
                      <a:round/>
                      <a:headEnd type="none" w="med" len="med"/>
                      <a:tailEnd type="none" w="med" len="med"/>
                    </a:lnL>
                    <a:lnR w="12700" cap="flat" cmpd="sng" algn="ctr">
                      <a:solidFill>
                        <a:srgbClr val="E3E2E0"/>
                      </a:solidFill>
                      <a:prstDash val="solid"/>
                      <a:round/>
                      <a:headEnd type="none" w="med" len="med"/>
                      <a:tailEnd type="none" w="med" len="med"/>
                    </a:lnR>
                    <a:lnT w="12700" cap="flat" cmpd="sng" algn="ctr">
                      <a:solidFill>
                        <a:srgbClr val="E3E2E0"/>
                      </a:solidFill>
                      <a:prstDash val="solid"/>
                      <a:round/>
                      <a:headEnd type="none" w="med" len="med"/>
                      <a:tailEnd type="none" w="med" len="med"/>
                    </a:lnT>
                    <a:lnB w="12700" cap="flat" cmpd="sng" algn="ctr">
                      <a:solidFill>
                        <a:srgbClr val="E3E2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Shape 4"/>
          <p:cNvSpPr/>
          <p:nvPr/>
        </p:nvSpPr>
        <p:spPr>
          <a:xfrm>
            <a:off x="548640" y="3566160"/>
            <a:ext cx="11064240" cy="2194560"/>
          </a:xfrm>
          <a:prstGeom prst="roundRect">
            <a:avLst>
              <a:gd name="adj" fmla="val 4167"/>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8" name="Text 5"/>
          <p:cNvSpPr/>
          <p:nvPr/>
        </p:nvSpPr>
        <p:spPr>
          <a:xfrm>
            <a:off x="868680" y="3749040"/>
            <a:ext cx="10424160" cy="320040"/>
          </a:xfrm>
          <a:prstGeom prst="rect">
            <a:avLst/>
          </a:prstGeom>
          <a:noFill/>
          <a:ln/>
        </p:spPr>
        <p:txBody>
          <a:bodyPr wrap="square" lIns="0" tIns="0" rIns="0" bIns="0" rtlCol="0" anchor="ctr"/>
          <a:lstStyle/>
          <a:p>
            <a:pPr marL="0" indent="0">
              <a:buNone/>
            </a:pPr>
            <a:r>
              <a:rPr lang="en-US" sz="1500" b="1" dirty="0">
                <a:solidFill>
                  <a:srgbClr val="1B2740"/>
                </a:solidFill>
                <a:latin typeface="Aptos" panose="020B0004020202020204" pitchFamily="34" charset="0"/>
                <a:ea typeface="Calibri" pitchFamily="34" charset="-122"/>
                <a:cs typeface="Calibri" pitchFamily="34" charset="-120"/>
              </a:rPr>
              <a:t>Gestion d'erreur de /sales-by-country</a:t>
            </a:r>
            <a:endParaRPr lang="en-US" sz="1500" dirty="0">
              <a:latin typeface="Aptos" panose="020B0004020202020204" pitchFamily="34" charset="0"/>
            </a:endParaRPr>
          </a:p>
        </p:txBody>
      </p:sp>
      <p:sp>
        <p:nvSpPr>
          <p:cNvPr id="9" name="Shape 6"/>
          <p:cNvSpPr/>
          <p:nvPr/>
        </p:nvSpPr>
        <p:spPr>
          <a:xfrm>
            <a:off x="868680" y="4251960"/>
            <a:ext cx="914400" cy="502920"/>
          </a:xfrm>
          <a:prstGeom prst="roundRect">
            <a:avLst>
              <a:gd name="adj" fmla="val 14545"/>
            </a:avLst>
          </a:prstGeom>
          <a:solidFill>
            <a:srgbClr val="E8452F"/>
          </a:solidFill>
          <a:ln/>
        </p:spPr>
        <p:txBody>
          <a:bodyPr/>
          <a:lstStyle/>
          <a:p>
            <a:endParaRPr lang="fr-FR">
              <a:latin typeface="Aptos" panose="020B0004020202020204" pitchFamily="34" charset="0"/>
            </a:endParaRPr>
          </a:p>
        </p:txBody>
      </p:sp>
      <p:sp>
        <p:nvSpPr>
          <p:cNvPr id="10" name="Text 7"/>
          <p:cNvSpPr/>
          <p:nvPr/>
        </p:nvSpPr>
        <p:spPr>
          <a:xfrm>
            <a:off x="868680" y="425196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onsolas" pitchFamily="34" charset="-122"/>
                <a:cs typeface="Consolas" pitchFamily="34" charset="-120"/>
              </a:rPr>
              <a:t>503</a:t>
            </a:r>
            <a:endParaRPr lang="en-US" sz="1600" dirty="0">
              <a:latin typeface="Aptos" panose="020B0004020202020204" pitchFamily="34" charset="0"/>
            </a:endParaRPr>
          </a:p>
        </p:txBody>
      </p:sp>
      <p:sp>
        <p:nvSpPr>
          <p:cNvPr id="11" name="Text 8"/>
          <p:cNvSpPr/>
          <p:nvPr/>
        </p:nvSpPr>
        <p:spPr>
          <a:xfrm>
            <a:off x="1965960" y="4270248"/>
            <a:ext cx="2743200" cy="274320"/>
          </a:xfrm>
          <a:prstGeom prst="rect">
            <a:avLst/>
          </a:prstGeom>
          <a:noFill/>
          <a:ln/>
        </p:spPr>
        <p:txBody>
          <a:bodyPr wrap="square" lIns="0" tIns="0" rIns="0" bIns="0" rtlCol="0" anchor="ctr"/>
          <a:lstStyle/>
          <a:p>
            <a:pPr marL="0" indent="0">
              <a:buNone/>
            </a:pPr>
            <a:r>
              <a:rPr lang="en-US" sz="1250" b="1" dirty="0">
                <a:solidFill>
                  <a:srgbClr val="1B2740"/>
                </a:solidFill>
                <a:latin typeface="Aptos" panose="020B0004020202020204" pitchFamily="34" charset="0"/>
                <a:ea typeface="Calibri" pitchFamily="34" charset="-122"/>
                <a:cs typeface="Calibri" pitchFamily="34" charset="-120"/>
              </a:rPr>
              <a:t>Service Unavailable</a:t>
            </a:r>
            <a:endParaRPr lang="en-US" sz="1250" dirty="0">
              <a:latin typeface="Aptos" panose="020B0004020202020204" pitchFamily="34" charset="0"/>
            </a:endParaRPr>
          </a:p>
        </p:txBody>
      </p:sp>
      <p:sp>
        <p:nvSpPr>
          <p:cNvPr id="12" name="Text 9"/>
          <p:cNvSpPr/>
          <p:nvPr/>
        </p:nvSpPr>
        <p:spPr>
          <a:xfrm>
            <a:off x="1965960" y="4507992"/>
            <a:ext cx="8686800" cy="274320"/>
          </a:xfrm>
          <a:prstGeom prst="rect">
            <a:avLst/>
          </a:prstGeom>
          <a:noFill/>
          <a:ln/>
        </p:spPr>
        <p:txBody>
          <a:bodyPr wrap="square" lIns="0" tIns="0" rIns="0" bIns="0" rtlCol="0" anchor="ctr"/>
          <a:lstStyle/>
          <a:p>
            <a:pPr marL="0" indent="0">
              <a:buNone/>
            </a:pPr>
            <a:r>
              <a:rPr lang="en-US" sz="1200" dirty="0">
                <a:solidFill>
                  <a:srgbClr val="6B7280"/>
                </a:solidFill>
                <a:latin typeface="Aptos" panose="020B0004020202020204" pitchFamily="34" charset="0"/>
                <a:ea typeface="Calibri" pitchFamily="34" charset="-122"/>
                <a:cs typeface="Calibri" pitchFamily="34" charset="-120"/>
              </a:rPr>
              <a:t>La base finale n'existe pas encore (pipeline non exécuté)</a:t>
            </a:r>
            <a:endParaRPr lang="en-US" sz="1200" dirty="0">
              <a:latin typeface="Aptos" panose="020B0004020202020204" pitchFamily="34" charset="0"/>
            </a:endParaRPr>
          </a:p>
        </p:txBody>
      </p:sp>
      <p:sp>
        <p:nvSpPr>
          <p:cNvPr id="13" name="Shape 10"/>
          <p:cNvSpPr/>
          <p:nvPr/>
        </p:nvSpPr>
        <p:spPr>
          <a:xfrm>
            <a:off x="868680" y="4937760"/>
            <a:ext cx="914400" cy="502920"/>
          </a:xfrm>
          <a:prstGeom prst="roundRect">
            <a:avLst>
              <a:gd name="adj" fmla="val 14545"/>
            </a:avLst>
          </a:prstGeom>
          <a:solidFill>
            <a:srgbClr val="E8452F"/>
          </a:solidFill>
          <a:ln/>
        </p:spPr>
        <p:txBody>
          <a:bodyPr/>
          <a:lstStyle/>
          <a:p>
            <a:endParaRPr lang="fr-FR">
              <a:latin typeface="Aptos" panose="020B0004020202020204" pitchFamily="34" charset="0"/>
            </a:endParaRPr>
          </a:p>
        </p:txBody>
      </p:sp>
      <p:sp>
        <p:nvSpPr>
          <p:cNvPr id="14" name="Text 11"/>
          <p:cNvSpPr/>
          <p:nvPr/>
        </p:nvSpPr>
        <p:spPr>
          <a:xfrm>
            <a:off x="868680" y="493776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onsolas" pitchFamily="34" charset="-122"/>
                <a:cs typeface="Consolas" pitchFamily="34" charset="-120"/>
              </a:rPr>
              <a:t>500</a:t>
            </a:r>
            <a:endParaRPr lang="en-US" sz="1600" dirty="0">
              <a:latin typeface="Aptos" panose="020B0004020202020204" pitchFamily="34" charset="0"/>
            </a:endParaRPr>
          </a:p>
        </p:txBody>
      </p:sp>
      <p:sp>
        <p:nvSpPr>
          <p:cNvPr id="15" name="Text 12"/>
          <p:cNvSpPr/>
          <p:nvPr/>
        </p:nvSpPr>
        <p:spPr>
          <a:xfrm>
            <a:off x="1965960" y="4956048"/>
            <a:ext cx="2743200" cy="274320"/>
          </a:xfrm>
          <a:prstGeom prst="rect">
            <a:avLst/>
          </a:prstGeom>
          <a:noFill/>
          <a:ln/>
        </p:spPr>
        <p:txBody>
          <a:bodyPr wrap="square" lIns="0" tIns="0" rIns="0" bIns="0" rtlCol="0" anchor="ctr"/>
          <a:lstStyle/>
          <a:p>
            <a:pPr marL="0" indent="0">
              <a:buNone/>
            </a:pPr>
            <a:r>
              <a:rPr lang="en-US" sz="1250" b="1" dirty="0">
                <a:solidFill>
                  <a:srgbClr val="1B2740"/>
                </a:solidFill>
                <a:latin typeface="Aptos" panose="020B0004020202020204" pitchFamily="34" charset="0"/>
                <a:ea typeface="Calibri" pitchFamily="34" charset="-122"/>
                <a:cs typeface="Calibri" pitchFamily="34" charset="-120"/>
              </a:rPr>
              <a:t>Internal Server Error</a:t>
            </a:r>
            <a:endParaRPr lang="en-US" sz="1250" dirty="0">
              <a:latin typeface="Aptos" panose="020B0004020202020204" pitchFamily="34" charset="0"/>
            </a:endParaRPr>
          </a:p>
        </p:txBody>
      </p:sp>
      <p:sp>
        <p:nvSpPr>
          <p:cNvPr id="6" name="Text 13"/>
          <p:cNvSpPr/>
          <p:nvPr/>
        </p:nvSpPr>
        <p:spPr>
          <a:xfrm>
            <a:off x="1965960" y="5193792"/>
            <a:ext cx="8686800" cy="274320"/>
          </a:xfrm>
          <a:prstGeom prst="rect">
            <a:avLst/>
          </a:prstGeom>
          <a:noFill/>
          <a:ln/>
        </p:spPr>
        <p:txBody>
          <a:bodyPr wrap="square" lIns="0" tIns="0" rIns="0" bIns="0" rtlCol="0" anchor="ctr"/>
          <a:lstStyle/>
          <a:p>
            <a:pPr marL="0" indent="0">
              <a:buNone/>
            </a:pPr>
            <a:r>
              <a:rPr lang="en-US" sz="1200" dirty="0">
                <a:solidFill>
                  <a:srgbClr val="6B7280"/>
                </a:solidFill>
                <a:latin typeface="Aptos" panose="020B0004020202020204" pitchFamily="34" charset="0"/>
                <a:ea typeface="Calibri" pitchFamily="34" charset="-122"/>
                <a:cs typeface="Calibri" pitchFamily="34" charset="-120"/>
              </a:rPr>
              <a:t>Une table attendue est illisible</a:t>
            </a:r>
            <a:endParaRPr lang="en-US" sz="1200" dirty="0">
              <a:latin typeface="Aptos" panose="020B0004020202020204" pitchFamily="34" charset="0"/>
            </a:endParaRPr>
          </a:p>
        </p:txBody>
      </p:sp>
      <p:sp>
        <p:nvSpPr>
          <p:cNvPr id="17" name="Text 1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8 / 12</a:t>
            </a:r>
            <a:endParaRPr lang="en-US" sz="1000" dirty="0">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9</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4.1</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Les méthodes d’authentification possibles</a:t>
            </a:r>
            <a:endParaRPr lang="en-US" sz="2600" dirty="0">
              <a:latin typeface="Aptos" panose="020B0004020202020204" pitchFamily="34" charset="0"/>
            </a:endParaRPr>
          </a:p>
        </p:txBody>
      </p:sp>
      <p:sp>
        <p:nvSpPr>
          <p:cNvPr id="17" name="Text 1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9 / 12</a:t>
            </a:r>
            <a:endParaRPr lang="en-US" sz="1000" dirty="0">
              <a:latin typeface="Aptos" panose="020B0004020202020204" pitchFamily="34" charset="0"/>
            </a:endParaRPr>
          </a:p>
        </p:txBody>
      </p:sp>
      <p:grpSp>
        <p:nvGrpSpPr>
          <p:cNvPr id="91" name="Groupe 90">
            <a:extLst>
              <a:ext uri="{FF2B5EF4-FFF2-40B4-BE49-F238E27FC236}">
                <a16:creationId xmlns:a16="http://schemas.microsoft.com/office/drawing/2014/main" id="{44E1B2FD-9475-FA59-187F-75CD58008933}"/>
              </a:ext>
            </a:extLst>
          </p:cNvPr>
          <p:cNvGrpSpPr/>
          <p:nvPr/>
        </p:nvGrpSpPr>
        <p:grpSpPr>
          <a:xfrm>
            <a:off x="548640" y="1700000"/>
            <a:ext cx="11064240" cy="4760000"/>
            <a:chOff x="548640" y="1700000"/>
            <a:chExt cx="11064240" cy="4760000"/>
          </a:xfrm>
        </p:grpSpPr>
        <p:sp>
          <p:nvSpPr>
            <p:cNvPr id="52" name="CardBg200">
              <a:extLst>
                <a:ext uri="{FF2B5EF4-FFF2-40B4-BE49-F238E27FC236}">
                  <a16:creationId xmlns:a16="http://schemas.microsoft.com/office/drawing/2014/main" id="{0DE53EFB-0983-D68D-62A5-778666A06396}"/>
                </a:ext>
              </a:extLst>
            </p:cNvPr>
            <p:cNvSpPr/>
            <p:nvPr/>
          </p:nvSpPr>
          <p:spPr>
            <a:xfrm>
              <a:off x="548640" y="1700000"/>
              <a:ext cx="5432120" cy="2320000"/>
            </a:xfrm>
            <a:prstGeom prst="roundRect">
              <a:avLst>
                <a:gd name="adj" fmla="val 5000"/>
              </a:avLst>
            </a:prstGeom>
            <a:solidFill>
              <a:srgbClr val="F2F1EF"/>
            </a:solidFill>
            <a:ln>
              <a:solidFill>
                <a:srgbClr val="1B2740"/>
              </a:solidFill>
            </a:ln>
          </p:spPr>
          <p:txBody>
            <a:bodyPr/>
            <a:lstStyle/>
            <a:p>
              <a:endParaRPr lang="fr-FR"/>
            </a:p>
          </p:txBody>
        </p:sp>
        <p:sp>
          <p:nvSpPr>
            <p:cNvPr id="54" name="CardTitle201">
              <a:extLst>
                <a:ext uri="{FF2B5EF4-FFF2-40B4-BE49-F238E27FC236}">
                  <a16:creationId xmlns:a16="http://schemas.microsoft.com/office/drawing/2014/main" id="{089C6510-1D02-FF5A-FC18-68E8649CBC8E}"/>
                </a:ext>
              </a:extLst>
            </p:cNvPr>
            <p:cNvSpPr/>
            <p:nvPr/>
          </p:nvSpPr>
          <p:spPr>
            <a:xfrm>
              <a:off x="728640" y="1810000"/>
              <a:ext cx="5072120" cy="300000"/>
            </a:xfrm>
            <a:prstGeom prst="rect">
              <a:avLst/>
            </a:prstGeom>
            <a:noFill/>
          </p:spPr>
          <p:txBody>
            <a:bodyPr wrap="square" lIns="0" tIns="0" rIns="0" bIns="0" anchor="t"/>
            <a:lstStyle/>
            <a:p>
              <a:pPr marL="0" indent="0">
                <a:buNone/>
              </a:pPr>
              <a:r>
                <a:rPr lang="fr-FR" sz="1500" dirty="0">
                  <a:solidFill>
                    <a:srgbClr val="1B2740"/>
                  </a:solidFill>
                  <a:latin typeface="Aptos" panose="020B0004020202020204" pitchFamily="34" charset="0"/>
                </a:rPr>
                <a:t>API Key</a:t>
              </a:r>
            </a:p>
          </p:txBody>
        </p:sp>
        <p:sp>
          <p:nvSpPr>
            <p:cNvPr id="56" name="CardFacts202">
              <a:extLst>
                <a:ext uri="{FF2B5EF4-FFF2-40B4-BE49-F238E27FC236}">
                  <a16:creationId xmlns:a16="http://schemas.microsoft.com/office/drawing/2014/main" id="{C790D82B-6AE6-49C8-E6F7-79D1593C30A0}"/>
                </a:ext>
              </a:extLst>
            </p:cNvPr>
            <p:cNvSpPr/>
            <p:nvPr/>
          </p:nvSpPr>
          <p:spPr>
            <a:xfrm>
              <a:off x="728640" y="2120000"/>
              <a:ext cx="5072120" cy="900000"/>
            </a:xfrm>
            <a:prstGeom prst="rect">
              <a:avLst/>
            </a:prstGeom>
            <a:noFill/>
          </p:spPr>
          <p:txBody>
            <a:bodyPr wrap="square" lIns="0" tIns="0" rIns="0" bIns="0" anchor="t"/>
            <a:lstStyle/>
            <a:p>
              <a:pPr marL="0" indent="0">
                <a:lnSpc>
                  <a:spcPct val="105000"/>
                </a:lnSpc>
                <a:buNone/>
              </a:pPr>
              <a:r>
                <a:rPr lang="fr-FR" sz="1000" dirty="0">
                  <a:solidFill>
                    <a:srgbClr val="E8452F"/>
                  </a:solidFill>
                  <a:latin typeface="Aptos" panose="020B0004020202020204" pitchFamily="34" charset="0"/>
                </a:rPr>
                <a:t>Principe : </a:t>
              </a:r>
              <a:r>
                <a:rPr lang="fr-FR" sz="1000" dirty="0">
                  <a:solidFill>
                    <a:srgbClr val="1B2740"/>
                  </a:solidFill>
                  <a:latin typeface="Aptos" panose="020B0004020202020204" pitchFamily="34" charset="0"/>
                </a:rPr>
                <a:t>Clé statique en en-tête ou URL</a:t>
              </a:r>
            </a:p>
            <a:p>
              <a:pPr marL="0" indent="0">
                <a:lnSpc>
                  <a:spcPct val="105000"/>
                </a:lnSpc>
                <a:buNone/>
              </a:pPr>
              <a:r>
                <a:rPr lang="fr-FR" sz="1000" dirty="0">
                  <a:solidFill>
                    <a:srgbClr val="E8452F"/>
                  </a:solidFill>
                  <a:latin typeface="Aptos" panose="020B0004020202020204" pitchFamily="34" charset="0"/>
                </a:rPr>
                <a:t>Sécurité : </a:t>
              </a:r>
              <a:r>
                <a:rPr lang="fr-FR" sz="1000" dirty="0">
                  <a:solidFill>
                    <a:srgbClr val="1B2740"/>
                  </a:solidFill>
                  <a:latin typeface="Aptos" panose="020B0004020202020204" pitchFamily="34" charset="0"/>
                </a:rPr>
                <a:t>Faible si en URL, pas d’expiration</a:t>
              </a:r>
            </a:p>
            <a:p>
              <a:pPr marL="0" indent="0">
                <a:lnSpc>
                  <a:spcPct val="105000"/>
                </a:lnSpc>
                <a:buNone/>
              </a:pPr>
              <a:r>
                <a:rPr lang="fr-FR" sz="1000" dirty="0">
                  <a:solidFill>
                    <a:srgbClr val="E8452F"/>
                  </a:solidFill>
                  <a:latin typeface="Aptos" panose="020B0004020202020204" pitchFamily="34" charset="0"/>
                </a:rPr>
                <a:t>Complexité : </a:t>
              </a:r>
              <a:r>
                <a:rPr lang="fr-FR" sz="1000" dirty="0">
                  <a:solidFill>
                    <a:srgbClr val="1B2740"/>
                  </a:solidFill>
                  <a:latin typeface="Aptos" panose="020B0004020202020204" pitchFamily="34" charset="0"/>
                </a:rPr>
                <a:t>Très simple</a:t>
              </a:r>
            </a:p>
          </p:txBody>
        </p:sp>
        <p:sp>
          <p:nvSpPr>
            <p:cNvPr id="58" name="CodeBg203">
              <a:extLst>
                <a:ext uri="{FF2B5EF4-FFF2-40B4-BE49-F238E27FC236}">
                  <a16:creationId xmlns:a16="http://schemas.microsoft.com/office/drawing/2014/main" id="{5AA158E2-556E-643F-F963-58DA6D105196}"/>
                </a:ext>
              </a:extLst>
            </p:cNvPr>
            <p:cNvSpPr/>
            <p:nvPr/>
          </p:nvSpPr>
          <p:spPr>
            <a:xfrm>
              <a:off x="728640" y="3000000"/>
              <a:ext cx="5072120" cy="900000"/>
            </a:xfrm>
            <a:prstGeom prst="roundRect">
              <a:avLst>
                <a:gd name="adj" fmla="val 6000"/>
              </a:avLst>
            </a:prstGeom>
            <a:solidFill>
              <a:srgbClr val="1B2740"/>
            </a:solidFill>
            <a:ln>
              <a:noFill/>
            </a:ln>
          </p:spPr>
          <p:txBody>
            <a:bodyPr/>
            <a:lstStyle/>
            <a:p>
              <a:endParaRPr lang="fr-FR"/>
            </a:p>
          </p:txBody>
        </p:sp>
        <p:sp>
          <p:nvSpPr>
            <p:cNvPr id="60" name="CodeTxt204">
              <a:extLst>
                <a:ext uri="{FF2B5EF4-FFF2-40B4-BE49-F238E27FC236}">
                  <a16:creationId xmlns:a16="http://schemas.microsoft.com/office/drawing/2014/main" id="{1C55E204-63B4-3DDE-A6C9-60A46002EB43}"/>
                </a:ext>
              </a:extLst>
            </p:cNvPr>
            <p:cNvSpPr/>
            <p:nvPr/>
          </p:nvSpPr>
          <p:spPr>
            <a:xfrm>
              <a:off x="808640" y="3080000"/>
              <a:ext cx="4912120" cy="900000"/>
            </a:xfrm>
            <a:prstGeom prst="rect">
              <a:avLst/>
            </a:prstGeom>
            <a:noFill/>
          </p:spPr>
          <p:txBody>
            <a:bodyPr wrap="square" lIns="0" tIns="0" rIns="0" bIns="0" anchor="ctr"/>
            <a:lstStyle/>
            <a:p>
              <a:pPr marL="0" indent="0">
                <a:lnSpc>
                  <a:spcPct val="115000"/>
                </a:lnSpc>
                <a:buNone/>
              </a:pPr>
              <a:r>
                <a:rPr lang="fr-FR" sz="950" dirty="0">
                  <a:solidFill>
                    <a:srgbClr val="FFFFFF"/>
                  </a:solidFill>
                  <a:latin typeface="Consolas" panose="020B0609020204030204" pitchFamily="49" charset="0"/>
                </a:rPr>
                <a:t>requests.get(url, headers={"X-API-Key": "abc123"})</a:t>
              </a:r>
            </a:p>
            <a:p>
              <a:pPr marL="0" indent="0">
                <a:lnSpc>
                  <a:spcPct val="115000"/>
                </a:lnSpc>
                <a:buNone/>
              </a:pPr>
              <a:r>
                <a:rPr lang="fr-FR" sz="950" dirty="0">
                  <a:solidFill>
                    <a:srgbClr val="FFFFFF"/>
                  </a:solidFill>
                  <a:latin typeface="Consolas" panose="020B0609020204030204" pitchFamily="49" charset="0"/>
                </a:rPr>
                <a:t>curl -H "X-API-Key: abc123" &lt;url&gt;</a:t>
              </a:r>
            </a:p>
          </p:txBody>
        </p:sp>
        <p:sp>
          <p:nvSpPr>
            <p:cNvPr id="62" name="CardBg220">
              <a:extLst>
                <a:ext uri="{FF2B5EF4-FFF2-40B4-BE49-F238E27FC236}">
                  <a16:creationId xmlns:a16="http://schemas.microsoft.com/office/drawing/2014/main" id="{72F0FEE9-0344-4FB4-47B9-522C3D54BC77}"/>
                </a:ext>
              </a:extLst>
            </p:cNvPr>
            <p:cNvSpPr/>
            <p:nvPr/>
          </p:nvSpPr>
          <p:spPr>
            <a:xfrm>
              <a:off x="6180760" y="1700000"/>
              <a:ext cx="5432120" cy="2320000"/>
            </a:xfrm>
            <a:prstGeom prst="roundRect">
              <a:avLst>
                <a:gd name="adj" fmla="val 5000"/>
              </a:avLst>
            </a:prstGeom>
            <a:solidFill>
              <a:srgbClr val="F2F1EF"/>
            </a:solidFill>
            <a:ln>
              <a:solidFill>
                <a:srgbClr val="1B2740"/>
              </a:solidFill>
            </a:ln>
          </p:spPr>
          <p:txBody>
            <a:bodyPr/>
            <a:lstStyle/>
            <a:p>
              <a:endParaRPr lang="fr-FR"/>
            </a:p>
          </p:txBody>
        </p:sp>
        <p:sp>
          <p:nvSpPr>
            <p:cNvPr id="64" name="CardTitle221">
              <a:extLst>
                <a:ext uri="{FF2B5EF4-FFF2-40B4-BE49-F238E27FC236}">
                  <a16:creationId xmlns:a16="http://schemas.microsoft.com/office/drawing/2014/main" id="{C916848B-DC25-3AD5-E449-55FF68575004}"/>
                </a:ext>
              </a:extLst>
            </p:cNvPr>
            <p:cNvSpPr/>
            <p:nvPr/>
          </p:nvSpPr>
          <p:spPr>
            <a:xfrm>
              <a:off x="6360760" y="1810000"/>
              <a:ext cx="5072120" cy="300000"/>
            </a:xfrm>
            <a:prstGeom prst="rect">
              <a:avLst/>
            </a:prstGeom>
            <a:noFill/>
          </p:spPr>
          <p:txBody>
            <a:bodyPr wrap="square" lIns="0" tIns="0" rIns="0" bIns="0" anchor="t"/>
            <a:lstStyle/>
            <a:p>
              <a:pPr marL="0" indent="0">
                <a:buNone/>
              </a:pPr>
              <a:r>
                <a:rPr lang="fr-FR" sz="1500" dirty="0">
                  <a:solidFill>
                    <a:srgbClr val="1B2740"/>
                  </a:solidFill>
                  <a:latin typeface="Aptos" panose="020B0004020202020204" pitchFamily="34" charset="0"/>
                </a:rPr>
                <a:t>Basic Auth</a:t>
              </a:r>
            </a:p>
          </p:txBody>
        </p:sp>
        <p:sp>
          <p:nvSpPr>
            <p:cNvPr id="66" name="CardFacts222">
              <a:extLst>
                <a:ext uri="{FF2B5EF4-FFF2-40B4-BE49-F238E27FC236}">
                  <a16:creationId xmlns:a16="http://schemas.microsoft.com/office/drawing/2014/main" id="{3CB10FA0-C064-4DF1-A60F-6BA97C5BE23E}"/>
                </a:ext>
              </a:extLst>
            </p:cNvPr>
            <p:cNvSpPr/>
            <p:nvPr/>
          </p:nvSpPr>
          <p:spPr>
            <a:xfrm>
              <a:off x="6360760" y="2120000"/>
              <a:ext cx="5072120" cy="900000"/>
            </a:xfrm>
            <a:prstGeom prst="rect">
              <a:avLst/>
            </a:prstGeom>
            <a:noFill/>
          </p:spPr>
          <p:txBody>
            <a:bodyPr wrap="square" lIns="0" tIns="0" rIns="0" bIns="0" anchor="t"/>
            <a:lstStyle/>
            <a:p>
              <a:pPr marL="0" indent="0">
                <a:lnSpc>
                  <a:spcPct val="105000"/>
                </a:lnSpc>
                <a:buNone/>
              </a:pPr>
              <a:r>
                <a:rPr lang="fr-FR" sz="1000" dirty="0">
                  <a:solidFill>
                    <a:srgbClr val="E8452F"/>
                  </a:solidFill>
                  <a:latin typeface="Aptos" panose="020B0004020202020204" pitchFamily="34" charset="0"/>
                </a:rPr>
                <a:t>Principe : </a:t>
              </a:r>
              <a:r>
                <a:rPr lang="fr-FR" sz="1000" dirty="0">
                  <a:solidFill>
                    <a:srgbClr val="1B2740"/>
                  </a:solidFill>
                  <a:latin typeface="Aptos" panose="020B0004020202020204" pitchFamily="34" charset="0"/>
                </a:rPr>
                <a:t>Identifiant + mot de passe en Base64</a:t>
              </a:r>
            </a:p>
            <a:p>
              <a:pPr marL="0" indent="0">
                <a:lnSpc>
                  <a:spcPct val="105000"/>
                </a:lnSpc>
                <a:buNone/>
              </a:pPr>
              <a:r>
                <a:rPr lang="fr-FR" sz="1000" dirty="0">
                  <a:solidFill>
                    <a:srgbClr val="E8452F"/>
                  </a:solidFill>
                  <a:latin typeface="Aptos" panose="020B0004020202020204" pitchFamily="34" charset="0"/>
                </a:rPr>
                <a:t>Sécurité : </a:t>
              </a:r>
              <a:r>
                <a:rPr lang="fr-FR" sz="1000" dirty="0">
                  <a:solidFill>
                    <a:srgbClr val="1B2740"/>
                  </a:solidFill>
                  <a:latin typeface="Aptos" panose="020B0004020202020204" pitchFamily="34" charset="0"/>
                </a:rPr>
                <a:t>Faible sans HTTPS</a:t>
              </a:r>
            </a:p>
            <a:p>
              <a:pPr marL="0" indent="0">
                <a:lnSpc>
                  <a:spcPct val="105000"/>
                </a:lnSpc>
                <a:buNone/>
              </a:pPr>
              <a:r>
                <a:rPr lang="fr-FR" sz="1000" dirty="0">
                  <a:solidFill>
                    <a:srgbClr val="E8452F"/>
                  </a:solidFill>
                  <a:latin typeface="Aptos" panose="020B0004020202020204" pitchFamily="34" charset="0"/>
                </a:rPr>
                <a:t>Complexité : </a:t>
              </a:r>
              <a:r>
                <a:rPr lang="fr-FR" sz="1000" dirty="0">
                  <a:solidFill>
                    <a:srgbClr val="1B2740"/>
                  </a:solidFill>
                  <a:latin typeface="Aptos" panose="020B0004020202020204" pitchFamily="34" charset="0"/>
                </a:rPr>
                <a:t>Simple</a:t>
              </a:r>
            </a:p>
          </p:txBody>
        </p:sp>
        <p:sp>
          <p:nvSpPr>
            <p:cNvPr id="68" name="CodeBg223">
              <a:extLst>
                <a:ext uri="{FF2B5EF4-FFF2-40B4-BE49-F238E27FC236}">
                  <a16:creationId xmlns:a16="http://schemas.microsoft.com/office/drawing/2014/main" id="{A81DB6A6-18C5-FB21-A052-E0593BF666A6}"/>
                </a:ext>
              </a:extLst>
            </p:cNvPr>
            <p:cNvSpPr/>
            <p:nvPr/>
          </p:nvSpPr>
          <p:spPr>
            <a:xfrm>
              <a:off x="6360760" y="3000000"/>
              <a:ext cx="5072120" cy="900000"/>
            </a:xfrm>
            <a:prstGeom prst="roundRect">
              <a:avLst>
                <a:gd name="adj" fmla="val 6000"/>
              </a:avLst>
            </a:prstGeom>
            <a:solidFill>
              <a:srgbClr val="1B2740"/>
            </a:solidFill>
            <a:ln>
              <a:noFill/>
            </a:ln>
          </p:spPr>
          <p:txBody>
            <a:bodyPr/>
            <a:lstStyle/>
            <a:p>
              <a:endParaRPr lang="fr-FR"/>
            </a:p>
          </p:txBody>
        </p:sp>
        <p:sp>
          <p:nvSpPr>
            <p:cNvPr id="70" name="CodeTxt224">
              <a:extLst>
                <a:ext uri="{FF2B5EF4-FFF2-40B4-BE49-F238E27FC236}">
                  <a16:creationId xmlns:a16="http://schemas.microsoft.com/office/drawing/2014/main" id="{5BB1501E-2495-1A9F-3D62-83BB3E82C86E}"/>
                </a:ext>
              </a:extLst>
            </p:cNvPr>
            <p:cNvSpPr/>
            <p:nvPr/>
          </p:nvSpPr>
          <p:spPr>
            <a:xfrm>
              <a:off x="6440760" y="3080000"/>
              <a:ext cx="4912120" cy="900000"/>
            </a:xfrm>
            <a:prstGeom prst="rect">
              <a:avLst/>
            </a:prstGeom>
            <a:noFill/>
          </p:spPr>
          <p:txBody>
            <a:bodyPr wrap="square" lIns="0" tIns="0" rIns="0" bIns="0" anchor="ctr"/>
            <a:lstStyle/>
            <a:p>
              <a:pPr marL="0" indent="0">
                <a:lnSpc>
                  <a:spcPct val="115000"/>
                </a:lnSpc>
                <a:buNone/>
              </a:pPr>
              <a:r>
                <a:rPr lang="fr-FR" sz="950" dirty="0">
                  <a:solidFill>
                    <a:srgbClr val="FFFFFF"/>
                  </a:solidFill>
                  <a:latin typeface="Consolas" panose="020B0609020204030204" pitchFamily="49" charset="0"/>
                </a:rPr>
                <a:t>requests.get(url, auth=("user", "pass"))</a:t>
              </a:r>
            </a:p>
            <a:p>
              <a:pPr marL="0" indent="0">
                <a:lnSpc>
                  <a:spcPct val="115000"/>
                </a:lnSpc>
                <a:buNone/>
              </a:pPr>
              <a:r>
                <a:rPr lang="fr-FR" sz="950" dirty="0">
                  <a:solidFill>
                    <a:srgbClr val="FFFFFF"/>
                  </a:solidFill>
                  <a:latin typeface="Consolas" panose="020B0609020204030204" pitchFamily="49" charset="0"/>
                </a:rPr>
                <a:t>curl -u user:pass &lt;url&gt;</a:t>
              </a:r>
            </a:p>
          </p:txBody>
        </p:sp>
        <p:sp>
          <p:nvSpPr>
            <p:cNvPr id="72" name="CardBg240">
              <a:extLst>
                <a:ext uri="{FF2B5EF4-FFF2-40B4-BE49-F238E27FC236}">
                  <a16:creationId xmlns:a16="http://schemas.microsoft.com/office/drawing/2014/main" id="{1BB8BE1A-5333-F8E0-A05C-C839E50C250E}"/>
                </a:ext>
              </a:extLst>
            </p:cNvPr>
            <p:cNvSpPr/>
            <p:nvPr/>
          </p:nvSpPr>
          <p:spPr>
            <a:xfrm>
              <a:off x="548640" y="4140000"/>
              <a:ext cx="5432120" cy="2320000"/>
            </a:xfrm>
            <a:prstGeom prst="roundRect">
              <a:avLst>
                <a:gd name="adj" fmla="val 5000"/>
              </a:avLst>
            </a:prstGeom>
            <a:solidFill>
              <a:srgbClr val="F2F1EF"/>
            </a:solidFill>
            <a:ln>
              <a:solidFill>
                <a:srgbClr val="1B2740"/>
              </a:solidFill>
            </a:ln>
          </p:spPr>
          <p:txBody>
            <a:bodyPr/>
            <a:lstStyle/>
            <a:p>
              <a:endParaRPr lang="fr-FR"/>
            </a:p>
          </p:txBody>
        </p:sp>
        <p:sp>
          <p:nvSpPr>
            <p:cNvPr id="74" name="CardTitle241">
              <a:extLst>
                <a:ext uri="{FF2B5EF4-FFF2-40B4-BE49-F238E27FC236}">
                  <a16:creationId xmlns:a16="http://schemas.microsoft.com/office/drawing/2014/main" id="{DD47432B-D987-8245-6E8A-DC7E2E7DC9CD}"/>
                </a:ext>
              </a:extLst>
            </p:cNvPr>
            <p:cNvSpPr/>
            <p:nvPr/>
          </p:nvSpPr>
          <p:spPr>
            <a:xfrm>
              <a:off x="728640" y="4250000"/>
              <a:ext cx="5072120" cy="300000"/>
            </a:xfrm>
            <a:prstGeom prst="rect">
              <a:avLst/>
            </a:prstGeom>
            <a:noFill/>
          </p:spPr>
          <p:txBody>
            <a:bodyPr wrap="square" lIns="0" tIns="0" rIns="0" bIns="0" anchor="t"/>
            <a:lstStyle/>
            <a:p>
              <a:pPr marL="0" indent="0">
                <a:buNone/>
              </a:pPr>
              <a:r>
                <a:rPr lang="fr-FR" sz="1500" dirty="0">
                  <a:solidFill>
                    <a:srgbClr val="1B2740"/>
                  </a:solidFill>
                  <a:latin typeface="Aptos" panose="020B0004020202020204" pitchFamily="34" charset="0"/>
                </a:rPr>
                <a:t>Bearer Token</a:t>
              </a:r>
            </a:p>
          </p:txBody>
        </p:sp>
        <p:sp>
          <p:nvSpPr>
            <p:cNvPr id="76" name="CardFacts242">
              <a:extLst>
                <a:ext uri="{FF2B5EF4-FFF2-40B4-BE49-F238E27FC236}">
                  <a16:creationId xmlns:a16="http://schemas.microsoft.com/office/drawing/2014/main" id="{CB5A0B11-7712-37F8-CE98-EA20FF0A3A3E}"/>
                </a:ext>
              </a:extLst>
            </p:cNvPr>
            <p:cNvSpPr/>
            <p:nvPr/>
          </p:nvSpPr>
          <p:spPr>
            <a:xfrm>
              <a:off x="728640" y="4560000"/>
              <a:ext cx="5072120" cy="900000"/>
            </a:xfrm>
            <a:prstGeom prst="rect">
              <a:avLst/>
            </a:prstGeom>
            <a:noFill/>
          </p:spPr>
          <p:txBody>
            <a:bodyPr wrap="square" lIns="0" tIns="0" rIns="0" bIns="0" anchor="t"/>
            <a:lstStyle/>
            <a:p>
              <a:pPr marL="0" indent="0">
                <a:lnSpc>
                  <a:spcPct val="105000"/>
                </a:lnSpc>
                <a:buNone/>
              </a:pPr>
              <a:r>
                <a:rPr lang="fr-FR" sz="1000" dirty="0">
                  <a:solidFill>
                    <a:srgbClr val="E8452F"/>
                  </a:solidFill>
                  <a:latin typeface="Aptos" panose="020B0004020202020204" pitchFamily="34" charset="0"/>
                </a:rPr>
                <a:t>Principe : </a:t>
              </a:r>
              <a:r>
                <a:rPr lang="fr-FR" sz="1000" dirty="0">
                  <a:solidFill>
                    <a:srgbClr val="1B2740"/>
                  </a:solidFill>
                  <a:latin typeface="Aptos" panose="020B0004020202020204" pitchFamily="34" charset="0"/>
                </a:rPr>
                <a:t>Jeton unique dans l’en-tête Authorization</a:t>
              </a:r>
            </a:p>
            <a:p>
              <a:pPr marL="0" indent="0">
                <a:lnSpc>
                  <a:spcPct val="105000"/>
                </a:lnSpc>
                <a:buNone/>
              </a:pPr>
              <a:r>
                <a:rPr lang="fr-FR" sz="1000" dirty="0">
                  <a:solidFill>
                    <a:srgbClr val="E8452F"/>
                  </a:solidFill>
                  <a:latin typeface="Aptos" panose="020B0004020202020204" pitchFamily="34" charset="0"/>
                </a:rPr>
                <a:t>Sécurité : </a:t>
              </a:r>
              <a:r>
                <a:rPr lang="fr-FR" sz="1000" dirty="0">
                  <a:solidFill>
                    <a:srgbClr val="1B2740"/>
                  </a:solidFill>
                  <a:latin typeface="Aptos" panose="020B0004020202020204" pitchFamily="34" charset="0"/>
                </a:rPr>
                <a:t>Bonne avec HTTPS + rotation</a:t>
              </a:r>
            </a:p>
            <a:p>
              <a:pPr marL="0" indent="0">
                <a:lnSpc>
                  <a:spcPct val="105000"/>
                </a:lnSpc>
                <a:buNone/>
              </a:pPr>
              <a:r>
                <a:rPr lang="fr-FR" sz="1000" dirty="0">
                  <a:solidFill>
                    <a:srgbClr val="E8452F"/>
                  </a:solidFill>
                  <a:latin typeface="Aptos" panose="020B0004020202020204" pitchFamily="34" charset="0"/>
                </a:rPr>
                <a:t>Complexité : </a:t>
              </a:r>
              <a:r>
                <a:rPr lang="fr-FR" sz="1000" dirty="0">
                  <a:solidFill>
                    <a:srgbClr val="1B2740"/>
                  </a:solidFill>
                  <a:latin typeface="Aptos" panose="020B0004020202020204" pitchFamily="34" charset="0"/>
                </a:rPr>
                <a:t>Simple à moyenne</a:t>
              </a:r>
            </a:p>
          </p:txBody>
        </p:sp>
        <p:sp>
          <p:nvSpPr>
            <p:cNvPr id="78" name="CodeBg243">
              <a:extLst>
                <a:ext uri="{FF2B5EF4-FFF2-40B4-BE49-F238E27FC236}">
                  <a16:creationId xmlns:a16="http://schemas.microsoft.com/office/drawing/2014/main" id="{A3F281A8-C039-E63B-30E9-3C0F71ECC21C}"/>
                </a:ext>
              </a:extLst>
            </p:cNvPr>
            <p:cNvSpPr/>
            <p:nvPr/>
          </p:nvSpPr>
          <p:spPr>
            <a:xfrm>
              <a:off x="728640" y="5440000"/>
              <a:ext cx="5072120" cy="900000"/>
            </a:xfrm>
            <a:prstGeom prst="roundRect">
              <a:avLst>
                <a:gd name="adj" fmla="val 6000"/>
              </a:avLst>
            </a:prstGeom>
            <a:solidFill>
              <a:srgbClr val="1B2740"/>
            </a:solidFill>
            <a:ln>
              <a:noFill/>
            </a:ln>
          </p:spPr>
          <p:txBody>
            <a:bodyPr/>
            <a:lstStyle/>
            <a:p>
              <a:endParaRPr lang="fr-FR"/>
            </a:p>
          </p:txBody>
        </p:sp>
        <p:sp>
          <p:nvSpPr>
            <p:cNvPr id="80" name="CodeTxt244">
              <a:extLst>
                <a:ext uri="{FF2B5EF4-FFF2-40B4-BE49-F238E27FC236}">
                  <a16:creationId xmlns:a16="http://schemas.microsoft.com/office/drawing/2014/main" id="{46EE9A75-F5E0-B2DB-38CF-15A07B390F42}"/>
                </a:ext>
              </a:extLst>
            </p:cNvPr>
            <p:cNvSpPr/>
            <p:nvPr/>
          </p:nvSpPr>
          <p:spPr>
            <a:xfrm>
              <a:off x="808640" y="5520000"/>
              <a:ext cx="4912120" cy="900000"/>
            </a:xfrm>
            <a:prstGeom prst="rect">
              <a:avLst/>
            </a:prstGeom>
            <a:noFill/>
          </p:spPr>
          <p:txBody>
            <a:bodyPr wrap="square" lIns="0" tIns="0" rIns="0" bIns="0" anchor="ctr"/>
            <a:lstStyle/>
            <a:p>
              <a:pPr marL="0" indent="0">
                <a:lnSpc>
                  <a:spcPct val="115000"/>
                </a:lnSpc>
                <a:buNone/>
              </a:pPr>
              <a:r>
                <a:rPr lang="fr-FR" sz="950" dirty="0">
                  <a:solidFill>
                    <a:srgbClr val="FFFFFF"/>
                  </a:solidFill>
                  <a:latin typeface="Consolas" panose="020B0609020204030204" pitchFamily="49" charset="0"/>
                </a:rPr>
                <a:t>headers = {"Authorization": f"Bearer {token}"}</a:t>
              </a:r>
            </a:p>
            <a:p>
              <a:pPr marL="0" indent="0">
                <a:lnSpc>
                  <a:spcPct val="115000"/>
                </a:lnSpc>
                <a:buNone/>
              </a:pPr>
              <a:r>
                <a:rPr lang="fr-FR" sz="950" dirty="0">
                  <a:solidFill>
                    <a:srgbClr val="FFFFFF"/>
                  </a:solidFill>
                  <a:latin typeface="Consolas" panose="020B0609020204030204" pitchFamily="49" charset="0"/>
                </a:rPr>
                <a:t>curl -H "Authorization: Bearer &lt;token&gt;" &lt;url&gt;</a:t>
              </a:r>
            </a:p>
          </p:txBody>
        </p:sp>
        <p:sp>
          <p:nvSpPr>
            <p:cNvPr id="82" name="CardBg260">
              <a:extLst>
                <a:ext uri="{FF2B5EF4-FFF2-40B4-BE49-F238E27FC236}">
                  <a16:creationId xmlns:a16="http://schemas.microsoft.com/office/drawing/2014/main" id="{847BE78B-267E-FE80-9730-CEF4B0493FA5}"/>
                </a:ext>
              </a:extLst>
            </p:cNvPr>
            <p:cNvSpPr/>
            <p:nvPr/>
          </p:nvSpPr>
          <p:spPr>
            <a:xfrm>
              <a:off x="6180760" y="4140000"/>
              <a:ext cx="5432120" cy="2320000"/>
            </a:xfrm>
            <a:prstGeom prst="roundRect">
              <a:avLst>
                <a:gd name="adj" fmla="val 5000"/>
              </a:avLst>
            </a:prstGeom>
            <a:solidFill>
              <a:srgbClr val="F2F1EF"/>
            </a:solidFill>
            <a:ln>
              <a:solidFill>
                <a:srgbClr val="1B2740"/>
              </a:solidFill>
            </a:ln>
          </p:spPr>
          <p:txBody>
            <a:bodyPr/>
            <a:lstStyle/>
            <a:p>
              <a:endParaRPr lang="fr-FR"/>
            </a:p>
          </p:txBody>
        </p:sp>
        <p:sp>
          <p:nvSpPr>
            <p:cNvPr id="84" name="CardTitle261">
              <a:extLst>
                <a:ext uri="{FF2B5EF4-FFF2-40B4-BE49-F238E27FC236}">
                  <a16:creationId xmlns:a16="http://schemas.microsoft.com/office/drawing/2014/main" id="{B234F294-88ED-0BFA-FFF6-811BA1270160}"/>
                </a:ext>
              </a:extLst>
            </p:cNvPr>
            <p:cNvSpPr/>
            <p:nvPr/>
          </p:nvSpPr>
          <p:spPr>
            <a:xfrm>
              <a:off x="6360760" y="4250000"/>
              <a:ext cx="5072120" cy="300000"/>
            </a:xfrm>
            <a:prstGeom prst="rect">
              <a:avLst/>
            </a:prstGeom>
            <a:noFill/>
          </p:spPr>
          <p:txBody>
            <a:bodyPr wrap="square" lIns="0" tIns="0" rIns="0" bIns="0" anchor="t"/>
            <a:lstStyle/>
            <a:p>
              <a:pPr marL="0" indent="0">
                <a:buNone/>
              </a:pPr>
              <a:r>
                <a:rPr lang="fr-FR" sz="1500" dirty="0">
                  <a:solidFill>
                    <a:srgbClr val="1B2740"/>
                  </a:solidFill>
                  <a:latin typeface="Aptos" panose="020B0004020202020204" pitchFamily="34" charset="0"/>
                </a:rPr>
                <a:t>OAuth2 / JWT</a:t>
              </a:r>
            </a:p>
          </p:txBody>
        </p:sp>
        <p:sp>
          <p:nvSpPr>
            <p:cNvPr id="86" name="CardFacts262">
              <a:extLst>
                <a:ext uri="{FF2B5EF4-FFF2-40B4-BE49-F238E27FC236}">
                  <a16:creationId xmlns:a16="http://schemas.microsoft.com/office/drawing/2014/main" id="{60B49E04-20C8-87FB-E72E-AF57372C2CF1}"/>
                </a:ext>
              </a:extLst>
            </p:cNvPr>
            <p:cNvSpPr/>
            <p:nvPr/>
          </p:nvSpPr>
          <p:spPr>
            <a:xfrm>
              <a:off x="6360760" y="4560000"/>
              <a:ext cx="5072120" cy="900000"/>
            </a:xfrm>
            <a:prstGeom prst="rect">
              <a:avLst/>
            </a:prstGeom>
            <a:noFill/>
          </p:spPr>
          <p:txBody>
            <a:bodyPr wrap="square" lIns="0" tIns="0" rIns="0" bIns="0" anchor="t"/>
            <a:lstStyle/>
            <a:p>
              <a:pPr marL="0" indent="0">
                <a:lnSpc>
                  <a:spcPct val="105000"/>
                </a:lnSpc>
                <a:buNone/>
              </a:pPr>
              <a:r>
                <a:rPr lang="fr-FR" sz="1000" dirty="0">
                  <a:solidFill>
                    <a:srgbClr val="E8452F"/>
                  </a:solidFill>
                  <a:latin typeface="Aptos" panose="020B0004020202020204" pitchFamily="34" charset="0"/>
                </a:rPr>
                <a:t>Principe : </a:t>
              </a:r>
              <a:r>
                <a:rPr lang="fr-FR" sz="1000" dirty="0">
                  <a:solidFill>
                    <a:srgbClr val="1B2740"/>
                  </a:solidFill>
                  <a:latin typeface="Aptos" panose="020B0004020202020204" pitchFamily="34" charset="0"/>
                </a:rPr>
                <a:t>Délégation d’accès, jeton signé vérifiable</a:t>
              </a:r>
            </a:p>
            <a:p>
              <a:pPr marL="0" indent="0">
                <a:lnSpc>
                  <a:spcPct val="105000"/>
                </a:lnSpc>
                <a:buNone/>
              </a:pPr>
              <a:r>
                <a:rPr lang="fr-FR" sz="1000" dirty="0">
                  <a:solidFill>
                    <a:srgbClr val="E8452F"/>
                  </a:solidFill>
                  <a:latin typeface="Aptos" panose="020B0004020202020204" pitchFamily="34" charset="0"/>
                </a:rPr>
                <a:t>Sécurité : </a:t>
              </a:r>
              <a:r>
                <a:rPr lang="fr-FR" sz="1000" dirty="0">
                  <a:solidFill>
                    <a:srgbClr val="1B2740"/>
                  </a:solidFill>
                  <a:latin typeface="Aptos" panose="020B0004020202020204" pitchFamily="34" charset="0"/>
                </a:rPr>
                <a:t>Élevée : expiration, scopes, révocation</a:t>
              </a:r>
            </a:p>
            <a:p>
              <a:pPr marL="0" indent="0">
                <a:lnSpc>
                  <a:spcPct val="105000"/>
                </a:lnSpc>
                <a:buNone/>
              </a:pPr>
              <a:r>
                <a:rPr lang="fr-FR" sz="1000" dirty="0">
                  <a:solidFill>
                    <a:srgbClr val="E8452F"/>
                  </a:solidFill>
                  <a:latin typeface="Aptos" panose="020B0004020202020204" pitchFamily="34" charset="0"/>
                </a:rPr>
                <a:t>Complexité : </a:t>
              </a:r>
              <a:r>
                <a:rPr lang="fr-FR" sz="1000" dirty="0">
                  <a:solidFill>
                    <a:srgbClr val="1B2740"/>
                  </a:solidFill>
                  <a:latin typeface="Aptos" panose="020B0004020202020204" pitchFamily="34" charset="0"/>
                </a:rPr>
                <a:t>Élevée (serveur dédié)</a:t>
              </a:r>
            </a:p>
          </p:txBody>
        </p:sp>
        <p:sp>
          <p:nvSpPr>
            <p:cNvPr id="88" name="CodeBg263">
              <a:extLst>
                <a:ext uri="{FF2B5EF4-FFF2-40B4-BE49-F238E27FC236}">
                  <a16:creationId xmlns:a16="http://schemas.microsoft.com/office/drawing/2014/main" id="{D8B9ED66-3CDC-0DF3-D815-8026FDF934A7}"/>
                </a:ext>
              </a:extLst>
            </p:cNvPr>
            <p:cNvSpPr/>
            <p:nvPr/>
          </p:nvSpPr>
          <p:spPr>
            <a:xfrm>
              <a:off x="6360760" y="5440000"/>
              <a:ext cx="5072120" cy="900000"/>
            </a:xfrm>
            <a:prstGeom prst="roundRect">
              <a:avLst>
                <a:gd name="adj" fmla="val 6000"/>
              </a:avLst>
            </a:prstGeom>
            <a:solidFill>
              <a:srgbClr val="1B2740"/>
            </a:solidFill>
            <a:ln>
              <a:noFill/>
            </a:ln>
          </p:spPr>
          <p:txBody>
            <a:bodyPr/>
            <a:lstStyle/>
            <a:p>
              <a:endParaRPr lang="fr-FR"/>
            </a:p>
          </p:txBody>
        </p:sp>
        <p:sp>
          <p:nvSpPr>
            <p:cNvPr id="90" name="CodeTxt264">
              <a:extLst>
                <a:ext uri="{FF2B5EF4-FFF2-40B4-BE49-F238E27FC236}">
                  <a16:creationId xmlns:a16="http://schemas.microsoft.com/office/drawing/2014/main" id="{EDEB6DD4-825D-3446-28A1-AF67ADAF1411}"/>
                </a:ext>
              </a:extLst>
            </p:cNvPr>
            <p:cNvSpPr/>
            <p:nvPr/>
          </p:nvSpPr>
          <p:spPr>
            <a:xfrm>
              <a:off x="6440760" y="5520000"/>
              <a:ext cx="4912120" cy="900000"/>
            </a:xfrm>
            <a:prstGeom prst="rect">
              <a:avLst/>
            </a:prstGeom>
            <a:noFill/>
          </p:spPr>
          <p:txBody>
            <a:bodyPr wrap="square" lIns="0" tIns="0" rIns="0" bIns="0" anchor="ctr"/>
            <a:lstStyle/>
            <a:p>
              <a:pPr marL="0" indent="0">
                <a:lnSpc>
                  <a:spcPct val="115000"/>
                </a:lnSpc>
                <a:buNone/>
              </a:pPr>
              <a:r>
                <a:rPr lang="fr-FR" sz="950" dirty="0">
                  <a:solidFill>
                    <a:srgbClr val="FFFFFF"/>
                  </a:solidFill>
                  <a:latin typeface="Consolas" panose="020B0609020204030204" pitchFamily="49" charset="0"/>
                </a:rPr>
                <a:t>token = oauth.fetch_token(...)</a:t>
              </a:r>
            </a:p>
            <a:p>
              <a:pPr marL="0" indent="0">
                <a:lnSpc>
                  <a:spcPct val="115000"/>
                </a:lnSpc>
                <a:buNone/>
              </a:pPr>
              <a:r>
                <a:rPr lang="fr-FR" sz="950" dirty="0">
                  <a:solidFill>
                    <a:srgbClr val="FFFFFF"/>
                  </a:solidFill>
                  <a:latin typeface="Consolas" panose="020B0609020204030204" pitchFamily="49" charset="0"/>
                </a:rPr>
                <a:t>headers = {"Authorization":</a:t>
              </a:r>
            </a:p>
            <a:p>
              <a:pPr marL="0" indent="0">
                <a:lnSpc>
                  <a:spcPct val="115000"/>
                </a:lnSpc>
                <a:buNone/>
              </a:pPr>
              <a:r>
                <a:rPr lang="fr-FR" sz="950" dirty="0">
                  <a:solidFill>
                    <a:srgbClr val="FFFFFF"/>
                  </a:solidFill>
                  <a:latin typeface="Consolas" panose="020B0609020204030204" pitchFamily="49" charset="0"/>
                </a:rPr>
                <a:t>    f"Bearer {token}"}</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10</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4.2</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Pourquoi Bearer Token pour BookWorld (Démo Postman)</a:t>
            </a:r>
            <a:endParaRPr lang="en-US" sz="2600" dirty="0">
              <a:latin typeface="Aptos" panose="020B0004020202020204" pitchFamily="34" charset="0"/>
            </a:endParaRPr>
          </a:p>
        </p:txBody>
      </p:sp>
      <p:sp>
        <p:nvSpPr>
          <p:cNvPr id="6" name="Text 4"/>
          <p:cNvSpPr/>
          <p:nvPr/>
        </p:nvSpPr>
        <p:spPr>
          <a:xfrm>
            <a:off x="548640" y="1600200"/>
            <a:ext cx="11064240" cy="822960"/>
          </a:xfrm>
          <a:prstGeom prst="rect">
            <a:avLst/>
          </a:prstGeom>
          <a:noFill/>
          <a:ln/>
        </p:spPr>
        <p:txBody>
          <a:bodyPr wrap="square" lIns="0" tIns="0" rIns="0" bIns="0" rtlCol="0" anchor="ctr"/>
          <a:lstStyle/>
          <a:p>
            <a:pPr marL="0" indent="0">
              <a:lnSpc>
                <a:spcPct val="130000"/>
              </a:lnSpc>
              <a:buNone/>
            </a:pPr>
            <a:r>
              <a:rPr lang="en-US" sz="1500" dirty="0">
                <a:solidFill>
                  <a:srgbClr val="1B2740"/>
                </a:solidFill>
                <a:latin typeface="Aptos" panose="020B0004020202020204" pitchFamily="34" charset="0"/>
                <a:ea typeface="Calibri" pitchFamily="34" charset="-122"/>
                <a:cs typeface="Calibri" pitchFamily="34" charset="-120"/>
              </a:rPr>
              <a:t>Sur les 4 méthodes comparées, Bearer Token offre le meilleur compromis pour ce projet : </a:t>
            </a:r>
          </a:p>
          <a:p>
            <a:pPr marL="0" indent="0">
              <a:lnSpc>
                <a:spcPct val="130000"/>
              </a:lnSpc>
              <a:buNone/>
            </a:pPr>
            <a:r>
              <a:rPr lang="en-US" sz="1500" dirty="0">
                <a:solidFill>
                  <a:srgbClr val="1B2740"/>
                </a:solidFill>
                <a:latin typeface="Aptos" panose="020B0004020202020204" pitchFamily="34" charset="0"/>
                <a:ea typeface="Calibri" pitchFamily="34" charset="-122"/>
                <a:cs typeface="Calibri" pitchFamily="34" charset="-120"/>
              </a:rPr>
              <a:t>pas d’infrastructure OAuth2 à déployer, mais un jeton non trivial à deviner, transmis de façon standard.</a:t>
            </a:r>
            <a:endParaRPr lang="en-US" sz="1500" dirty="0">
              <a:latin typeface="Aptos" panose="020B0004020202020204" pitchFamily="34" charset="0"/>
            </a:endParaRPr>
          </a:p>
        </p:txBody>
      </p:sp>
      <p:sp>
        <p:nvSpPr>
          <p:cNvPr id="7" name="Shape 5"/>
          <p:cNvSpPr/>
          <p:nvPr/>
        </p:nvSpPr>
        <p:spPr>
          <a:xfrm>
            <a:off x="548640" y="2606040"/>
            <a:ext cx="5349240" cy="2103120"/>
          </a:xfrm>
          <a:prstGeom prst="roundRect">
            <a:avLst>
              <a:gd name="adj" fmla="val 4348"/>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8" name="Text 6"/>
          <p:cNvSpPr/>
          <p:nvPr/>
        </p:nvSpPr>
        <p:spPr>
          <a:xfrm>
            <a:off x="822960" y="2834640"/>
            <a:ext cx="4800600" cy="320040"/>
          </a:xfrm>
          <a:prstGeom prst="rect">
            <a:avLst/>
          </a:prstGeom>
          <a:noFill/>
          <a:ln/>
        </p:spPr>
        <p:txBody>
          <a:bodyPr wrap="square" lIns="0" tIns="0" rIns="0" bIns="0" rtlCol="0" anchor="ctr"/>
          <a:lstStyle/>
          <a:p>
            <a:pPr marL="0" indent="0">
              <a:buNone/>
            </a:pPr>
            <a:r>
              <a:rPr lang="en-US" sz="1500" b="1" cap="small" dirty="0">
                <a:solidFill>
                  <a:srgbClr val="E8452F"/>
                </a:solidFill>
                <a:latin typeface="Aptos" panose="020B0004020202020204" pitchFamily="34" charset="0"/>
                <a:ea typeface="Calibri" pitchFamily="34" charset="-122"/>
                <a:cs typeface="Calibri" pitchFamily="34" charset="-120"/>
              </a:rPr>
              <a:t>Stockage du secret</a:t>
            </a:r>
            <a:endParaRPr lang="en-US" sz="1500" cap="small" dirty="0">
              <a:latin typeface="Aptos" panose="020B0004020202020204" pitchFamily="34" charset="0"/>
            </a:endParaRPr>
          </a:p>
        </p:txBody>
      </p:sp>
      <p:sp>
        <p:nvSpPr>
          <p:cNvPr id="9" name="Text 7"/>
          <p:cNvSpPr/>
          <p:nvPr/>
        </p:nvSpPr>
        <p:spPr>
          <a:xfrm>
            <a:off x="822960" y="3246120"/>
            <a:ext cx="4800600" cy="1280160"/>
          </a:xfrm>
          <a:prstGeom prst="rect">
            <a:avLst/>
          </a:prstGeom>
          <a:noFill/>
          <a:ln/>
        </p:spPr>
        <p:txBody>
          <a:bodyPr wrap="square" lIns="0" tIns="0" rIns="0" bIns="0" rtlCol="0" anchor="ctr"/>
          <a:lstStyle/>
          <a:p>
            <a:pPr marL="0" indent="0">
              <a:lnSpc>
                <a:spcPct val="130000"/>
              </a:lnSpc>
              <a:buNone/>
            </a:pPr>
            <a:r>
              <a:rPr lang="en-US" sz="1200" dirty="0">
                <a:solidFill>
                  <a:srgbClr val="1B2740"/>
                </a:solidFill>
                <a:latin typeface="Aptos" panose="020B0004020202020204" pitchFamily="34" charset="0"/>
                <a:ea typeface="Calibri" pitchFamily="34" charset="-122"/>
                <a:cs typeface="Calibri" pitchFamily="34" charset="-120"/>
              </a:rPr>
              <a:t>BOOKWORLD_API_TOKEN dans un fichier .env local, jamais commité. .env.example sert de modèle sans exposer de vraie valeur.</a:t>
            </a:r>
            <a:endParaRPr lang="en-US" sz="1200" dirty="0">
              <a:latin typeface="Aptos" panose="020B0004020202020204" pitchFamily="34" charset="0"/>
            </a:endParaRPr>
          </a:p>
        </p:txBody>
      </p:sp>
      <p:sp>
        <p:nvSpPr>
          <p:cNvPr id="10" name="Shape 8"/>
          <p:cNvSpPr/>
          <p:nvPr/>
        </p:nvSpPr>
        <p:spPr>
          <a:xfrm>
            <a:off x="6263640" y="2606040"/>
            <a:ext cx="5349240" cy="2103120"/>
          </a:xfrm>
          <a:prstGeom prst="roundRect">
            <a:avLst>
              <a:gd name="adj" fmla="val 4348"/>
            </a:avLst>
          </a:prstGeom>
          <a:solidFill>
            <a:srgbClr val="1B2740"/>
          </a:solidFill>
          <a:ln/>
        </p:spPr>
        <p:txBody>
          <a:bodyPr/>
          <a:lstStyle/>
          <a:p>
            <a:endParaRPr lang="fr-FR">
              <a:latin typeface="Aptos" panose="020B0004020202020204" pitchFamily="34" charset="0"/>
            </a:endParaRPr>
          </a:p>
        </p:txBody>
      </p:sp>
      <p:sp>
        <p:nvSpPr>
          <p:cNvPr id="11" name="Text 9"/>
          <p:cNvSpPr/>
          <p:nvPr/>
        </p:nvSpPr>
        <p:spPr>
          <a:xfrm>
            <a:off x="6537960" y="2834640"/>
            <a:ext cx="4800600" cy="320040"/>
          </a:xfrm>
          <a:prstGeom prst="rect">
            <a:avLst/>
          </a:prstGeom>
          <a:noFill/>
          <a:ln/>
        </p:spPr>
        <p:txBody>
          <a:bodyPr wrap="square" lIns="0" tIns="0" rIns="0" bIns="0" rtlCol="0" anchor="ctr"/>
          <a:lstStyle/>
          <a:p>
            <a:pPr marL="0" indent="0">
              <a:buNone/>
            </a:pPr>
            <a:r>
              <a:rPr lang="en-US" sz="1500" b="1" cap="small" dirty="0">
                <a:solidFill>
                  <a:srgbClr val="E8452F"/>
                </a:solidFill>
                <a:latin typeface="Aptos" panose="020B0004020202020204" pitchFamily="34" charset="0"/>
                <a:ea typeface="Calibri" pitchFamily="34" charset="-122"/>
                <a:cs typeface="Calibri" pitchFamily="34" charset="-120"/>
              </a:rPr>
              <a:t>Pourquoi l’en-tête, pas l’URL</a:t>
            </a:r>
            <a:endParaRPr lang="en-US" sz="1500" cap="small" dirty="0">
              <a:latin typeface="Aptos" panose="020B0004020202020204" pitchFamily="34" charset="0"/>
            </a:endParaRPr>
          </a:p>
        </p:txBody>
      </p:sp>
      <p:sp>
        <p:nvSpPr>
          <p:cNvPr id="12" name="Text 10"/>
          <p:cNvSpPr/>
          <p:nvPr/>
        </p:nvSpPr>
        <p:spPr>
          <a:xfrm>
            <a:off x="6537960" y="3246120"/>
            <a:ext cx="4800600" cy="128016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Aptos" panose="020B0004020202020204" pitchFamily="34" charset="0"/>
                <a:ea typeface="Calibri" pitchFamily="34" charset="-122"/>
                <a:cs typeface="Calibri" pitchFamily="34" charset="-120"/>
              </a:rPr>
              <a:t>Le token ne transite jamais dans l’URL : absent des journaux serveur et de l’historique navigateur. Une première version acceptait ?token=... — retirée.</a:t>
            </a:r>
            <a:endParaRPr lang="en-US" sz="1300" dirty="0">
              <a:latin typeface="Aptos" panose="020B0004020202020204" pitchFamily="34" charset="0"/>
            </a:endParaRPr>
          </a:p>
        </p:txBody>
      </p:sp>
      <p:sp>
        <p:nvSpPr>
          <p:cNvPr id="13" name="Shape 11"/>
          <p:cNvSpPr/>
          <p:nvPr/>
        </p:nvSpPr>
        <p:spPr>
          <a:xfrm>
            <a:off x="548640" y="4937760"/>
            <a:ext cx="11064240" cy="1005840"/>
          </a:xfrm>
          <a:prstGeom prst="roundRect">
            <a:avLst>
              <a:gd name="adj" fmla="val 7273"/>
            </a:avLst>
          </a:prstGeom>
          <a:solidFill>
            <a:srgbClr val="2E3E5C"/>
          </a:solidFill>
          <a:ln/>
        </p:spPr>
        <p:txBody>
          <a:bodyPr/>
          <a:lstStyle/>
          <a:p>
            <a:endParaRPr lang="fr-FR">
              <a:latin typeface="Aptos" panose="020B0004020202020204" pitchFamily="34" charset="0"/>
            </a:endParaRPr>
          </a:p>
        </p:txBody>
      </p:sp>
      <p:sp>
        <p:nvSpPr>
          <p:cNvPr id="14" name="Text 12"/>
          <p:cNvSpPr/>
          <p:nvPr/>
        </p:nvSpPr>
        <p:spPr>
          <a:xfrm>
            <a:off x="822960" y="4937760"/>
            <a:ext cx="10515600" cy="1005840"/>
          </a:xfrm>
          <a:prstGeom prst="rect">
            <a:avLst/>
          </a:prstGeom>
          <a:noFill/>
          <a:ln/>
        </p:spPr>
        <p:txBody>
          <a:bodyPr wrap="square" lIns="0" tIns="0" rIns="0" bIns="0" rtlCol="0" anchor="ctr"/>
          <a:lstStyle/>
          <a:p>
            <a:pPr marL="0" indent="0">
              <a:lnSpc>
                <a:spcPct val="130000"/>
              </a:lnSpc>
              <a:buNone/>
            </a:pPr>
            <a:r>
              <a:rPr lang="en-US" sz="1300" dirty="0">
                <a:solidFill>
                  <a:srgbClr val="E8452F"/>
                </a:solidFill>
                <a:latin typeface="Aptos" panose="020B0004020202020204" pitchFamily="34" charset="0"/>
                <a:ea typeface="Consolas" pitchFamily="34" charset="-122"/>
                <a:cs typeface="Consolas" pitchFamily="34" charset="-120"/>
              </a:rPr>
              <a:t>curl -H "Authorization: Bearer &lt;token&gt;" http://127.0.0.1:5000/sales-by-country</a:t>
            </a:r>
            <a:endParaRPr lang="en-US" sz="1300" dirty="0">
              <a:latin typeface="Aptos" panose="020B0004020202020204" pitchFamily="34" charset="0"/>
            </a:endParaRPr>
          </a:p>
          <a:p>
            <a:pPr marL="0" indent="0">
              <a:lnSpc>
                <a:spcPct val="130000"/>
              </a:lnSpc>
              <a:buNone/>
            </a:pPr>
            <a:r>
              <a:rPr lang="en-US" sz="1300" b="1" dirty="0">
                <a:solidFill>
                  <a:schemeClr val="bg1"/>
                </a:solidFill>
                <a:latin typeface="Aptos" panose="020B0004020202020204" pitchFamily="34" charset="0"/>
                <a:ea typeface="Consolas" pitchFamily="34" charset="-122"/>
                <a:cs typeface="Consolas" pitchFamily="34" charset="-120"/>
              </a:rPr>
              <a:t>Sans token : 401 Unauthorized. Avec le bon token : 200 + JSON.</a:t>
            </a:r>
            <a:endParaRPr lang="en-US" sz="1300" b="1" dirty="0">
              <a:solidFill>
                <a:schemeClr val="bg1"/>
              </a:solidFill>
              <a:latin typeface="Aptos" panose="020B0004020202020204" pitchFamily="34" charset="0"/>
            </a:endParaRPr>
          </a:p>
        </p:txBody>
      </p:sp>
      <p:sp>
        <p:nvSpPr>
          <p:cNvPr id="80" name="Footnote RGPD"/>
          <p:cNvSpPr/>
          <p:nvPr/>
        </p:nvSpPr>
        <p:spPr>
          <a:xfrm>
            <a:off x="548640" y="5980000"/>
            <a:ext cx="11064240" cy="365760"/>
          </a:xfrm>
          <a:prstGeom prst="rect">
            <a:avLst/>
          </a:prstGeom>
          <a:noFill/>
        </p:spPr>
        <p:txBody>
          <a:bodyPr wrap="square" lIns="0" tIns="0" rIns="0" bIns="0" rtlCol="0" anchor="ctr"/>
          <a:lstStyle/>
          <a:p>
            <a:pPr marL="0" indent="0" algn="ctr">
              <a:buNone/>
            </a:pPr>
            <a:r>
              <a:rPr lang="en-US" sz="1150" i="1" dirty="0">
                <a:solidFill>
                  <a:srgbClr val="6B7280"/>
                </a:solidFill>
                <a:latin typeface="Aptos" panose="020B0004020202020204" pitchFamily="34" charset="0"/>
              </a:rPr>
              <a:t>Pour un vrai déploiement : JWT + rotation/expiration des tokens, gestion multi-utilisateurs, et un </a:t>
            </a:r>
            <a:r>
              <a:rPr lang="en-US" sz="1150" i="1" dirty="0" err="1">
                <a:solidFill>
                  <a:srgbClr val="6B7280"/>
                </a:solidFill>
                <a:latin typeface="Aptos" panose="020B0004020202020204" pitchFamily="34" charset="0"/>
              </a:rPr>
              <a:t>serveur</a:t>
            </a:r>
            <a:r>
              <a:rPr lang="en-US" sz="1150" i="1" dirty="0">
                <a:solidFill>
                  <a:srgbClr val="6B7280"/>
                </a:solidFill>
                <a:latin typeface="Aptos" panose="020B0004020202020204" pitchFamily="34" charset="0"/>
              </a:rPr>
              <a:t> de production à la place du serveur de développement Flask.</a:t>
            </a:r>
          </a:p>
        </p:txBody>
      </p:sp>
      <p:sp>
        <p:nvSpPr>
          <p:cNvPr id="15" name="Text 13"/>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10 / 12</a:t>
            </a:r>
            <a:endParaRPr lang="en-US" sz="1000" dirty="0">
              <a:latin typeface="Aptos" panose="020B00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roundRect">
            <a:avLst>
              <a:gd name="adj" fmla="val 21818"/>
            </a:avLst>
          </a:prstGeom>
          <a:solidFill>
            <a:srgbClr val="E8452F"/>
          </a:solidFill>
          <a:ln/>
        </p:spPr>
        <p:txBody>
          <a:bodyPr/>
          <a:lstStyle/>
          <a:p>
            <a:endParaRPr lang="fr-FR">
              <a:latin typeface="Aptos" panose="020B0004020202020204" pitchFamily="34" charset="0"/>
            </a:endParaRPr>
          </a:p>
        </p:txBody>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anose="020B0004020202020204" pitchFamily="34" charset="0"/>
                <a:ea typeface="Calibri" pitchFamily="34" charset="-122"/>
                <a:cs typeface="Calibri" pitchFamily="34" charset="-120"/>
              </a:rPr>
              <a:t>11</a:t>
            </a:r>
            <a:endParaRPr lang="en-US" sz="2000" dirty="0">
              <a:latin typeface="Aptos" panose="020B0004020202020204" pitchFamily="34" charset="0"/>
            </a:endParaRPr>
          </a:p>
        </p:txBody>
      </p:sp>
      <p:sp>
        <p:nvSpPr>
          <p:cNvPr id="4" name="Text 2"/>
          <p:cNvSpPr/>
          <p:nvPr/>
        </p:nvSpPr>
        <p:spPr>
          <a:xfrm>
            <a:off x="1234440" y="457200"/>
            <a:ext cx="7315200" cy="274320"/>
          </a:xfrm>
          <a:prstGeom prst="rect">
            <a:avLst/>
          </a:prstGeom>
          <a:noFill/>
          <a:ln/>
        </p:spPr>
        <p:txBody>
          <a:bodyPr wrap="square" lIns="0" tIns="0" rIns="0" bIns="0" rtlCol="0" anchor="ctr"/>
          <a:lstStyle/>
          <a:p>
            <a:pPr marL="0" indent="0">
              <a:buNone/>
            </a:pPr>
            <a:r>
              <a:rPr lang="en-US" sz="1200" b="1" kern="0" spc="100" dirty="0">
                <a:solidFill>
                  <a:srgbClr val="E8452F"/>
                </a:solidFill>
                <a:latin typeface="Aptos" panose="020B0004020202020204" pitchFamily="34" charset="0"/>
                <a:ea typeface="Calibri" pitchFamily="34" charset="-122"/>
                <a:cs typeface="Calibri" pitchFamily="34" charset="-120"/>
              </a:rPr>
              <a:t>POINT 6</a:t>
            </a:r>
            <a:endParaRPr lang="en-US" sz="1200" dirty="0">
              <a:latin typeface="Aptos" panose="020B0004020202020204" pitchFamily="34" charset="0"/>
            </a:endParaRPr>
          </a:p>
        </p:txBody>
      </p:sp>
      <p:sp>
        <p:nvSpPr>
          <p:cNvPr id="5" name="Text 3"/>
          <p:cNvSpPr/>
          <p:nvPr/>
        </p:nvSpPr>
        <p:spPr>
          <a:xfrm>
            <a:off x="1234440" y="713232"/>
            <a:ext cx="10515600" cy="548640"/>
          </a:xfrm>
          <a:prstGeom prst="rect">
            <a:avLst/>
          </a:prstGeom>
          <a:noFill/>
          <a:ln/>
        </p:spPr>
        <p:txBody>
          <a:bodyPr wrap="square" lIns="0" tIns="0" rIns="0" bIns="0" rtlCol="0" anchor="ctr"/>
          <a:lstStyle/>
          <a:p>
            <a:pPr marL="0" indent="0">
              <a:buNone/>
            </a:pPr>
            <a:r>
              <a:rPr lang="en-US" sz="2600" b="1" dirty="0">
                <a:solidFill>
                  <a:srgbClr val="1B2740"/>
                </a:solidFill>
                <a:latin typeface="Aptos" panose="020B0004020202020204" pitchFamily="34" charset="0"/>
                <a:ea typeface="Calibri" pitchFamily="34" charset="-122"/>
                <a:cs typeface="Calibri" pitchFamily="34" charset="-120"/>
              </a:rPr>
              <a:t>Limites et améliorations possibles</a:t>
            </a:r>
            <a:endParaRPr lang="en-US" sz="2600" dirty="0">
              <a:latin typeface="Aptos" panose="020B0004020202020204" pitchFamily="34" charset="0"/>
            </a:endParaRPr>
          </a:p>
        </p:txBody>
      </p:sp>
      <p:sp>
        <p:nvSpPr>
          <p:cNvPr id="6" name="Shape 4"/>
          <p:cNvSpPr/>
          <p:nvPr/>
        </p:nvSpPr>
        <p:spPr>
          <a:xfrm>
            <a:off x="548640" y="1779560"/>
            <a:ext cx="457200" cy="45720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7" name="Text 5"/>
          <p:cNvSpPr/>
          <p:nvPr/>
        </p:nvSpPr>
        <p:spPr>
          <a:xfrm>
            <a:off x="548640" y="1779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alibri" pitchFamily="34" charset="-122"/>
                <a:cs typeface="Calibri" pitchFamily="34" charset="-120"/>
              </a:rPr>
              <a:t>1</a:t>
            </a:r>
            <a:endParaRPr lang="en-US" sz="1600" dirty="0">
              <a:latin typeface="Aptos" panose="020B0004020202020204" pitchFamily="34" charset="0"/>
            </a:endParaRPr>
          </a:p>
        </p:txBody>
      </p:sp>
      <p:sp>
        <p:nvSpPr>
          <p:cNvPr id="8" name="Shape 6"/>
          <p:cNvSpPr/>
          <p:nvPr/>
        </p:nvSpPr>
        <p:spPr>
          <a:xfrm>
            <a:off x="1188720" y="1709928"/>
            <a:ext cx="10058400" cy="566928"/>
          </a:xfrm>
          <a:prstGeom prst="roundRect">
            <a:avLst>
              <a:gd name="adj" fmla="val 12903"/>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9" name="Text 7"/>
          <p:cNvSpPr/>
          <p:nvPr/>
        </p:nvSpPr>
        <p:spPr>
          <a:xfrm>
            <a:off x="1463040" y="1709928"/>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Aptos" panose="020B0004020202020204" pitchFamily="34" charset="0"/>
                <a:ea typeface="Calibri" pitchFamily="34" charset="-122"/>
                <a:cs typeface="Calibri" pitchFamily="34" charset="-120"/>
              </a:rPr>
              <a:t>Intégrité référentielle partielle (3 relations sans FK stricte)</a:t>
            </a:r>
            <a:endParaRPr lang="en-US" sz="1450" dirty="0">
              <a:latin typeface="Aptos" panose="020B0004020202020204" pitchFamily="34" charset="0"/>
            </a:endParaRPr>
          </a:p>
        </p:txBody>
      </p:sp>
      <p:sp>
        <p:nvSpPr>
          <p:cNvPr id="10" name="Shape 8"/>
          <p:cNvSpPr/>
          <p:nvPr/>
        </p:nvSpPr>
        <p:spPr>
          <a:xfrm>
            <a:off x="548640" y="2584189"/>
            <a:ext cx="457200" cy="45720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11" name="Text 9"/>
          <p:cNvSpPr/>
          <p:nvPr/>
        </p:nvSpPr>
        <p:spPr>
          <a:xfrm>
            <a:off x="548640" y="2584189"/>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alibri" pitchFamily="34" charset="-122"/>
                <a:cs typeface="Calibri" pitchFamily="34" charset="-120"/>
              </a:rPr>
              <a:t>2</a:t>
            </a:r>
            <a:endParaRPr lang="en-US" sz="1600" dirty="0">
              <a:latin typeface="Aptos" panose="020B0004020202020204" pitchFamily="34" charset="0"/>
            </a:endParaRPr>
          </a:p>
        </p:txBody>
      </p:sp>
      <p:sp>
        <p:nvSpPr>
          <p:cNvPr id="12" name="Shape 10"/>
          <p:cNvSpPr/>
          <p:nvPr/>
        </p:nvSpPr>
        <p:spPr>
          <a:xfrm>
            <a:off x="1188720" y="2514557"/>
            <a:ext cx="10058400" cy="566928"/>
          </a:xfrm>
          <a:prstGeom prst="roundRect">
            <a:avLst>
              <a:gd name="adj" fmla="val 12903"/>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3" name="Text 11"/>
          <p:cNvSpPr/>
          <p:nvPr/>
        </p:nvSpPr>
        <p:spPr>
          <a:xfrm>
            <a:off x="1463040" y="2514557"/>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Aptos" panose="020B0004020202020204" pitchFamily="34" charset="0"/>
                <a:ea typeface="Calibri" pitchFamily="34" charset="-122"/>
                <a:cs typeface="Calibri" pitchFamily="34" charset="-120"/>
              </a:rPr>
              <a:t>Peu de nettoyage nécessaire sur les données d'entrée (sources déjà propres)</a:t>
            </a:r>
            <a:endParaRPr lang="en-US" sz="1450" dirty="0">
              <a:latin typeface="Aptos" panose="020B0004020202020204" pitchFamily="34" charset="0"/>
            </a:endParaRPr>
          </a:p>
        </p:txBody>
      </p:sp>
      <p:sp>
        <p:nvSpPr>
          <p:cNvPr id="14" name="Shape 12"/>
          <p:cNvSpPr/>
          <p:nvPr/>
        </p:nvSpPr>
        <p:spPr>
          <a:xfrm>
            <a:off x="548640" y="3388818"/>
            <a:ext cx="457200" cy="45720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15" name="Text 13"/>
          <p:cNvSpPr/>
          <p:nvPr/>
        </p:nvSpPr>
        <p:spPr>
          <a:xfrm>
            <a:off x="548640" y="338881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alibri" pitchFamily="34" charset="-122"/>
                <a:cs typeface="Calibri" pitchFamily="34" charset="-120"/>
              </a:rPr>
              <a:t>3</a:t>
            </a:r>
            <a:endParaRPr lang="en-US" sz="1600" dirty="0">
              <a:latin typeface="Aptos" panose="020B0004020202020204" pitchFamily="34" charset="0"/>
            </a:endParaRPr>
          </a:p>
        </p:txBody>
      </p:sp>
      <p:sp>
        <p:nvSpPr>
          <p:cNvPr id="16" name="Shape 14"/>
          <p:cNvSpPr/>
          <p:nvPr/>
        </p:nvSpPr>
        <p:spPr>
          <a:xfrm>
            <a:off x="1188720" y="3319186"/>
            <a:ext cx="10058400" cy="566928"/>
          </a:xfrm>
          <a:prstGeom prst="roundRect">
            <a:avLst>
              <a:gd name="adj" fmla="val 12903"/>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7" name="Text 15"/>
          <p:cNvSpPr/>
          <p:nvPr/>
        </p:nvSpPr>
        <p:spPr>
          <a:xfrm>
            <a:off x="1463040" y="3319186"/>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Aptos" panose="020B0004020202020204" pitchFamily="34" charset="0"/>
                <a:ea typeface="Calibri" pitchFamily="34" charset="-122"/>
                <a:cs typeface="Calibri" pitchFamily="34" charset="-120"/>
              </a:rPr>
              <a:t>API accessible en local uniquement — ngrok pour une démo ponctuelle</a:t>
            </a:r>
            <a:endParaRPr lang="en-US" sz="1450" dirty="0">
              <a:latin typeface="Aptos" panose="020B0004020202020204" pitchFamily="34" charset="0"/>
            </a:endParaRPr>
          </a:p>
        </p:txBody>
      </p:sp>
      <p:sp>
        <p:nvSpPr>
          <p:cNvPr id="18" name="Shape 16"/>
          <p:cNvSpPr/>
          <p:nvPr/>
        </p:nvSpPr>
        <p:spPr>
          <a:xfrm>
            <a:off x="548640" y="4193447"/>
            <a:ext cx="457200" cy="45720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19" name="Text 17"/>
          <p:cNvSpPr/>
          <p:nvPr/>
        </p:nvSpPr>
        <p:spPr>
          <a:xfrm>
            <a:off x="548640" y="4193447"/>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alibri" pitchFamily="34" charset="-122"/>
                <a:cs typeface="Calibri" pitchFamily="34" charset="-120"/>
              </a:rPr>
              <a:t>4</a:t>
            </a:r>
            <a:endParaRPr lang="en-US" sz="1600" dirty="0">
              <a:latin typeface="Aptos" panose="020B0004020202020204" pitchFamily="34" charset="0"/>
            </a:endParaRPr>
          </a:p>
        </p:txBody>
      </p:sp>
      <p:sp>
        <p:nvSpPr>
          <p:cNvPr id="20" name="Shape 18"/>
          <p:cNvSpPr/>
          <p:nvPr/>
        </p:nvSpPr>
        <p:spPr>
          <a:xfrm>
            <a:off x="1188720" y="4123815"/>
            <a:ext cx="10058400" cy="566928"/>
          </a:xfrm>
          <a:prstGeom prst="roundRect">
            <a:avLst>
              <a:gd name="adj" fmla="val 12903"/>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21" name="Text 19"/>
          <p:cNvSpPr/>
          <p:nvPr/>
        </p:nvSpPr>
        <p:spPr>
          <a:xfrm>
            <a:off x="1463040" y="4123815"/>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Aptos" panose="020B0004020202020204" pitchFamily="34" charset="0"/>
                <a:ea typeface="Calibri" pitchFamily="34" charset="-122"/>
                <a:cs typeface="Calibri" pitchFamily="34" charset="-120"/>
              </a:rPr>
              <a:t>Scraping séquentiel, sans parallélisation</a:t>
            </a:r>
            <a:endParaRPr lang="en-US" sz="1450" dirty="0">
              <a:latin typeface="Aptos" panose="020B0004020202020204" pitchFamily="34" charset="0"/>
            </a:endParaRPr>
          </a:p>
        </p:txBody>
      </p:sp>
      <p:sp>
        <p:nvSpPr>
          <p:cNvPr id="22" name="Shape 20"/>
          <p:cNvSpPr/>
          <p:nvPr/>
        </p:nvSpPr>
        <p:spPr>
          <a:xfrm>
            <a:off x="548640" y="4998076"/>
            <a:ext cx="457200" cy="45720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23" name="Text 21"/>
          <p:cNvSpPr/>
          <p:nvPr/>
        </p:nvSpPr>
        <p:spPr>
          <a:xfrm>
            <a:off x="548640" y="49980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alibri" pitchFamily="34" charset="-122"/>
                <a:cs typeface="Calibri" pitchFamily="34" charset="-120"/>
              </a:rPr>
              <a:t>5</a:t>
            </a:r>
            <a:endParaRPr lang="en-US" sz="1600" dirty="0">
              <a:latin typeface="Aptos" panose="020B0004020202020204" pitchFamily="34" charset="0"/>
            </a:endParaRPr>
          </a:p>
        </p:txBody>
      </p:sp>
      <p:sp>
        <p:nvSpPr>
          <p:cNvPr id="24" name="Shape 22"/>
          <p:cNvSpPr/>
          <p:nvPr/>
        </p:nvSpPr>
        <p:spPr>
          <a:xfrm>
            <a:off x="1188720" y="4928444"/>
            <a:ext cx="10058400" cy="566928"/>
          </a:xfrm>
          <a:prstGeom prst="roundRect">
            <a:avLst>
              <a:gd name="adj" fmla="val 12903"/>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25" name="Text 23"/>
          <p:cNvSpPr/>
          <p:nvPr/>
        </p:nvSpPr>
        <p:spPr>
          <a:xfrm>
            <a:off x="1463040" y="4928444"/>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Aptos" panose="020B0004020202020204" pitchFamily="34" charset="0"/>
                <a:ea typeface="Calibri" pitchFamily="34" charset="-122"/>
                <a:cs typeface="Calibri" pitchFamily="34" charset="-120"/>
              </a:rPr>
              <a:t>Authentification simple — à </a:t>
            </a:r>
            <a:r>
              <a:rPr lang="en-US" sz="1450" dirty="0" err="1">
                <a:solidFill>
                  <a:srgbClr val="1B2740"/>
                </a:solidFill>
                <a:latin typeface="Aptos" panose="020B0004020202020204" pitchFamily="34" charset="0"/>
                <a:ea typeface="Calibri" pitchFamily="34" charset="-122"/>
                <a:cs typeface="Calibri" pitchFamily="34" charset="-120"/>
              </a:rPr>
              <a:t>renforcer</a:t>
            </a:r>
            <a:r>
              <a:rPr lang="en-US" sz="1450" dirty="0">
                <a:solidFill>
                  <a:srgbClr val="1B2740"/>
                </a:solidFill>
                <a:latin typeface="Aptos" panose="020B0004020202020204" pitchFamily="34" charset="0"/>
                <a:ea typeface="Calibri" pitchFamily="34" charset="-122"/>
                <a:cs typeface="Calibri" pitchFamily="34" charset="-120"/>
              </a:rPr>
              <a:t> pour un usage réel</a:t>
            </a:r>
            <a:endParaRPr lang="en-US" sz="1450" dirty="0">
              <a:latin typeface="Aptos" panose="020B0004020202020204" pitchFamily="34" charset="0"/>
            </a:endParaRPr>
          </a:p>
        </p:txBody>
      </p:sp>
      <p:sp>
        <p:nvSpPr>
          <p:cNvPr id="122" name="Shape 20 copy"/>
          <p:cNvSpPr/>
          <p:nvPr/>
        </p:nvSpPr>
        <p:spPr>
          <a:xfrm>
            <a:off x="548640" y="5802705"/>
            <a:ext cx="457200" cy="457200"/>
          </a:xfrm>
          <a:prstGeom prst="roundRect">
            <a:avLst>
              <a:gd name="adj" fmla="val 20000"/>
            </a:avLst>
          </a:prstGeom>
          <a:solidFill>
            <a:srgbClr val="E8452F"/>
          </a:solidFill>
          <a:ln/>
        </p:spPr>
        <p:txBody>
          <a:bodyPr/>
          <a:lstStyle/>
          <a:p>
            <a:endParaRPr lang="fr-FR">
              <a:latin typeface="Aptos" panose="020B0004020202020204" pitchFamily="34" charset="0"/>
            </a:endParaRPr>
          </a:p>
        </p:txBody>
      </p:sp>
      <p:sp>
        <p:nvSpPr>
          <p:cNvPr id="123" name="Text 21 copy"/>
          <p:cNvSpPr/>
          <p:nvPr/>
        </p:nvSpPr>
        <p:spPr>
          <a:xfrm>
            <a:off x="548640" y="5802705"/>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Calibri" pitchFamily="34" charset="-122"/>
                <a:cs typeface="Calibri" pitchFamily="34" charset="-120"/>
              </a:rPr>
              <a:t>6</a:t>
            </a:r>
            <a:endParaRPr lang="en-US" sz="1600" dirty="0">
              <a:latin typeface="Aptos" panose="020B0004020202020204" pitchFamily="34" charset="0"/>
            </a:endParaRPr>
          </a:p>
        </p:txBody>
      </p:sp>
      <p:sp>
        <p:nvSpPr>
          <p:cNvPr id="124" name="Shape 22 copy"/>
          <p:cNvSpPr/>
          <p:nvPr/>
        </p:nvSpPr>
        <p:spPr>
          <a:xfrm>
            <a:off x="1188720" y="5733073"/>
            <a:ext cx="10058400" cy="566928"/>
          </a:xfrm>
          <a:prstGeom prst="roundRect">
            <a:avLst>
              <a:gd name="adj" fmla="val 12903"/>
            </a:avLst>
          </a:prstGeom>
          <a:solidFill>
            <a:srgbClr val="F2F1EF"/>
          </a:solidFill>
          <a:ln>
            <a:solidFill>
              <a:srgbClr val="1B2740"/>
            </a:solidFill>
          </a:ln>
        </p:spPr>
        <p:txBody>
          <a:bodyPr/>
          <a:lstStyle/>
          <a:p>
            <a:endParaRPr lang="fr-FR">
              <a:latin typeface="Aptos" panose="020B0004020202020204" pitchFamily="34" charset="0"/>
            </a:endParaRPr>
          </a:p>
        </p:txBody>
      </p:sp>
      <p:sp>
        <p:nvSpPr>
          <p:cNvPr id="125" name="Text 23 copy"/>
          <p:cNvSpPr/>
          <p:nvPr/>
        </p:nvSpPr>
        <p:spPr>
          <a:xfrm>
            <a:off x="1463040" y="5733073"/>
            <a:ext cx="9601200" cy="566928"/>
          </a:xfrm>
          <a:prstGeom prst="rect">
            <a:avLst/>
          </a:prstGeom>
          <a:noFill/>
          <a:ln/>
        </p:spPr>
        <p:txBody>
          <a:bodyPr wrap="square" lIns="0" tIns="0" rIns="0" bIns="0" rtlCol="0" anchor="ctr"/>
          <a:lstStyle/>
          <a:p>
            <a:pPr marL="0" indent="0">
              <a:buNone/>
            </a:pPr>
            <a:r>
              <a:rPr lang="en-US" sz="1450" dirty="0">
                <a:solidFill>
                  <a:srgbClr val="1B2740"/>
                </a:solidFill>
                <a:latin typeface="Aptos" panose="020B0004020202020204" pitchFamily="34" charset="0"/>
                <a:ea typeface="Calibri" pitchFamily="34" charset="-122"/>
                <a:cs typeface="Calibri" pitchFamily="34" charset="-120"/>
              </a:rPr>
              <a:t>Données personnelles dans sales_raw.csv, versé tel quel sur Git (RGPD)</a:t>
            </a:r>
            <a:endParaRPr lang="en-US" sz="1450" dirty="0">
              <a:latin typeface="Aptos" panose="020B0004020202020204" pitchFamily="34" charset="0"/>
            </a:endParaRPr>
          </a:p>
        </p:txBody>
      </p:sp>
      <p:sp>
        <p:nvSpPr>
          <p:cNvPr id="26" name="Text 24"/>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ptos" panose="020B0004020202020204" pitchFamily="34" charset="0"/>
                <a:ea typeface="Calibri" pitchFamily="34" charset="-122"/>
                <a:cs typeface="Calibri" pitchFamily="34" charset="-120"/>
              </a:rPr>
              <a:t>11 / 12</a:t>
            </a:r>
            <a:endParaRPr lang="en-US" sz="1000" dirty="0">
              <a:latin typeface="Aptos" panose="020B00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bg>
      <p:bgPr>
        <a:solidFill>
          <a:srgbClr val="1B2740"/>
        </a:solidFill>
        <a:effectLst/>
      </p:bgPr>
    </p:bg>
    <p:spTree>
      <p:nvGrpSpPr>
        <p:cNvPr id="1" name=""/>
        <p:cNvGrpSpPr/>
        <p:nvPr/>
      </p:nvGrpSpPr>
      <p:grpSpPr>
        <a:xfrm>
          <a:off x="0" y="0"/>
          <a:ext cx="0" cy="0"/>
          <a:chOff x="0" y="0"/>
          <a:chExt cx="0" cy="0"/>
        </a:xfrm>
      </p:grpSpPr>
      <p:sp>
        <p:nvSpPr>
          <p:cNvPr id="2" name="Shape 0"/>
          <p:cNvSpPr/>
          <p:nvPr/>
        </p:nvSpPr>
        <p:spPr>
          <a:xfrm>
            <a:off x="-1371600" y="-1828800"/>
            <a:ext cx="4572000" cy="4572000"/>
          </a:xfrm>
          <a:prstGeom prst="ellipse">
            <a:avLst/>
          </a:prstGeom>
          <a:solidFill>
            <a:srgbClr val="2E3E5C"/>
          </a:solidFill>
          <a:ln/>
        </p:spPr>
        <p:txBody>
          <a:bodyPr/>
          <a:lstStyle/>
          <a:p>
            <a:endParaRPr lang="fr-FR">
              <a:latin typeface="Aptos" panose="020B0004020202020204" pitchFamily="34" charset="0"/>
            </a:endParaRPr>
          </a:p>
        </p:txBody>
      </p:sp>
      <p:sp>
        <p:nvSpPr>
          <p:cNvPr id="3" name="Shape 1"/>
          <p:cNvSpPr/>
          <p:nvPr/>
        </p:nvSpPr>
        <p:spPr>
          <a:xfrm>
            <a:off x="9875520" y="4389120"/>
            <a:ext cx="4114800" cy="4114800"/>
          </a:xfrm>
          <a:prstGeom prst="ellipse">
            <a:avLst/>
          </a:prstGeom>
          <a:solidFill>
            <a:srgbClr val="C23420"/>
          </a:solidFill>
          <a:ln/>
        </p:spPr>
        <p:txBody>
          <a:bodyPr/>
          <a:lstStyle/>
          <a:p>
            <a:endParaRPr lang="fr-FR">
              <a:latin typeface="Aptos" panose="020B0004020202020204" pitchFamily="34" charset="0"/>
            </a:endParaRPr>
          </a:p>
        </p:txBody>
      </p:sp>
      <p:sp>
        <p:nvSpPr>
          <p:cNvPr id="4" name="Text 2"/>
          <p:cNvSpPr/>
          <p:nvPr/>
        </p:nvSpPr>
        <p:spPr>
          <a:xfrm>
            <a:off x="548640" y="1188720"/>
            <a:ext cx="5486400" cy="365760"/>
          </a:xfrm>
          <a:prstGeom prst="rect">
            <a:avLst/>
          </a:prstGeom>
          <a:noFill/>
          <a:ln/>
        </p:spPr>
        <p:txBody>
          <a:bodyPr wrap="square" lIns="0" tIns="0" rIns="0" bIns="0" rtlCol="0" anchor="ctr"/>
          <a:lstStyle/>
          <a:p>
            <a:pPr marL="0" indent="0">
              <a:buNone/>
            </a:pPr>
            <a:r>
              <a:rPr lang="en-US" sz="1300" b="1" kern="0" spc="200" dirty="0">
                <a:solidFill>
                  <a:srgbClr val="E8452F"/>
                </a:solidFill>
                <a:latin typeface="Aptos" panose="020B0004020202020204" pitchFamily="34" charset="0"/>
                <a:ea typeface="Calibri" pitchFamily="34" charset="-122"/>
                <a:cs typeface="Calibri" pitchFamily="34" charset="-120"/>
              </a:rPr>
              <a:t>EN RÉSUMÉ</a:t>
            </a:r>
            <a:endParaRPr lang="en-US" sz="1300" dirty="0">
              <a:latin typeface="Aptos" panose="020B0004020202020204" pitchFamily="34" charset="0"/>
            </a:endParaRPr>
          </a:p>
        </p:txBody>
      </p:sp>
      <p:sp>
        <p:nvSpPr>
          <p:cNvPr id="5" name="Text 3"/>
          <p:cNvSpPr/>
          <p:nvPr/>
        </p:nvSpPr>
        <p:spPr>
          <a:xfrm>
            <a:off x="548640" y="1554480"/>
            <a:ext cx="10058400" cy="914400"/>
          </a:xfrm>
          <a:prstGeom prst="rect">
            <a:avLst/>
          </a:prstGeom>
          <a:noFill/>
          <a:ln/>
        </p:spPr>
        <p:txBody>
          <a:bodyPr wrap="square" lIns="0" tIns="0" rIns="0" bIns="0" rtlCol="0" anchor="ctr"/>
          <a:lstStyle/>
          <a:p>
            <a:pPr marL="0" indent="0">
              <a:buNone/>
            </a:pPr>
            <a:r>
              <a:rPr lang="en-US" sz="3400" b="1" dirty="0">
                <a:solidFill>
                  <a:srgbClr val="FFFFFF"/>
                </a:solidFill>
                <a:latin typeface="Aptos" panose="020B0004020202020204" pitchFamily="34" charset="0"/>
                <a:ea typeface="Calibri" pitchFamily="34" charset="-122"/>
                <a:cs typeface="Calibri" pitchFamily="34" charset="-120"/>
              </a:rPr>
              <a:t>Un pipeline complet, de la donnée brute à l'API</a:t>
            </a:r>
            <a:endParaRPr lang="en-US" sz="3400" dirty="0">
              <a:latin typeface="Aptos" panose="020B0004020202020204" pitchFamily="34" charset="0"/>
            </a:endParaRPr>
          </a:p>
        </p:txBody>
      </p:sp>
      <p:sp>
        <p:nvSpPr>
          <p:cNvPr id="6" name="Shape 4"/>
          <p:cNvSpPr/>
          <p:nvPr/>
        </p:nvSpPr>
        <p:spPr>
          <a:xfrm>
            <a:off x="548640" y="2752344"/>
            <a:ext cx="146304" cy="146304"/>
          </a:xfrm>
          <a:prstGeom prst="roundRect">
            <a:avLst>
              <a:gd name="adj" fmla="val 25000"/>
            </a:avLst>
          </a:prstGeom>
          <a:solidFill>
            <a:srgbClr val="E8452F"/>
          </a:solidFill>
          <a:ln/>
        </p:spPr>
        <p:txBody>
          <a:bodyPr/>
          <a:lstStyle/>
          <a:p>
            <a:endParaRPr lang="fr-FR">
              <a:latin typeface="Aptos" panose="020B0004020202020204" pitchFamily="34" charset="0"/>
            </a:endParaRPr>
          </a:p>
        </p:txBody>
      </p:sp>
      <p:sp>
        <p:nvSpPr>
          <p:cNvPr id="7" name="Text 5"/>
          <p:cNvSpPr/>
          <p:nvPr/>
        </p:nvSpPr>
        <p:spPr>
          <a:xfrm>
            <a:off x="914400" y="269748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Aptos" panose="020B0004020202020204" pitchFamily="34" charset="0"/>
                <a:ea typeface="Calibri" pitchFamily="34" charset="-122"/>
                <a:cs typeface="Calibri" pitchFamily="34" charset="-120"/>
              </a:rPr>
              <a:t>4 sources hétérogènes centralisées, avec une gestion d'erreurs différenciée</a:t>
            </a:r>
            <a:endParaRPr lang="en-US" sz="1500" dirty="0">
              <a:latin typeface="Aptos" panose="020B0004020202020204" pitchFamily="34" charset="0"/>
            </a:endParaRPr>
          </a:p>
        </p:txBody>
      </p:sp>
      <p:sp>
        <p:nvSpPr>
          <p:cNvPr id="8" name="Shape 6"/>
          <p:cNvSpPr/>
          <p:nvPr/>
        </p:nvSpPr>
        <p:spPr>
          <a:xfrm>
            <a:off x="548640" y="3300984"/>
            <a:ext cx="146304" cy="146304"/>
          </a:xfrm>
          <a:prstGeom prst="roundRect">
            <a:avLst>
              <a:gd name="adj" fmla="val 25000"/>
            </a:avLst>
          </a:prstGeom>
          <a:solidFill>
            <a:srgbClr val="E8452F"/>
          </a:solidFill>
          <a:ln/>
        </p:spPr>
        <p:txBody>
          <a:bodyPr/>
          <a:lstStyle/>
          <a:p>
            <a:endParaRPr lang="fr-FR">
              <a:latin typeface="Aptos" panose="020B0004020202020204" pitchFamily="34" charset="0"/>
            </a:endParaRPr>
          </a:p>
        </p:txBody>
      </p:sp>
      <p:sp>
        <p:nvSpPr>
          <p:cNvPr id="9" name="Text 7"/>
          <p:cNvSpPr/>
          <p:nvPr/>
        </p:nvSpPr>
        <p:spPr>
          <a:xfrm>
            <a:off x="914400" y="324612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Aptos" panose="020B0004020202020204" pitchFamily="34" charset="0"/>
                <a:ea typeface="Calibri" pitchFamily="34" charset="-122"/>
                <a:cs typeface="Calibri" pitchFamily="34" charset="-120"/>
              </a:rPr>
              <a:t>Données réelles imparfaites traitées avec transparence, pas masquées</a:t>
            </a:r>
            <a:endParaRPr lang="en-US" sz="1500" dirty="0">
              <a:latin typeface="Aptos" panose="020B0004020202020204" pitchFamily="34" charset="0"/>
            </a:endParaRPr>
          </a:p>
        </p:txBody>
      </p:sp>
      <p:sp>
        <p:nvSpPr>
          <p:cNvPr id="10" name="Shape 8"/>
          <p:cNvSpPr/>
          <p:nvPr/>
        </p:nvSpPr>
        <p:spPr>
          <a:xfrm>
            <a:off x="548640" y="3849624"/>
            <a:ext cx="146304" cy="146304"/>
          </a:xfrm>
          <a:prstGeom prst="roundRect">
            <a:avLst>
              <a:gd name="adj" fmla="val 25000"/>
            </a:avLst>
          </a:prstGeom>
          <a:solidFill>
            <a:srgbClr val="E8452F"/>
          </a:solidFill>
          <a:ln/>
        </p:spPr>
        <p:txBody>
          <a:bodyPr/>
          <a:lstStyle/>
          <a:p>
            <a:endParaRPr lang="fr-FR">
              <a:latin typeface="Aptos" panose="020B0004020202020204" pitchFamily="34" charset="0"/>
            </a:endParaRPr>
          </a:p>
        </p:txBody>
      </p:sp>
      <p:sp>
        <p:nvSpPr>
          <p:cNvPr id="11" name="Text 9"/>
          <p:cNvSpPr/>
          <p:nvPr/>
        </p:nvSpPr>
        <p:spPr>
          <a:xfrm>
            <a:off x="914400" y="379476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Aptos" panose="020B0004020202020204" pitchFamily="34" charset="0"/>
                <a:ea typeface="Calibri" pitchFamily="34" charset="-122"/>
                <a:cs typeface="Calibri" pitchFamily="34" charset="-120"/>
              </a:rPr>
              <a:t>Base finale conforme RGPD, API REST sécurisée et documentée</a:t>
            </a:r>
            <a:endParaRPr lang="en-US" sz="1500" dirty="0">
              <a:latin typeface="Aptos" panose="020B0004020202020204" pitchFamily="34" charset="0"/>
            </a:endParaRPr>
          </a:p>
        </p:txBody>
      </p:sp>
      <p:sp>
        <p:nvSpPr>
          <p:cNvPr id="12" name="Shape 10"/>
          <p:cNvSpPr/>
          <p:nvPr/>
        </p:nvSpPr>
        <p:spPr>
          <a:xfrm>
            <a:off x="548640" y="4398264"/>
            <a:ext cx="146304" cy="146304"/>
          </a:xfrm>
          <a:prstGeom prst="roundRect">
            <a:avLst>
              <a:gd name="adj" fmla="val 25000"/>
            </a:avLst>
          </a:prstGeom>
          <a:solidFill>
            <a:srgbClr val="E8452F"/>
          </a:solidFill>
          <a:ln/>
        </p:spPr>
        <p:txBody>
          <a:bodyPr/>
          <a:lstStyle/>
          <a:p>
            <a:endParaRPr lang="fr-FR">
              <a:latin typeface="Aptos" panose="020B0004020202020204" pitchFamily="34" charset="0"/>
            </a:endParaRPr>
          </a:p>
        </p:txBody>
      </p:sp>
      <p:sp>
        <p:nvSpPr>
          <p:cNvPr id="13" name="Text 11"/>
          <p:cNvSpPr/>
          <p:nvPr/>
        </p:nvSpPr>
        <p:spPr>
          <a:xfrm>
            <a:off x="914400" y="4343400"/>
            <a:ext cx="10058400" cy="457200"/>
          </a:xfrm>
          <a:prstGeom prst="rect">
            <a:avLst/>
          </a:prstGeom>
          <a:noFill/>
          <a:ln/>
        </p:spPr>
        <p:txBody>
          <a:bodyPr wrap="square" lIns="0" tIns="0" rIns="0" bIns="0" rtlCol="0" anchor="ctr"/>
          <a:lstStyle/>
          <a:p>
            <a:pPr marL="0" indent="0">
              <a:buNone/>
            </a:pPr>
            <a:r>
              <a:rPr lang="en-US" sz="1500" dirty="0">
                <a:solidFill>
                  <a:srgbClr val="E8E8E8"/>
                </a:solidFill>
                <a:latin typeface="Aptos" panose="020B0004020202020204" pitchFamily="34" charset="0"/>
                <a:ea typeface="Calibri" pitchFamily="34" charset="-122"/>
                <a:cs typeface="Calibri" pitchFamily="34" charset="-120"/>
              </a:rPr>
              <a:t>Projet versionné sur GitHub (README, LICENSE, requirements.txt, .gitignore), testé et documenté de bout en bout</a:t>
            </a:r>
            <a:endParaRPr lang="en-US" sz="1500" dirty="0">
              <a:latin typeface="Aptos" panose="020B0004020202020204" pitchFamily="34" charset="0"/>
            </a:endParaRPr>
          </a:p>
        </p:txBody>
      </p:sp>
      <p:sp>
        <p:nvSpPr>
          <p:cNvPr id="14" name="Shape 12"/>
          <p:cNvSpPr/>
          <p:nvPr/>
        </p:nvSpPr>
        <p:spPr>
          <a:xfrm>
            <a:off x="548640" y="5212080"/>
            <a:ext cx="1097280" cy="0"/>
          </a:xfrm>
          <a:prstGeom prst="line">
            <a:avLst/>
          </a:prstGeom>
          <a:noFill/>
          <a:ln w="38100">
            <a:solidFill>
              <a:srgbClr val="E8452F"/>
            </a:solidFill>
            <a:prstDash val="solid"/>
          </a:ln>
        </p:spPr>
        <p:txBody>
          <a:bodyPr/>
          <a:lstStyle/>
          <a:p>
            <a:endParaRPr lang="fr-FR">
              <a:latin typeface="Aptos" panose="020B0004020202020204" pitchFamily="34" charset="0"/>
            </a:endParaRPr>
          </a:p>
        </p:txBody>
      </p:sp>
      <p:sp>
        <p:nvSpPr>
          <p:cNvPr id="15" name="Text 13"/>
          <p:cNvSpPr/>
          <p:nvPr/>
        </p:nvSpPr>
        <p:spPr>
          <a:xfrm>
            <a:off x="548640" y="5440680"/>
            <a:ext cx="7315200" cy="548640"/>
          </a:xfrm>
          <a:prstGeom prst="rect">
            <a:avLst/>
          </a:prstGeom>
          <a:noFill/>
          <a:ln/>
        </p:spPr>
        <p:txBody>
          <a:bodyPr wrap="square" lIns="0" tIns="0" rIns="0" bIns="0" rtlCol="0" anchor="ctr"/>
          <a:lstStyle/>
          <a:p>
            <a:pPr marL="0" indent="0">
              <a:buNone/>
            </a:pPr>
            <a:r>
              <a:rPr lang="en-US" sz="2400" b="1" dirty="0">
                <a:solidFill>
                  <a:srgbClr val="FFFFFF"/>
                </a:solidFill>
                <a:latin typeface="Aptos" panose="020B0004020202020204" pitchFamily="34" charset="0"/>
                <a:ea typeface="Calibri" pitchFamily="34" charset="-122"/>
                <a:cs typeface="Calibri" pitchFamily="34" charset="-120"/>
              </a:rPr>
              <a:t>Merci de votre attention</a:t>
            </a:r>
            <a:endParaRPr lang="en-US" sz="2400" dirty="0">
              <a:latin typeface="Aptos" panose="020B0004020202020204" pitchFamily="34" charset="0"/>
            </a:endParaRPr>
          </a:p>
        </p:txBody>
      </p:sp>
      <p:sp>
        <p:nvSpPr>
          <p:cNvPr id="16" name="Text 14"/>
          <p:cNvSpPr/>
          <p:nvPr/>
        </p:nvSpPr>
        <p:spPr>
          <a:xfrm>
            <a:off x="548640" y="5943600"/>
            <a:ext cx="7315200" cy="457200"/>
          </a:xfrm>
          <a:prstGeom prst="rect">
            <a:avLst/>
          </a:prstGeom>
          <a:noFill/>
          <a:ln/>
        </p:spPr>
        <p:txBody>
          <a:bodyPr wrap="square" lIns="0" tIns="0" rIns="0" bIns="0" rtlCol="0" anchor="ctr"/>
          <a:lstStyle/>
          <a:p>
            <a:pPr marL="0" indent="0">
              <a:buNone/>
            </a:pPr>
            <a:r>
              <a:rPr lang="en-US" sz="1600" dirty="0">
                <a:solidFill>
                  <a:srgbClr val="E8452F"/>
                </a:solidFill>
                <a:latin typeface="Aptos" panose="020B0004020202020204" pitchFamily="34" charset="0"/>
                <a:ea typeface="Calibri" pitchFamily="34" charset="-122"/>
                <a:cs typeface="Calibri" pitchFamily="34" charset="-120"/>
              </a:rPr>
              <a:t>Questions ?</a:t>
            </a:r>
            <a:endParaRPr lang="en-US" sz="1600" dirty="0">
              <a:latin typeface="Aptos" panose="020B00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1536</TotalTime>
  <Words>1648</Words>
  <Application>Microsoft Office PowerPoint</Application>
  <PresentationFormat>Grand écran</PresentationFormat>
  <Paragraphs>195</Paragraphs>
  <Slides>12</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Aptos</vt: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Pierre RIEBER</cp:lastModifiedBy>
  <cp:revision>22</cp:revision>
  <dcterms:created xsi:type="dcterms:W3CDTF">2026-07-13T13:30:02Z</dcterms:created>
  <dcterms:modified xsi:type="dcterms:W3CDTF">2026-07-19T13:24:11Z</dcterms:modified>
</cp:coreProperties>
</file>