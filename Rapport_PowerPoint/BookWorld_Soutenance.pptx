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2740"/>
    <a:srgbClr val="F2F1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64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657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74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3" name="Shape 1"/>
          <p:cNvSpPr/>
          <p:nvPr/>
        </p:nvSpPr>
        <p:spPr>
          <a:xfrm>
            <a:off x="9692640" y="-1645920"/>
            <a:ext cx="4572000" cy="4572000"/>
          </a:xfrm>
          <a:prstGeom prst="ellipse">
            <a:avLst/>
          </a:prstGeom>
          <a:solidFill>
            <a:srgbClr val="2E3E5C"/>
          </a:solidFill>
          <a:ln/>
        </p:spPr>
        <p:txBody>
          <a:bodyPr/>
          <a:lstStyle/>
          <a:p>
            <a:endParaRPr lang="fr-FR">
              <a:latin typeface="Aptos" panose="020B0004020202020204" pitchFamily="34" charset="0"/>
              <a:cs typeface="Arial" panose="020B0604020202020204" pitchFamily="34" charset="0"/>
            </a:endParaRPr>
          </a:p>
        </p:txBody>
      </p:sp>
      <p:sp>
        <p:nvSpPr>
          <p:cNvPr id="4" name="Shape 2"/>
          <p:cNvSpPr/>
          <p:nvPr/>
        </p:nvSpPr>
        <p:spPr>
          <a:xfrm>
            <a:off x="-1645921" y="5296575"/>
            <a:ext cx="3115905" cy="3115905"/>
          </a:xfrm>
          <a:prstGeom prst="ellipse">
            <a:avLst/>
          </a:prstGeom>
          <a:solidFill>
            <a:srgbClr val="C23420"/>
          </a:solidFill>
          <a:ln/>
        </p:spPr>
        <p:txBody>
          <a:bodyPr/>
          <a:lstStyle/>
          <a:p>
            <a:endParaRPr lang="fr-FR">
              <a:latin typeface="Aptos" panose="020B0004020202020204" pitchFamily="34" charset="0"/>
              <a:cs typeface="Arial" panose="020B0604020202020204" pitchFamily="34" charset="0"/>
            </a:endParaRPr>
          </a:p>
        </p:txBody>
      </p:sp>
      <p:sp>
        <p:nvSpPr>
          <p:cNvPr id="5" name="Text 3"/>
          <p:cNvSpPr/>
          <p:nvPr/>
        </p:nvSpPr>
        <p:spPr>
          <a:xfrm>
            <a:off x="548640" y="1920240"/>
            <a:ext cx="9144000" cy="365760"/>
          </a:xfrm>
          <a:prstGeom prst="rect">
            <a:avLst/>
          </a:prstGeom>
          <a:noFill/>
          <a:ln/>
        </p:spPr>
        <p:txBody>
          <a:bodyPr wrap="square" lIns="0" tIns="0" rIns="0" bIns="0" rtlCol="0" anchor="ctr"/>
          <a:lstStyle/>
          <a:p>
            <a:pPr marL="0" indent="0">
              <a:buNone/>
            </a:pPr>
            <a:r>
              <a:rPr lang="en-US" sz="1400" b="1" kern="0" spc="200" dirty="0">
                <a:solidFill>
                  <a:srgbClr val="E8452F"/>
                </a:solidFill>
                <a:latin typeface="Aptos" panose="020B0004020202020204" pitchFamily="34" charset="0"/>
                <a:ea typeface="Calibri" pitchFamily="34" charset="-122"/>
                <a:cs typeface="Arial" panose="020B0604020202020204" pitchFamily="34" charset="0"/>
              </a:rPr>
              <a:t>CERTIFICATION RNCP — DATABIRD DAPT</a:t>
            </a:r>
            <a:endParaRPr lang="en-US" sz="1400" dirty="0">
              <a:latin typeface="Aptos" panose="020B0004020202020204" pitchFamily="34" charset="0"/>
              <a:cs typeface="Arial" panose="020B0604020202020204" pitchFamily="34" charset="0"/>
            </a:endParaRPr>
          </a:p>
        </p:txBody>
      </p:sp>
      <p:sp>
        <p:nvSpPr>
          <p:cNvPr id="6" name="Text 4"/>
          <p:cNvSpPr/>
          <p:nvPr/>
        </p:nvSpPr>
        <p:spPr>
          <a:xfrm>
            <a:off x="548640" y="2331720"/>
            <a:ext cx="10058400" cy="1188720"/>
          </a:xfrm>
          <a:prstGeom prst="rect">
            <a:avLst/>
          </a:prstGeom>
          <a:noFill/>
          <a:ln/>
        </p:spPr>
        <p:txBody>
          <a:bodyPr wrap="square" lIns="0" tIns="0" rIns="0" bIns="0" rtlCol="0" anchor="ctr"/>
          <a:lstStyle/>
          <a:p>
            <a:pPr marL="0" indent="0">
              <a:buNone/>
            </a:pPr>
            <a:r>
              <a:rPr lang="en-US" sz="6000" b="1" dirty="0">
                <a:solidFill>
                  <a:srgbClr val="FFFFFF"/>
                </a:solidFill>
                <a:latin typeface="Aptos" panose="020B0004020202020204" pitchFamily="34" charset="0"/>
                <a:ea typeface="Calibri" pitchFamily="34" charset="-122"/>
                <a:cs typeface="Arial" panose="020B0604020202020204" pitchFamily="34" charset="0"/>
              </a:rPr>
              <a:t>BookWorld</a:t>
            </a:r>
            <a:endParaRPr lang="en-US" sz="6000" dirty="0">
              <a:latin typeface="Aptos" panose="020B0004020202020204" pitchFamily="34" charset="0"/>
              <a:cs typeface="Arial" panose="020B0604020202020204" pitchFamily="34" charset="0"/>
            </a:endParaRPr>
          </a:p>
        </p:txBody>
      </p:sp>
      <p:sp>
        <p:nvSpPr>
          <p:cNvPr id="7" name="Text 5"/>
          <p:cNvSpPr/>
          <p:nvPr/>
        </p:nvSpPr>
        <p:spPr>
          <a:xfrm>
            <a:off x="548640" y="3520440"/>
            <a:ext cx="8686800" cy="822960"/>
          </a:xfrm>
          <a:prstGeom prst="rect">
            <a:avLst/>
          </a:prstGeom>
          <a:noFill/>
          <a:ln/>
        </p:spPr>
        <p:txBody>
          <a:bodyPr wrap="square" lIns="0" tIns="0" rIns="0" bIns="0" rtlCol="0" anchor="ctr"/>
          <a:lstStyle/>
          <a:p>
            <a:pPr marL="0" indent="0">
              <a:lnSpc>
                <a:spcPct val="120000"/>
              </a:lnSpc>
              <a:buNone/>
            </a:pPr>
            <a:r>
              <a:rPr lang="en-US" sz="1800" dirty="0">
                <a:solidFill>
                  <a:srgbClr val="C9CEDA"/>
                </a:solidFill>
                <a:latin typeface="Aptos" panose="020B0004020202020204" pitchFamily="34" charset="0"/>
                <a:ea typeface="Calibri" pitchFamily="34" charset="-122"/>
                <a:cs typeface="Arial" panose="020B0604020202020204" pitchFamily="34" charset="0"/>
              </a:rPr>
              <a:t>Pipeline de données, base SQL et API REST pour piloter</a:t>
            </a:r>
            <a:endParaRPr lang="en-US" sz="1800" dirty="0">
              <a:latin typeface="Aptos" panose="020B0004020202020204" pitchFamily="34" charset="0"/>
              <a:cs typeface="Arial" panose="020B0604020202020204" pitchFamily="34" charset="0"/>
            </a:endParaRPr>
          </a:p>
          <a:p>
            <a:pPr marL="0" indent="0">
              <a:lnSpc>
                <a:spcPct val="120000"/>
              </a:lnSpc>
              <a:buNone/>
            </a:pPr>
            <a:r>
              <a:rPr lang="en-US" sz="1800" dirty="0">
                <a:solidFill>
                  <a:srgbClr val="C9CEDA"/>
                </a:solidFill>
                <a:latin typeface="Aptos" panose="020B0004020202020204" pitchFamily="34" charset="0"/>
                <a:ea typeface="Calibri" pitchFamily="34" charset="-122"/>
                <a:cs typeface="Arial" panose="020B0604020202020204" pitchFamily="34" charset="0"/>
              </a:rPr>
              <a:t>des ventes de livres à l'international</a:t>
            </a:r>
            <a:endParaRPr lang="en-US" sz="1800" dirty="0">
              <a:latin typeface="Aptos" panose="020B0004020202020204" pitchFamily="34" charset="0"/>
              <a:cs typeface="Arial" panose="020B0604020202020204" pitchFamily="34" charset="0"/>
            </a:endParaRPr>
          </a:p>
        </p:txBody>
      </p:sp>
      <p:sp>
        <p:nvSpPr>
          <p:cNvPr id="8" name="Shape 6"/>
          <p:cNvSpPr/>
          <p:nvPr/>
        </p:nvSpPr>
        <p:spPr>
          <a:xfrm>
            <a:off x="548640" y="4617720"/>
            <a:ext cx="1097280" cy="0"/>
          </a:xfrm>
          <a:prstGeom prst="line">
            <a:avLst/>
          </a:prstGeom>
          <a:noFill/>
          <a:ln w="38100">
            <a:solidFill>
              <a:srgbClr val="E8452F"/>
            </a:solidFill>
            <a:prstDash val="solid"/>
          </a:ln>
        </p:spPr>
        <p:txBody>
          <a:bodyPr/>
          <a:lstStyle/>
          <a:p>
            <a:endParaRPr lang="fr-FR">
              <a:latin typeface="Aptos" panose="020B0004020202020204" pitchFamily="34" charset="0"/>
              <a:cs typeface="Arial" panose="020B0604020202020204" pitchFamily="34" charset="0"/>
            </a:endParaRPr>
          </a:p>
        </p:txBody>
      </p:sp>
      <p:sp>
        <p:nvSpPr>
          <p:cNvPr id="9" name="Text 7"/>
          <p:cNvSpPr/>
          <p:nvPr/>
        </p:nvSpPr>
        <p:spPr>
          <a:xfrm>
            <a:off x="548640" y="4846320"/>
            <a:ext cx="5486400" cy="365760"/>
          </a:xfrm>
          <a:prstGeom prst="rect">
            <a:avLst/>
          </a:prstGeom>
          <a:noFill/>
          <a:ln/>
        </p:spPr>
        <p:txBody>
          <a:bodyPr wrap="square" lIns="0" tIns="0" rIns="0" bIns="0" rtlCol="0" anchor="ctr"/>
          <a:lstStyle/>
          <a:p>
            <a:pPr marL="0" indent="0">
              <a:buNone/>
            </a:pPr>
            <a:r>
              <a:rPr lang="en-US" sz="1500" b="1" dirty="0">
                <a:solidFill>
                  <a:srgbClr val="FFFFFF"/>
                </a:solidFill>
                <a:latin typeface="Aptos" panose="020B0004020202020204" pitchFamily="34" charset="0"/>
                <a:ea typeface="Calibri" pitchFamily="34" charset="-122"/>
                <a:cs typeface="Arial" panose="020B0604020202020204" pitchFamily="34" charset="0"/>
              </a:rPr>
              <a:t>RIEBER Pierre</a:t>
            </a:r>
            <a:endParaRPr lang="en-US" sz="1500" dirty="0">
              <a:latin typeface="Aptos" panose="020B00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cs typeface="Arial" panose="020B06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Arial" panose="020B0604020202020204" pitchFamily="34" charset="0"/>
              </a:rPr>
              <a:t>2</a:t>
            </a:r>
            <a:endParaRPr lang="en-US" sz="2000" dirty="0">
              <a:latin typeface="Aptos" panose="020B0004020202020204" pitchFamily="34" charset="0"/>
              <a:cs typeface="Arial" panose="020B06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Arial" panose="020B0604020202020204" pitchFamily="34" charset="0"/>
              </a:rPr>
              <a:t>INTRODUCTION</a:t>
            </a:r>
            <a:endParaRPr lang="en-US" sz="1200" dirty="0">
              <a:latin typeface="Aptos" panose="020B0004020202020204" pitchFamily="34" charset="0"/>
              <a:cs typeface="Arial" panose="020B06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Arial" panose="020B0604020202020204" pitchFamily="34" charset="0"/>
              </a:rPr>
              <a:t>Le contexte du projet</a:t>
            </a:r>
            <a:endParaRPr lang="en-US" sz="2600" dirty="0">
              <a:latin typeface="Aptos" panose="020B0004020202020204" pitchFamily="34" charset="0"/>
              <a:cs typeface="Arial" panose="020B0604020202020204" pitchFamily="34" charset="0"/>
            </a:endParaRPr>
          </a:p>
        </p:txBody>
      </p:sp>
      <p:sp>
        <p:nvSpPr>
          <p:cNvPr id="6" name="Text 4"/>
          <p:cNvSpPr/>
          <p:nvPr/>
        </p:nvSpPr>
        <p:spPr>
          <a:xfrm>
            <a:off x="548640" y="1508760"/>
            <a:ext cx="6035040" cy="1005840"/>
          </a:xfrm>
          <a:prstGeom prst="rect">
            <a:avLst/>
          </a:prstGeom>
          <a:noFill/>
          <a:ln/>
        </p:spPr>
        <p:txBody>
          <a:bodyPr wrap="square" lIns="0" tIns="0" rIns="0" bIns="0" rtlCol="0" anchor="ctr"/>
          <a:lstStyle/>
          <a:p>
            <a:pPr marL="0" indent="0">
              <a:lnSpc>
                <a:spcPct val="125000"/>
              </a:lnSpc>
              <a:buNone/>
            </a:pPr>
            <a:r>
              <a:rPr lang="en-US" sz="1600" dirty="0">
                <a:solidFill>
                  <a:srgbClr val="1B2740"/>
                </a:solidFill>
                <a:latin typeface="Aptos" panose="020B0004020202020204" pitchFamily="34" charset="0"/>
                <a:ea typeface="Calibri" pitchFamily="34" charset="-122"/>
                <a:cs typeface="Arial" panose="020B0604020202020204" pitchFamily="34" charset="0"/>
              </a:rPr>
              <a:t>BookWorld est une entreprise fictive de vente de livres en ligne, qui souhaite mieux piloter son activité à l'international.</a:t>
            </a:r>
            <a:endParaRPr lang="en-US" sz="1600" dirty="0">
              <a:latin typeface="Aptos" panose="020B0004020202020204" pitchFamily="34" charset="0"/>
              <a:cs typeface="Arial" panose="020B0604020202020204" pitchFamily="34" charset="0"/>
            </a:endParaRPr>
          </a:p>
        </p:txBody>
      </p:sp>
      <p:sp>
        <p:nvSpPr>
          <p:cNvPr id="7" name="Text 5"/>
          <p:cNvSpPr/>
          <p:nvPr/>
        </p:nvSpPr>
        <p:spPr>
          <a:xfrm>
            <a:off x="548640" y="2606040"/>
            <a:ext cx="6035040" cy="1005840"/>
          </a:xfrm>
          <a:prstGeom prst="rect">
            <a:avLst/>
          </a:prstGeom>
          <a:noFill/>
          <a:ln/>
        </p:spPr>
        <p:txBody>
          <a:bodyPr wrap="square" lIns="0" tIns="0" rIns="0" bIns="0" rtlCol="0" anchor="ctr"/>
          <a:lstStyle/>
          <a:p>
            <a:pPr marL="0" indent="0">
              <a:lnSpc>
                <a:spcPct val="125000"/>
              </a:lnSpc>
              <a:buNone/>
            </a:pPr>
            <a:r>
              <a:rPr lang="en-US" sz="1600" u="sng" dirty="0">
                <a:solidFill>
                  <a:srgbClr val="1B2740"/>
                </a:solidFill>
                <a:latin typeface="Aptos" panose="020B0004020202020204" pitchFamily="34" charset="0"/>
                <a:ea typeface="Calibri" pitchFamily="34" charset="-122"/>
                <a:cs typeface="Arial" panose="020B0604020202020204" pitchFamily="34" charset="0"/>
              </a:rPr>
              <a:t>Problème</a:t>
            </a:r>
            <a:r>
              <a:rPr lang="en-US" sz="1600" dirty="0">
                <a:solidFill>
                  <a:srgbClr val="1B2740"/>
                </a:solidFill>
                <a:latin typeface="Aptos" panose="020B0004020202020204" pitchFamily="34" charset="0"/>
                <a:ea typeface="Calibri" pitchFamily="34" charset="-122"/>
                <a:cs typeface="Arial" panose="020B0604020202020204" pitchFamily="34" charset="0"/>
              </a:rPr>
              <a:t> : ses données sont dispersées entre 4 sources hétérogènes, sans vision consolidée des ventes par pays.</a:t>
            </a:r>
            <a:endParaRPr lang="en-US" sz="1600" dirty="0">
              <a:latin typeface="Aptos" panose="020B0004020202020204" pitchFamily="34" charset="0"/>
              <a:cs typeface="Arial" panose="020B0604020202020204" pitchFamily="34" charset="0"/>
            </a:endParaRPr>
          </a:p>
        </p:txBody>
      </p:sp>
      <p:sp>
        <p:nvSpPr>
          <p:cNvPr id="8" name="Shape 6"/>
          <p:cNvSpPr/>
          <p:nvPr/>
        </p:nvSpPr>
        <p:spPr>
          <a:xfrm>
            <a:off x="7223760" y="1554480"/>
            <a:ext cx="2148840" cy="1051560"/>
          </a:xfrm>
          <a:prstGeom prst="roundRect">
            <a:avLst>
              <a:gd name="adj" fmla="val 6957"/>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9" name="Text 7"/>
          <p:cNvSpPr/>
          <p:nvPr/>
        </p:nvSpPr>
        <p:spPr>
          <a:xfrm>
            <a:off x="7360920" y="1664208"/>
            <a:ext cx="1874520" cy="36576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alibri" pitchFamily="34" charset="-122"/>
                <a:cs typeface="Arial" panose="020B0604020202020204" pitchFamily="34" charset="0"/>
              </a:rPr>
              <a:t>CSV</a:t>
            </a:r>
            <a:endParaRPr lang="en-US" sz="1600" dirty="0">
              <a:latin typeface="Aptos" panose="020B0004020202020204" pitchFamily="34" charset="0"/>
              <a:cs typeface="Arial" panose="020B0604020202020204" pitchFamily="34" charset="0"/>
            </a:endParaRPr>
          </a:p>
        </p:txBody>
      </p:sp>
      <p:sp>
        <p:nvSpPr>
          <p:cNvPr id="10" name="Text 8"/>
          <p:cNvSpPr/>
          <p:nvPr/>
        </p:nvSpPr>
        <p:spPr>
          <a:xfrm>
            <a:off x="7360920" y="2084832"/>
            <a:ext cx="1874520" cy="457200"/>
          </a:xfrm>
          <a:prstGeom prst="rect">
            <a:avLst/>
          </a:prstGeom>
          <a:noFill/>
          <a:ln/>
        </p:spPr>
        <p:txBody>
          <a:bodyPr wrap="square" lIns="0" tIns="0" rIns="0" bIns="0" rtlCol="0" anchor="ctr"/>
          <a:lstStyle/>
          <a:p>
            <a:pPr marL="0" indent="0">
              <a:buNone/>
            </a:pPr>
            <a:r>
              <a:rPr lang="en-US" sz="1400" b="1" cap="small" dirty="0">
                <a:solidFill>
                  <a:srgbClr val="1B2740"/>
                </a:solidFill>
                <a:latin typeface="Aptos" panose="020B0004020202020204" pitchFamily="34" charset="0"/>
                <a:ea typeface="Calibri" pitchFamily="34" charset="-122"/>
                <a:cs typeface="Arial" panose="020B0604020202020204" pitchFamily="34" charset="0"/>
              </a:rPr>
              <a:t>Ventes brutes</a:t>
            </a:r>
            <a:endParaRPr lang="en-US" sz="1400" b="1" cap="small" dirty="0">
              <a:latin typeface="Aptos" panose="020B0004020202020204" pitchFamily="34" charset="0"/>
              <a:cs typeface="Arial" panose="020B0604020202020204" pitchFamily="34" charset="0"/>
            </a:endParaRPr>
          </a:p>
        </p:txBody>
      </p:sp>
      <p:sp>
        <p:nvSpPr>
          <p:cNvPr id="11" name="Shape 9"/>
          <p:cNvSpPr/>
          <p:nvPr/>
        </p:nvSpPr>
        <p:spPr>
          <a:xfrm>
            <a:off x="9555480" y="1554480"/>
            <a:ext cx="2148840" cy="1051560"/>
          </a:xfrm>
          <a:prstGeom prst="roundRect">
            <a:avLst>
              <a:gd name="adj" fmla="val 6957"/>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12" name="Text 10"/>
          <p:cNvSpPr/>
          <p:nvPr/>
        </p:nvSpPr>
        <p:spPr>
          <a:xfrm>
            <a:off x="9692640" y="1664208"/>
            <a:ext cx="1874520" cy="36576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alibri" pitchFamily="34" charset="-122"/>
                <a:cs typeface="Arial" panose="020B0604020202020204" pitchFamily="34" charset="0"/>
              </a:rPr>
              <a:t>SQLite</a:t>
            </a:r>
            <a:endParaRPr lang="en-US" sz="1600" dirty="0">
              <a:latin typeface="Aptos" panose="020B0004020202020204" pitchFamily="34" charset="0"/>
              <a:cs typeface="Arial" panose="020B0604020202020204" pitchFamily="34" charset="0"/>
            </a:endParaRPr>
          </a:p>
        </p:txBody>
      </p:sp>
      <p:sp>
        <p:nvSpPr>
          <p:cNvPr id="13" name="Text 11"/>
          <p:cNvSpPr/>
          <p:nvPr/>
        </p:nvSpPr>
        <p:spPr>
          <a:xfrm>
            <a:off x="9692640" y="2084832"/>
            <a:ext cx="1874520" cy="457200"/>
          </a:xfrm>
          <a:prstGeom prst="rect">
            <a:avLst/>
          </a:prstGeom>
          <a:noFill/>
          <a:ln/>
        </p:spPr>
        <p:txBody>
          <a:bodyPr wrap="square" lIns="0" tIns="0" rIns="0" bIns="0" rtlCol="0" anchor="ctr"/>
          <a:lstStyle/>
          <a:p>
            <a:pPr marL="0" indent="0">
              <a:buNone/>
            </a:pPr>
            <a:r>
              <a:rPr lang="en-US" sz="1400" b="1" cap="small" dirty="0">
                <a:solidFill>
                  <a:srgbClr val="1B2740"/>
                </a:solidFill>
                <a:latin typeface="Aptos" panose="020B0004020202020204" pitchFamily="34" charset="0"/>
                <a:ea typeface="Calibri" pitchFamily="34" charset="-122"/>
                <a:cs typeface="Arial" panose="020B0604020202020204" pitchFamily="34" charset="0"/>
              </a:rPr>
              <a:t>Référentiels métier</a:t>
            </a:r>
            <a:endParaRPr lang="en-US" sz="1400" b="1" cap="small" dirty="0">
              <a:latin typeface="Aptos" panose="020B0004020202020204" pitchFamily="34" charset="0"/>
              <a:cs typeface="Arial" panose="020B0604020202020204" pitchFamily="34" charset="0"/>
            </a:endParaRPr>
          </a:p>
        </p:txBody>
      </p:sp>
      <p:sp>
        <p:nvSpPr>
          <p:cNvPr id="14" name="Shape 12"/>
          <p:cNvSpPr/>
          <p:nvPr/>
        </p:nvSpPr>
        <p:spPr>
          <a:xfrm>
            <a:off x="7223760" y="2788920"/>
            <a:ext cx="2148840" cy="1051560"/>
          </a:xfrm>
          <a:prstGeom prst="roundRect">
            <a:avLst>
              <a:gd name="adj" fmla="val 6957"/>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15" name="Text 13"/>
          <p:cNvSpPr/>
          <p:nvPr/>
        </p:nvSpPr>
        <p:spPr>
          <a:xfrm>
            <a:off x="7360920" y="2898648"/>
            <a:ext cx="1874520" cy="36576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alibri" pitchFamily="34" charset="-122"/>
                <a:cs typeface="Arial" panose="020B0604020202020204" pitchFamily="34" charset="0"/>
              </a:rPr>
              <a:t>Web</a:t>
            </a:r>
            <a:endParaRPr lang="en-US" sz="1600" dirty="0">
              <a:latin typeface="Aptos" panose="020B0004020202020204" pitchFamily="34" charset="0"/>
              <a:cs typeface="Arial" panose="020B0604020202020204" pitchFamily="34" charset="0"/>
            </a:endParaRPr>
          </a:p>
        </p:txBody>
      </p:sp>
      <p:sp>
        <p:nvSpPr>
          <p:cNvPr id="16" name="Text 14"/>
          <p:cNvSpPr/>
          <p:nvPr/>
        </p:nvSpPr>
        <p:spPr>
          <a:xfrm>
            <a:off x="7360920" y="3319272"/>
            <a:ext cx="1874520" cy="457200"/>
          </a:xfrm>
          <a:prstGeom prst="rect">
            <a:avLst/>
          </a:prstGeom>
          <a:noFill/>
          <a:ln/>
        </p:spPr>
        <p:txBody>
          <a:bodyPr wrap="square" lIns="0" tIns="0" rIns="0" bIns="0" rtlCol="0" anchor="ctr"/>
          <a:lstStyle/>
          <a:p>
            <a:pPr marL="0" indent="0">
              <a:buNone/>
            </a:pPr>
            <a:r>
              <a:rPr lang="en-US" sz="1400" b="1" cap="small" dirty="0">
                <a:solidFill>
                  <a:srgbClr val="1B2740"/>
                </a:solidFill>
                <a:latin typeface="Aptos" panose="020B0004020202020204" pitchFamily="34" charset="0"/>
                <a:ea typeface="Calibri" pitchFamily="34" charset="-122"/>
                <a:cs typeface="Arial" panose="020B0604020202020204" pitchFamily="34" charset="0"/>
              </a:rPr>
              <a:t>Catalogue de livres</a:t>
            </a:r>
            <a:endParaRPr lang="en-US" sz="1400" b="1" cap="small" dirty="0">
              <a:latin typeface="Aptos" panose="020B0004020202020204" pitchFamily="34" charset="0"/>
              <a:cs typeface="Arial" panose="020B0604020202020204" pitchFamily="34" charset="0"/>
            </a:endParaRPr>
          </a:p>
        </p:txBody>
      </p:sp>
      <p:sp>
        <p:nvSpPr>
          <p:cNvPr id="17" name="Shape 15"/>
          <p:cNvSpPr/>
          <p:nvPr/>
        </p:nvSpPr>
        <p:spPr>
          <a:xfrm>
            <a:off x="9555480" y="2788920"/>
            <a:ext cx="2148840" cy="1051560"/>
          </a:xfrm>
          <a:prstGeom prst="roundRect">
            <a:avLst>
              <a:gd name="adj" fmla="val 6957"/>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18" name="Text 16"/>
          <p:cNvSpPr/>
          <p:nvPr/>
        </p:nvSpPr>
        <p:spPr>
          <a:xfrm>
            <a:off x="9692640" y="2898648"/>
            <a:ext cx="1874520" cy="36576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alibri" pitchFamily="34" charset="-122"/>
                <a:cs typeface="Arial" panose="020B0604020202020204" pitchFamily="34" charset="0"/>
              </a:rPr>
              <a:t>API</a:t>
            </a:r>
            <a:endParaRPr lang="en-US" sz="1600" dirty="0">
              <a:latin typeface="Aptos" panose="020B0004020202020204" pitchFamily="34" charset="0"/>
              <a:cs typeface="Arial" panose="020B0604020202020204" pitchFamily="34" charset="0"/>
            </a:endParaRPr>
          </a:p>
        </p:txBody>
      </p:sp>
      <p:sp>
        <p:nvSpPr>
          <p:cNvPr id="19" name="Text 17"/>
          <p:cNvSpPr/>
          <p:nvPr/>
        </p:nvSpPr>
        <p:spPr>
          <a:xfrm>
            <a:off x="9692640" y="3319272"/>
            <a:ext cx="1874520" cy="457200"/>
          </a:xfrm>
          <a:prstGeom prst="rect">
            <a:avLst/>
          </a:prstGeom>
          <a:noFill/>
          <a:ln/>
        </p:spPr>
        <p:txBody>
          <a:bodyPr wrap="square" lIns="0" tIns="0" rIns="0" bIns="0" rtlCol="0" anchor="ctr"/>
          <a:lstStyle/>
          <a:p>
            <a:pPr marL="0" indent="0">
              <a:buNone/>
            </a:pPr>
            <a:r>
              <a:rPr lang="en-US" sz="1400" b="1" cap="small" dirty="0">
                <a:solidFill>
                  <a:srgbClr val="1B2740"/>
                </a:solidFill>
                <a:latin typeface="Aptos" panose="020B0004020202020204" pitchFamily="34" charset="0"/>
                <a:ea typeface="Calibri" pitchFamily="34" charset="-122"/>
                <a:cs typeface="Arial" panose="020B0604020202020204" pitchFamily="34" charset="0"/>
              </a:rPr>
              <a:t>Taux de change</a:t>
            </a:r>
            <a:endParaRPr lang="en-US" sz="1400" b="1" cap="small" dirty="0">
              <a:latin typeface="Aptos" panose="020B0004020202020204" pitchFamily="34" charset="0"/>
              <a:cs typeface="Arial" panose="020B0604020202020204" pitchFamily="34" charset="0"/>
            </a:endParaRPr>
          </a:p>
        </p:txBody>
      </p:sp>
      <p:sp>
        <p:nvSpPr>
          <p:cNvPr id="20" name="Shape 18"/>
          <p:cNvSpPr/>
          <p:nvPr/>
        </p:nvSpPr>
        <p:spPr>
          <a:xfrm>
            <a:off x="548640" y="3977640"/>
            <a:ext cx="11064240" cy="1965960"/>
          </a:xfrm>
          <a:prstGeom prst="roundRect">
            <a:avLst>
              <a:gd name="adj" fmla="val 4651"/>
            </a:avLst>
          </a:prstGeom>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21" name="Text 19"/>
          <p:cNvSpPr/>
          <p:nvPr/>
        </p:nvSpPr>
        <p:spPr>
          <a:xfrm>
            <a:off x="914400" y="4206240"/>
            <a:ext cx="3657600" cy="320040"/>
          </a:xfrm>
          <a:prstGeom prst="rect">
            <a:avLst/>
          </a:prstGeom>
          <a:noFill/>
          <a:ln/>
        </p:spPr>
        <p:txBody>
          <a:bodyPr wrap="square" lIns="0" tIns="0" rIns="0" bIns="0" rtlCol="0" anchor="ctr"/>
          <a:lstStyle/>
          <a:p>
            <a:pPr marL="0" indent="0">
              <a:buNone/>
            </a:pPr>
            <a:r>
              <a:rPr lang="en-US" sz="1600" b="1" kern="0" cap="small" spc="100" dirty="0">
                <a:solidFill>
                  <a:srgbClr val="E8452F"/>
                </a:solidFill>
                <a:latin typeface="Aptos" panose="020B0004020202020204" pitchFamily="34" charset="0"/>
                <a:ea typeface="Calibri" pitchFamily="34" charset="-122"/>
                <a:cs typeface="Arial" panose="020B0604020202020204" pitchFamily="34" charset="0"/>
              </a:rPr>
              <a:t>Objectif</a:t>
            </a:r>
            <a:endParaRPr lang="en-US" sz="1200" cap="small" dirty="0">
              <a:latin typeface="Aptos" panose="020B0004020202020204" pitchFamily="34" charset="0"/>
              <a:cs typeface="Arial" panose="020B0604020202020204" pitchFamily="34" charset="0"/>
            </a:endParaRPr>
          </a:p>
        </p:txBody>
      </p:sp>
      <p:sp>
        <p:nvSpPr>
          <p:cNvPr id="22" name="Text 20"/>
          <p:cNvSpPr/>
          <p:nvPr/>
        </p:nvSpPr>
        <p:spPr>
          <a:xfrm>
            <a:off x="914400" y="4526280"/>
            <a:ext cx="10332720" cy="1280160"/>
          </a:xfrm>
          <a:prstGeom prst="rect">
            <a:avLst/>
          </a:prstGeom>
          <a:noFill/>
          <a:ln/>
        </p:spPr>
        <p:txBody>
          <a:bodyPr wrap="square" lIns="0" tIns="0" rIns="0" bIns="0" rtlCol="0" anchor="ctr"/>
          <a:lstStyle/>
          <a:p>
            <a:pPr marL="0" indent="0">
              <a:lnSpc>
                <a:spcPct val="130000"/>
              </a:lnSpc>
              <a:buNone/>
            </a:pPr>
            <a:r>
              <a:rPr lang="en-US" sz="1500" dirty="0">
                <a:solidFill>
                  <a:srgbClr val="FFFFFF"/>
                </a:solidFill>
                <a:latin typeface="Aptos" panose="020B0004020202020204" pitchFamily="34" charset="0"/>
                <a:ea typeface="Calibri" pitchFamily="34" charset="-122"/>
                <a:cs typeface="Arial" panose="020B0604020202020204" pitchFamily="34" charset="0"/>
              </a:rPr>
              <a:t>Construire un pipeline qui centralise ces sources, produit un jeu de données final propre (les ventes agrégées par pays), crée une base SQL exploitable, et expose un indicateur métier via une API REST.</a:t>
            </a:r>
            <a:endParaRPr lang="en-US" sz="1500" dirty="0">
              <a:latin typeface="Aptos" panose="020B0004020202020204" pitchFamily="34" charset="0"/>
              <a:cs typeface="Arial" panose="020B0604020202020204" pitchFamily="34" charset="0"/>
            </a:endParaRPr>
          </a:p>
        </p:txBody>
      </p:sp>
      <p:sp>
        <p:nvSpPr>
          <p:cNvPr id="23" name="Text 21"/>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Arial" panose="020B0604020202020204" pitchFamily="34" charset="0"/>
              </a:rPr>
              <a:t>2 / 20</a:t>
            </a:r>
            <a:endParaRPr lang="en-US" sz="1000" dirty="0">
              <a:latin typeface="Aptos" panose="020B00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3</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CAHIER DES CHARGES</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Les 4 livrables attendus</a:t>
            </a:r>
            <a:endParaRPr lang="en-US" sz="2600" dirty="0">
              <a:latin typeface="Aptos" panose="020B0004020202020204" pitchFamily="34" charset="0"/>
            </a:endParaRPr>
          </a:p>
        </p:txBody>
      </p:sp>
      <p:sp>
        <p:nvSpPr>
          <p:cNvPr id="6" name="Shape 4"/>
          <p:cNvSpPr/>
          <p:nvPr/>
        </p:nvSpPr>
        <p:spPr>
          <a:xfrm>
            <a:off x="548640" y="1600200"/>
            <a:ext cx="5349240" cy="1965960"/>
          </a:xfrm>
          <a:prstGeom prst="roundRect">
            <a:avLst>
              <a:gd name="adj" fmla="val 4651"/>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7" name="Shape 5"/>
          <p:cNvSpPr/>
          <p:nvPr/>
        </p:nvSpPr>
        <p:spPr>
          <a:xfrm>
            <a:off x="822960" y="1874520"/>
            <a:ext cx="640080" cy="640080"/>
          </a:xfrm>
          <a:prstGeom prst="roundRect">
            <a:avLst>
              <a:gd name="adj" fmla="val 20000"/>
            </a:avLst>
          </a:prstGeom>
          <a:solidFill>
            <a:srgbClr val="1B2740"/>
          </a:solidFill>
          <a:ln/>
        </p:spPr>
        <p:txBody>
          <a:bodyPr/>
          <a:lstStyle/>
          <a:p>
            <a:endParaRPr lang="fr-FR">
              <a:latin typeface="Aptos" panose="020B0004020202020204" pitchFamily="34" charset="0"/>
            </a:endParaRPr>
          </a:p>
        </p:txBody>
      </p:sp>
      <p:sp>
        <p:nvSpPr>
          <p:cNvPr id="8" name="Text 6"/>
          <p:cNvSpPr/>
          <p:nvPr/>
        </p:nvSpPr>
        <p:spPr>
          <a:xfrm>
            <a:off x="822960" y="1874520"/>
            <a:ext cx="640080" cy="640080"/>
          </a:xfrm>
          <a:prstGeom prst="rect">
            <a:avLst/>
          </a:prstGeom>
          <a:noFill/>
          <a:ln/>
        </p:spPr>
        <p:txBody>
          <a:bodyPr wrap="square" lIns="0" tIns="0" rIns="0" bIns="0" rtlCol="0" anchor="ctr"/>
          <a:lstStyle/>
          <a:p>
            <a:pPr marL="0" indent="0" algn="ctr">
              <a:buNone/>
            </a:pPr>
            <a:r>
              <a:rPr lang="en-US" sz="1800" b="1" dirty="0">
                <a:solidFill>
                  <a:srgbClr val="E8452F"/>
                </a:solidFill>
                <a:latin typeface="Aptos" panose="020B0004020202020204" pitchFamily="34" charset="0"/>
                <a:ea typeface="Calibri" pitchFamily="34" charset="-122"/>
                <a:cs typeface="Calibri" pitchFamily="34" charset="-120"/>
              </a:rPr>
              <a:t>01</a:t>
            </a:r>
            <a:endParaRPr lang="en-US" sz="1800" dirty="0">
              <a:latin typeface="Aptos" panose="020B0004020202020204" pitchFamily="34" charset="0"/>
            </a:endParaRPr>
          </a:p>
        </p:txBody>
      </p:sp>
      <p:sp>
        <p:nvSpPr>
          <p:cNvPr id="9" name="Text 7"/>
          <p:cNvSpPr/>
          <p:nvPr/>
        </p:nvSpPr>
        <p:spPr>
          <a:xfrm>
            <a:off x="1645920" y="1856232"/>
            <a:ext cx="3977640" cy="365760"/>
          </a:xfrm>
          <a:prstGeom prst="rect">
            <a:avLst/>
          </a:prstGeom>
          <a:noFill/>
          <a:ln/>
        </p:spPr>
        <p:txBody>
          <a:bodyPr wrap="square" lIns="0" tIns="0" rIns="0" bIns="0" rtlCol="0" anchor="ctr"/>
          <a:lstStyle/>
          <a:p>
            <a:pPr marL="0" indent="0">
              <a:buNone/>
            </a:pPr>
            <a:r>
              <a:rPr lang="en-US" sz="1600" b="1" dirty="0">
                <a:solidFill>
                  <a:srgbClr val="1B2740"/>
                </a:solidFill>
                <a:latin typeface="Aptos" panose="020B0004020202020204" pitchFamily="34" charset="0"/>
                <a:ea typeface="Calibri" pitchFamily="34" charset="-122"/>
                <a:cs typeface="Calibri" pitchFamily="34" charset="-120"/>
              </a:rPr>
              <a:t>Pipeline Python</a:t>
            </a:r>
            <a:endParaRPr lang="en-US" sz="1600" dirty="0">
              <a:latin typeface="Aptos" panose="020B0004020202020204" pitchFamily="34" charset="0"/>
            </a:endParaRPr>
          </a:p>
        </p:txBody>
      </p:sp>
      <p:sp>
        <p:nvSpPr>
          <p:cNvPr id="10" name="Text 8"/>
          <p:cNvSpPr/>
          <p:nvPr/>
        </p:nvSpPr>
        <p:spPr>
          <a:xfrm>
            <a:off x="1645920" y="2258568"/>
            <a:ext cx="3977640" cy="475840"/>
          </a:xfrm>
          <a:prstGeom prst="rect">
            <a:avLst/>
          </a:prstGeom>
          <a:noFill/>
          <a:ln/>
        </p:spPr>
        <p:txBody>
          <a:bodyPr wrap="square" lIns="0" tIns="0" rIns="0" bIns="0" rtlCol="0" anchor="ctr"/>
          <a:lstStyle/>
          <a:p>
            <a:pPr marL="0" indent="0">
              <a:lnSpc>
                <a:spcPct val="120000"/>
              </a:lnSpc>
              <a:buNone/>
            </a:pPr>
            <a:r>
              <a:rPr lang="en-US" sz="1400" b="1" dirty="0">
                <a:solidFill>
                  <a:srgbClr val="6B7280"/>
                </a:solidFill>
                <a:latin typeface="Aptos" panose="020B0004020202020204" pitchFamily="34" charset="0"/>
                <a:ea typeface="Calibri" pitchFamily="34" charset="-122"/>
                <a:cs typeface="Calibri" pitchFamily="34" charset="-120"/>
              </a:rPr>
              <a:t>extract</a:t>
            </a:r>
            <a:r>
              <a:rPr lang="en-US" sz="1400" dirty="0">
                <a:solidFill>
                  <a:srgbClr val="6B7280"/>
                </a:solidFill>
                <a:latin typeface="Aptos" panose="020B0004020202020204" pitchFamily="34" charset="0"/>
                <a:ea typeface="Calibri" pitchFamily="34" charset="-122"/>
                <a:cs typeface="Calibri" pitchFamily="34" charset="-120"/>
              </a:rPr>
              <a:t>(), </a:t>
            </a:r>
            <a:r>
              <a:rPr lang="en-US" sz="1400" b="1" dirty="0">
                <a:solidFill>
                  <a:srgbClr val="6B7280"/>
                </a:solidFill>
                <a:latin typeface="Aptos" panose="020B0004020202020204" pitchFamily="34" charset="0"/>
                <a:ea typeface="Calibri" pitchFamily="34" charset="-122"/>
                <a:cs typeface="Calibri" pitchFamily="34" charset="-120"/>
              </a:rPr>
              <a:t>transform</a:t>
            </a:r>
            <a:r>
              <a:rPr lang="en-US" sz="1400" dirty="0">
                <a:solidFill>
                  <a:srgbClr val="6B7280"/>
                </a:solidFill>
                <a:latin typeface="Aptos" panose="020B0004020202020204" pitchFamily="34" charset="0"/>
                <a:ea typeface="Calibri" pitchFamily="34" charset="-122"/>
                <a:cs typeface="Calibri" pitchFamily="34" charset="-120"/>
              </a:rPr>
              <a:t>(), </a:t>
            </a:r>
            <a:r>
              <a:rPr lang="en-US" sz="1400" b="1" dirty="0">
                <a:solidFill>
                  <a:srgbClr val="6B7280"/>
                </a:solidFill>
                <a:latin typeface="Aptos" panose="020B0004020202020204" pitchFamily="34" charset="0"/>
                <a:ea typeface="Calibri" pitchFamily="34" charset="-122"/>
                <a:cs typeface="Calibri" pitchFamily="34" charset="-120"/>
              </a:rPr>
              <a:t>load</a:t>
            </a:r>
            <a:r>
              <a:rPr lang="en-US" sz="1400" dirty="0">
                <a:solidFill>
                  <a:srgbClr val="6B7280"/>
                </a:solidFill>
                <a:latin typeface="Aptos" panose="020B0004020202020204" pitchFamily="34" charset="0"/>
                <a:ea typeface="Calibri" pitchFamily="34" charset="-122"/>
                <a:cs typeface="Calibri" pitchFamily="34" charset="-120"/>
              </a:rPr>
              <a:t>()</a:t>
            </a:r>
            <a:br>
              <a:rPr lang="en-US" sz="1400" dirty="0">
                <a:solidFill>
                  <a:srgbClr val="6B7280"/>
                </a:solidFill>
                <a:latin typeface="Aptos" panose="020B0004020202020204" pitchFamily="34" charset="0"/>
                <a:ea typeface="Calibri" pitchFamily="34" charset="-122"/>
                <a:cs typeface="Calibri" pitchFamily="34" charset="-120"/>
              </a:rPr>
            </a:br>
            <a:r>
              <a:rPr lang="en-US" sz="1400" dirty="0">
                <a:solidFill>
                  <a:srgbClr val="6B7280"/>
                </a:solidFill>
                <a:latin typeface="Aptos" panose="020B0004020202020204" pitchFamily="34" charset="0"/>
                <a:ea typeface="Calibri" pitchFamily="34" charset="-122"/>
                <a:cs typeface="Calibri" pitchFamily="34" charset="-120"/>
              </a:rPr>
              <a:t>Orchestration par </a:t>
            </a:r>
            <a:r>
              <a:rPr lang="en-US" sz="1400" u="sng" dirty="0">
                <a:solidFill>
                  <a:srgbClr val="6B7280"/>
                </a:solidFill>
                <a:latin typeface="Aptos" panose="020B0004020202020204" pitchFamily="34" charset="0"/>
                <a:ea typeface="Calibri" pitchFamily="34" charset="-122"/>
                <a:cs typeface="Calibri" pitchFamily="34" charset="-120"/>
              </a:rPr>
              <a:t>main</a:t>
            </a:r>
            <a:r>
              <a:rPr lang="en-US" sz="1400" dirty="0">
                <a:solidFill>
                  <a:srgbClr val="6B7280"/>
                </a:solidFill>
                <a:latin typeface="Aptos" panose="020B0004020202020204" pitchFamily="34" charset="0"/>
                <a:ea typeface="Calibri" pitchFamily="34" charset="-122"/>
                <a:cs typeface="Calibri" pitchFamily="34" charset="-120"/>
              </a:rPr>
              <a:t>()</a:t>
            </a:r>
            <a:endParaRPr lang="en-US" sz="1400" dirty="0">
              <a:latin typeface="Aptos" panose="020B0004020202020204" pitchFamily="34" charset="0"/>
            </a:endParaRPr>
          </a:p>
        </p:txBody>
      </p:sp>
      <p:sp>
        <p:nvSpPr>
          <p:cNvPr id="11" name="Shape 9"/>
          <p:cNvSpPr/>
          <p:nvPr/>
        </p:nvSpPr>
        <p:spPr>
          <a:xfrm>
            <a:off x="6263640" y="1600200"/>
            <a:ext cx="5349240" cy="1965960"/>
          </a:xfrm>
          <a:prstGeom prst="roundRect">
            <a:avLst>
              <a:gd name="adj" fmla="val 4651"/>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12" name="Shape 10"/>
          <p:cNvSpPr/>
          <p:nvPr/>
        </p:nvSpPr>
        <p:spPr>
          <a:xfrm>
            <a:off x="6537960" y="1874520"/>
            <a:ext cx="640080" cy="640080"/>
          </a:xfrm>
          <a:prstGeom prst="roundRect">
            <a:avLst>
              <a:gd name="adj" fmla="val 20000"/>
            </a:avLst>
          </a:prstGeom>
          <a:solidFill>
            <a:srgbClr val="1B2740"/>
          </a:solidFill>
          <a:ln/>
        </p:spPr>
        <p:txBody>
          <a:bodyPr/>
          <a:lstStyle/>
          <a:p>
            <a:endParaRPr lang="fr-FR">
              <a:latin typeface="Aptos" panose="020B0004020202020204" pitchFamily="34" charset="0"/>
            </a:endParaRPr>
          </a:p>
        </p:txBody>
      </p:sp>
      <p:sp>
        <p:nvSpPr>
          <p:cNvPr id="13" name="Text 11"/>
          <p:cNvSpPr/>
          <p:nvPr/>
        </p:nvSpPr>
        <p:spPr>
          <a:xfrm>
            <a:off x="6537960" y="1874520"/>
            <a:ext cx="640080" cy="640080"/>
          </a:xfrm>
          <a:prstGeom prst="rect">
            <a:avLst/>
          </a:prstGeom>
          <a:noFill/>
          <a:ln/>
        </p:spPr>
        <p:txBody>
          <a:bodyPr wrap="square" lIns="0" tIns="0" rIns="0" bIns="0" rtlCol="0" anchor="ctr"/>
          <a:lstStyle/>
          <a:p>
            <a:pPr marL="0" indent="0" algn="ctr">
              <a:buNone/>
            </a:pPr>
            <a:r>
              <a:rPr lang="en-US" sz="1800" b="1" dirty="0">
                <a:solidFill>
                  <a:srgbClr val="E8452F"/>
                </a:solidFill>
                <a:latin typeface="Aptos" panose="020B0004020202020204" pitchFamily="34" charset="0"/>
                <a:ea typeface="Calibri" pitchFamily="34" charset="-122"/>
                <a:cs typeface="Calibri" pitchFamily="34" charset="-120"/>
              </a:rPr>
              <a:t>02</a:t>
            </a:r>
            <a:endParaRPr lang="en-US" sz="1800" dirty="0">
              <a:latin typeface="Aptos" panose="020B0004020202020204" pitchFamily="34" charset="0"/>
            </a:endParaRPr>
          </a:p>
        </p:txBody>
      </p:sp>
      <p:sp>
        <p:nvSpPr>
          <p:cNvPr id="14" name="Text 12"/>
          <p:cNvSpPr/>
          <p:nvPr/>
        </p:nvSpPr>
        <p:spPr>
          <a:xfrm>
            <a:off x="7360920" y="1856232"/>
            <a:ext cx="3977640" cy="365760"/>
          </a:xfrm>
          <a:prstGeom prst="rect">
            <a:avLst/>
          </a:prstGeom>
          <a:noFill/>
          <a:ln/>
        </p:spPr>
        <p:txBody>
          <a:bodyPr wrap="square" lIns="0" tIns="0" rIns="0" bIns="0" rtlCol="0" anchor="ctr"/>
          <a:lstStyle/>
          <a:p>
            <a:pPr marL="0" indent="0">
              <a:buNone/>
            </a:pPr>
            <a:r>
              <a:rPr lang="en-US" sz="1600" b="1" dirty="0">
                <a:solidFill>
                  <a:srgbClr val="1B2740"/>
                </a:solidFill>
                <a:latin typeface="Aptos" panose="020B0004020202020204" pitchFamily="34" charset="0"/>
                <a:ea typeface="Calibri" pitchFamily="34" charset="-122"/>
                <a:cs typeface="Calibri" pitchFamily="34" charset="-120"/>
              </a:rPr>
              <a:t>Base SQL finale</a:t>
            </a:r>
            <a:endParaRPr lang="en-US" sz="1600" dirty="0">
              <a:latin typeface="Aptos" panose="020B0004020202020204" pitchFamily="34" charset="0"/>
            </a:endParaRPr>
          </a:p>
        </p:txBody>
      </p:sp>
      <p:sp>
        <p:nvSpPr>
          <p:cNvPr id="15" name="Text 13"/>
          <p:cNvSpPr/>
          <p:nvPr/>
        </p:nvSpPr>
        <p:spPr>
          <a:xfrm>
            <a:off x="7360920" y="2258568"/>
            <a:ext cx="3977640" cy="475840"/>
          </a:xfrm>
          <a:prstGeom prst="rect">
            <a:avLst/>
          </a:prstGeom>
          <a:noFill/>
          <a:ln/>
        </p:spPr>
        <p:txBody>
          <a:bodyPr wrap="square" lIns="0" tIns="0" rIns="0" bIns="0" rtlCol="0" anchor="ctr"/>
          <a:lstStyle/>
          <a:p>
            <a:pPr marL="0" indent="0">
              <a:lnSpc>
                <a:spcPct val="120000"/>
              </a:lnSpc>
              <a:buNone/>
            </a:pPr>
            <a:r>
              <a:rPr lang="en-US" sz="1400" i="1" dirty="0" err="1">
                <a:solidFill>
                  <a:srgbClr val="6B7280"/>
                </a:solidFill>
                <a:latin typeface="Aptos" panose="020B0004020202020204" pitchFamily="34" charset="0"/>
                <a:ea typeface="Calibri" pitchFamily="34" charset="-122"/>
                <a:cs typeface="Calibri" pitchFamily="34" charset="-120"/>
              </a:rPr>
              <a:t>schema_final.sql</a:t>
            </a:r>
            <a:r>
              <a:rPr lang="en-US" sz="1400" dirty="0">
                <a:solidFill>
                  <a:srgbClr val="6B7280"/>
                </a:solidFill>
                <a:latin typeface="Aptos" panose="020B0004020202020204" pitchFamily="34" charset="0"/>
                <a:ea typeface="Calibri" pitchFamily="34" charset="-122"/>
                <a:cs typeface="Calibri" pitchFamily="34" charset="-120"/>
              </a:rPr>
              <a:t> et </a:t>
            </a:r>
            <a:r>
              <a:rPr lang="en-US" sz="1400" i="1" dirty="0" err="1">
                <a:solidFill>
                  <a:srgbClr val="6B7280"/>
                </a:solidFill>
                <a:latin typeface="Aptos" panose="020B0004020202020204" pitchFamily="34" charset="0"/>
                <a:ea typeface="Calibri" pitchFamily="34" charset="-122"/>
                <a:cs typeface="Calibri" pitchFamily="34" charset="-120"/>
              </a:rPr>
              <a:t>bookworld_final.db</a:t>
            </a:r>
            <a:endParaRPr lang="en-US" sz="1400" i="1" dirty="0">
              <a:solidFill>
                <a:srgbClr val="6B7280"/>
              </a:solidFill>
              <a:latin typeface="Aptos" panose="020B0004020202020204" pitchFamily="34" charset="0"/>
              <a:ea typeface="Calibri" pitchFamily="34" charset="-122"/>
              <a:cs typeface="Calibri" pitchFamily="34" charset="-120"/>
            </a:endParaRPr>
          </a:p>
          <a:p>
            <a:pPr marL="0" indent="0">
              <a:lnSpc>
                <a:spcPct val="120000"/>
              </a:lnSpc>
              <a:buNone/>
            </a:pPr>
            <a:r>
              <a:rPr lang="en-US" sz="1400" dirty="0">
                <a:solidFill>
                  <a:srgbClr val="6B7280"/>
                </a:solidFill>
                <a:latin typeface="Aptos" panose="020B0004020202020204" pitchFamily="34" charset="0"/>
                <a:ea typeface="Calibri" pitchFamily="34" charset="-122"/>
                <a:cs typeface="Calibri" pitchFamily="34" charset="-120"/>
              </a:rPr>
              <a:t>Data </a:t>
            </a:r>
            <a:r>
              <a:rPr lang="en-US" sz="1400" dirty="0" err="1">
                <a:solidFill>
                  <a:srgbClr val="6B7280"/>
                </a:solidFill>
                <a:latin typeface="Aptos" panose="020B0004020202020204" pitchFamily="34" charset="0"/>
                <a:ea typeface="Calibri" pitchFamily="34" charset="-122"/>
                <a:cs typeface="Calibri" pitchFamily="34" charset="-120"/>
              </a:rPr>
              <a:t>conforme</a:t>
            </a:r>
            <a:r>
              <a:rPr lang="en-US" sz="1400" dirty="0">
                <a:solidFill>
                  <a:srgbClr val="6B7280"/>
                </a:solidFill>
                <a:latin typeface="Aptos" panose="020B0004020202020204" pitchFamily="34" charset="0"/>
                <a:ea typeface="Calibri" pitchFamily="34" charset="-122"/>
                <a:cs typeface="Calibri" pitchFamily="34" charset="-120"/>
              </a:rPr>
              <a:t> RGPD</a:t>
            </a:r>
            <a:endParaRPr lang="en-US" sz="1400" dirty="0">
              <a:latin typeface="Aptos" panose="020B0004020202020204" pitchFamily="34" charset="0"/>
            </a:endParaRPr>
          </a:p>
        </p:txBody>
      </p:sp>
      <p:sp>
        <p:nvSpPr>
          <p:cNvPr id="16" name="Shape 14"/>
          <p:cNvSpPr/>
          <p:nvPr/>
        </p:nvSpPr>
        <p:spPr>
          <a:xfrm>
            <a:off x="548640" y="3886200"/>
            <a:ext cx="5349240" cy="1965960"/>
          </a:xfrm>
          <a:prstGeom prst="roundRect">
            <a:avLst>
              <a:gd name="adj" fmla="val 4651"/>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17" name="Shape 15"/>
          <p:cNvSpPr/>
          <p:nvPr/>
        </p:nvSpPr>
        <p:spPr>
          <a:xfrm>
            <a:off x="822960" y="4160520"/>
            <a:ext cx="640080" cy="640080"/>
          </a:xfrm>
          <a:prstGeom prst="roundRect">
            <a:avLst>
              <a:gd name="adj" fmla="val 20000"/>
            </a:avLst>
          </a:prstGeom>
          <a:solidFill>
            <a:srgbClr val="1B2740"/>
          </a:solidFill>
          <a:ln/>
        </p:spPr>
        <p:txBody>
          <a:bodyPr/>
          <a:lstStyle/>
          <a:p>
            <a:endParaRPr lang="fr-FR">
              <a:latin typeface="Aptos" panose="020B0004020202020204" pitchFamily="34" charset="0"/>
            </a:endParaRPr>
          </a:p>
        </p:txBody>
      </p:sp>
      <p:sp>
        <p:nvSpPr>
          <p:cNvPr id="18" name="Text 16"/>
          <p:cNvSpPr/>
          <p:nvPr/>
        </p:nvSpPr>
        <p:spPr>
          <a:xfrm>
            <a:off x="822960" y="4160520"/>
            <a:ext cx="640080" cy="640080"/>
          </a:xfrm>
          <a:prstGeom prst="rect">
            <a:avLst/>
          </a:prstGeom>
          <a:noFill/>
          <a:ln/>
        </p:spPr>
        <p:txBody>
          <a:bodyPr wrap="square" lIns="0" tIns="0" rIns="0" bIns="0" rtlCol="0" anchor="ctr"/>
          <a:lstStyle/>
          <a:p>
            <a:pPr marL="0" indent="0" algn="ctr">
              <a:buNone/>
            </a:pPr>
            <a:r>
              <a:rPr lang="en-US" sz="1800" b="1" dirty="0">
                <a:solidFill>
                  <a:srgbClr val="E8452F"/>
                </a:solidFill>
                <a:latin typeface="Aptos" panose="020B0004020202020204" pitchFamily="34" charset="0"/>
                <a:ea typeface="Calibri" pitchFamily="34" charset="-122"/>
                <a:cs typeface="Calibri" pitchFamily="34" charset="-120"/>
              </a:rPr>
              <a:t>03</a:t>
            </a:r>
            <a:endParaRPr lang="en-US" sz="1800" dirty="0">
              <a:latin typeface="Aptos" panose="020B0004020202020204" pitchFamily="34" charset="0"/>
            </a:endParaRPr>
          </a:p>
        </p:txBody>
      </p:sp>
      <p:sp>
        <p:nvSpPr>
          <p:cNvPr id="19" name="Text 17"/>
          <p:cNvSpPr/>
          <p:nvPr/>
        </p:nvSpPr>
        <p:spPr>
          <a:xfrm>
            <a:off x="1645920" y="4142232"/>
            <a:ext cx="3977640" cy="365760"/>
          </a:xfrm>
          <a:prstGeom prst="rect">
            <a:avLst/>
          </a:prstGeom>
          <a:noFill/>
          <a:ln/>
        </p:spPr>
        <p:txBody>
          <a:bodyPr wrap="square" lIns="0" tIns="0" rIns="0" bIns="0" rtlCol="0" anchor="ctr"/>
          <a:lstStyle/>
          <a:p>
            <a:pPr marL="0" indent="0">
              <a:buNone/>
            </a:pPr>
            <a:r>
              <a:rPr lang="en-US" sz="1600" b="1" dirty="0">
                <a:solidFill>
                  <a:srgbClr val="1B2740"/>
                </a:solidFill>
                <a:latin typeface="Aptos" panose="020B0004020202020204" pitchFamily="34" charset="0"/>
                <a:ea typeface="Calibri" pitchFamily="34" charset="-122"/>
                <a:cs typeface="Calibri" pitchFamily="34" charset="-120"/>
              </a:rPr>
              <a:t>API REST</a:t>
            </a:r>
            <a:endParaRPr lang="en-US" sz="1600" dirty="0">
              <a:latin typeface="Aptos" panose="020B0004020202020204" pitchFamily="34" charset="0"/>
            </a:endParaRPr>
          </a:p>
        </p:txBody>
      </p:sp>
      <p:sp>
        <p:nvSpPr>
          <p:cNvPr id="20" name="Text 18"/>
          <p:cNvSpPr/>
          <p:nvPr/>
        </p:nvSpPr>
        <p:spPr>
          <a:xfrm>
            <a:off x="1645920" y="4544568"/>
            <a:ext cx="3977640" cy="47584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Aptos" panose="020B0004020202020204" pitchFamily="34" charset="0"/>
                <a:ea typeface="Calibri" pitchFamily="34" charset="-122"/>
                <a:cs typeface="Calibri" pitchFamily="34" charset="-120"/>
              </a:rPr>
              <a:t>api.py — endpoints </a:t>
            </a:r>
            <a:r>
              <a:rPr lang="en-US" sz="1400" b="1" dirty="0">
                <a:solidFill>
                  <a:srgbClr val="6B7280"/>
                </a:solidFill>
                <a:latin typeface="Aptos" panose="020B0004020202020204" pitchFamily="34" charset="0"/>
                <a:ea typeface="Calibri" pitchFamily="34" charset="-122"/>
                <a:cs typeface="Calibri" pitchFamily="34" charset="-120"/>
              </a:rPr>
              <a:t>/health</a:t>
            </a:r>
            <a:r>
              <a:rPr lang="en-US" sz="1400" dirty="0">
                <a:solidFill>
                  <a:srgbClr val="6B7280"/>
                </a:solidFill>
                <a:latin typeface="Aptos" panose="020B0004020202020204" pitchFamily="34" charset="0"/>
                <a:ea typeface="Calibri" pitchFamily="34" charset="-122"/>
                <a:cs typeface="Calibri" pitchFamily="34" charset="-120"/>
              </a:rPr>
              <a:t> et </a:t>
            </a:r>
            <a:r>
              <a:rPr lang="en-US" sz="1400" b="1" dirty="0">
                <a:solidFill>
                  <a:srgbClr val="6B7280"/>
                </a:solidFill>
                <a:latin typeface="Aptos" panose="020B0004020202020204" pitchFamily="34" charset="0"/>
                <a:ea typeface="Calibri" pitchFamily="34" charset="-122"/>
                <a:cs typeface="Calibri" pitchFamily="34" charset="-120"/>
              </a:rPr>
              <a:t>/sales-by-country</a:t>
            </a:r>
            <a:r>
              <a:rPr lang="en-US" sz="1400" dirty="0">
                <a:solidFill>
                  <a:srgbClr val="6B7280"/>
                </a:solidFill>
                <a:latin typeface="Aptos" panose="020B0004020202020204" pitchFamily="34" charset="0"/>
                <a:ea typeface="Calibri" pitchFamily="34" charset="-122"/>
                <a:cs typeface="Calibri" pitchFamily="34" charset="-120"/>
              </a:rPr>
              <a:t>, </a:t>
            </a:r>
            <a:r>
              <a:rPr lang="en-US" sz="1400" dirty="0" err="1">
                <a:solidFill>
                  <a:srgbClr val="6B7280"/>
                </a:solidFill>
                <a:latin typeface="Aptos" panose="020B0004020202020204" pitchFamily="34" charset="0"/>
                <a:ea typeface="Calibri" pitchFamily="34" charset="-122"/>
                <a:cs typeface="Calibri" pitchFamily="34" charset="-120"/>
              </a:rPr>
              <a:t>authentification</a:t>
            </a:r>
            <a:r>
              <a:rPr lang="en-US" sz="1400" dirty="0">
                <a:solidFill>
                  <a:srgbClr val="6B7280"/>
                </a:solidFill>
                <a:latin typeface="Aptos" panose="020B0004020202020204" pitchFamily="34" charset="0"/>
                <a:ea typeface="Calibri" pitchFamily="34" charset="-122"/>
                <a:cs typeface="Calibri" pitchFamily="34" charset="-120"/>
              </a:rPr>
              <a:t> par token</a:t>
            </a:r>
            <a:endParaRPr lang="en-US" sz="1400" dirty="0">
              <a:latin typeface="Aptos" panose="020B0004020202020204" pitchFamily="34" charset="0"/>
            </a:endParaRPr>
          </a:p>
        </p:txBody>
      </p:sp>
      <p:sp>
        <p:nvSpPr>
          <p:cNvPr id="21" name="Shape 19"/>
          <p:cNvSpPr/>
          <p:nvPr/>
        </p:nvSpPr>
        <p:spPr>
          <a:xfrm>
            <a:off x="6263640" y="3886200"/>
            <a:ext cx="5349240" cy="1965960"/>
          </a:xfrm>
          <a:prstGeom prst="roundRect">
            <a:avLst>
              <a:gd name="adj" fmla="val 4651"/>
            </a:avLst>
          </a:prstGeom>
          <a:solidFill>
            <a:srgbClr val="F2F1EF"/>
          </a:solidFill>
          <a:ln>
            <a:solidFill>
              <a:srgbClr val="1B2740"/>
            </a:solidFill>
          </a:ln>
        </p:spPr>
        <p:txBody>
          <a:bodyPr/>
          <a:lstStyle/>
          <a:p>
            <a:endParaRPr lang="fr-FR" dirty="0">
              <a:latin typeface="Aptos" panose="020B0004020202020204" pitchFamily="34" charset="0"/>
            </a:endParaRPr>
          </a:p>
        </p:txBody>
      </p:sp>
      <p:sp>
        <p:nvSpPr>
          <p:cNvPr id="22" name="Shape 20"/>
          <p:cNvSpPr/>
          <p:nvPr/>
        </p:nvSpPr>
        <p:spPr>
          <a:xfrm>
            <a:off x="6537960" y="4160520"/>
            <a:ext cx="640080" cy="640080"/>
          </a:xfrm>
          <a:prstGeom prst="roundRect">
            <a:avLst>
              <a:gd name="adj" fmla="val 20000"/>
            </a:avLst>
          </a:prstGeom>
          <a:solidFill>
            <a:srgbClr val="1B2740"/>
          </a:solidFill>
          <a:ln/>
        </p:spPr>
        <p:txBody>
          <a:bodyPr/>
          <a:lstStyle/>
          <a:p>
            <a:endParaRPr lang="fr-FR">
              <a:latin typeface="Aptos" panose="020B0004020202020204" pitchFamily="34" charset="0"/>
            </a:endParaRPr>
          </a:p>
        </p:txBody>
      </p:sp>
      <p:sp>
        <p:nvSpPr>
          <p:cNvPr id="23" name="Text 21"/>
          <p:cNvSpPr/>
          <p:nvPr/>
        </p:nvSpPr>
        <p:spPr>
          <a:xfrm>
            <a:off x="6537960" y="4160520"/>
            <a:ext cx="640080" cy="640080"/>
          </a:xfrm>
          <a:prstGeom prst="rect">
            <a:avLst/>
          </a:prstGeom>
          <a:noFill/>
          <a:ln/>
        </p:spPr>
        <p:txBody>
          <a:bodyPr wrap="square" lIns="0" tIns="0" rIns="0" bIns="0" rtlCol="0" anchor="ctr"/>
          <a:lstStyle/>
          <a:p>
            <a:pPr marL="0" indent="0" algn="ctr">
              <a:buNone/>
            </a:pPr>
            <a:r>
              <a:rPr lang="en-US" sz="1800" b="1" dirty="0">
                <a:solidFill>
                  <a:srgbClr val="E8452F"/>
                </a:solidFill>
                <a:latin typeface="Aptos" panose="020B0004020202020204" pitchFamily="34" charset="0"/>
                <a:ea typeface="Calibri" pitchFamily="34" charset="-122"/>
                <a:cs typeface="Calibri" pitchFamily="34" charset="-120"/>
              </a:rPr>
              <a:t>04</a:t>
            </a:r>
            <a:endParaRPr lang="en-US" sz="1800" dirty="0">
              <a:latin typeface="Aptos" panose="020B0004020202020204" pitchFamily="34" charset="0"/>
            </a:endParaRPr>
          </a:p>
        </p:txBody>
      </p:sp>
      <p:sp>
        <p:nvSpPr>
          <p:cNvPr id="24" name="Text 22"/>
          <p:cNvSpPr/>
          <p:nvPr/>
        </p:nvSpPr>
        <p:spPr>
          <a:xfrm>
            <a:off x="7360920" y="4142232"/>
            <a:ext cx="3977640" cy="365760"/>
          </a:xfrm>
          <a:prstGeom prst="rect">
            <a:avLst/>
          </a:prstGeom>
          <a:noFill/>
          <a:ln/>
        </p:spPr>
        <p:txBody>
          <a:bodyPr wrap="square" lIns="0" tIns="0" rIns="0" bIns="0" rtlCol="0" anchor="ctr"/>
          <a:lstStyle/>
          <a:p>
            <a:pPr marL="0" indent="0">
              <a:buNone/>
            </a:pPr>
            <a:r>
              <a:rPr lang="en-US" sz="1600" b="1" dirty="0">
                <a:solidFill>
                  <a:srgbClr val="1B2740"/>
                </a:solidFill>
                <a:latin typeface="Aptos" panose="020B0004020202020204" pitchFamily="34" charset="0"/>
                <a:ea typeface="Calibri" pitchFamily="34" charset="-122"/>
                <a:cs typeface="Calibri" pitchFamily="34" charset="-120"/>
              </a:rPr>
              <a:t>Documentation</a:t>
            </a:r>
            <a:endParaRPr lang="en-US" sz="1600" dirty="0">
              <a:latin typeface="Aptos" panose="020B0004020202020204" pitchFamily="34" charset="0"/>
            </a:endParaRPr>
          </a:p>
        </p:txBody>
      </p:sp>
      <p:sp>
        <p:nvSpPr>
          <p:cNvPr id="25" name="Text 23"/>
          <p:cNvSpPr/>
          <p:nvPr/>
        </p:nvSpPr>
        <p:spPr>
          <a:xfrm>
            <a:off x="7360920" y="4544568"/>
            <a:ext cx="3977640" cy="47584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Aptos" panose="020B0004020202020204" pitchFamily="34" charset="0"/>
                <a:ea typeface="Calibri" pitchFamily="34" charset="-122"/>
                <a:cs typeface="Calibri" pitchFamily="34" charset="-120"/>
              </a:rPr>
              <a:t>README.md, queries.sql, rapport final (.docx)</a:t>
            </a:r>
          </a:p>
          <a:p>
            <a:pPr marL="0" indent="0">
              <a:lnSpc>
                <a:spcPct val="120000"/>
              </a:lnSpc>
              <a:buNone/>
            </a:pPr>
            <a:endParaRPr lang="en-US" sz="1400" dirty="0">
              <a:latin typeface="Aptos" panose="020B0004020202020204" pitchFamily="34" charset="0"/>
            </a:endParaRPr>
          </a:p>
        </p:txBody>
      </p:sp>
      <p:sp>
        <p:nvSpPr>
          <p:cNvPr id="26" name="Text 2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3 / 20</a:t>
            </a:r>
            <a:endParaRPr lang="en-US" sz="1000" dirty="0">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5" name="Shape 18">
            <a:extLst>
              <a:ext uri="{FF2B5EF4-FFF2-40B4-BE49-F238E27FC236}">
                <a16:creationId xmlns:a16="http://schemas.microsoft.com/office/drawing/2014/main" id="{6482F621-7089-4F7A-65AF-B4646EA9A69A}"/>
              </a:ext>
            </a:extLst>
          </p:cNvPr>
          <p:cNvSpPr/>
          <p:nvPr/>
        </p:nvSpPr>
        <p:spPr>
          <a:xfrm>
            <a:off x="548640" y="3977640"/>
            <a:ext cx="11064240" cy="1965960"/>
          </a:xfrm>
          <a:prstGeom prst="roundRect">
            <a:avLst>
              <a:gd name="adj" fmla="val 4651"/>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4</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VUE D'ENSEMBLE</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Architecture du pipeline</a:t>
            </a:r>
            <a:endParaRPr lang="en-US" sz="2600" dirty="0">
              <a:latin typeface="Aptos" panose="020B0004020202020204" pitchFamily="34" charset="0"/>
            </a:endParaRPr>
          </a:p>
        </p:txBody>
      </p:sp>
      <p:sp>
        <p:nvSpPr>
          <p:cNvPr id="6" name="Shape 4"/>
          <p:cNvSpPr/>
          <p:nvPr/>
        </p:nvSpPr>
        <p:spPr>
          <a:xfrm>
            <a:off x="1295248" y="1828800"/>
            <a:ext cx="2743200" cy="1371600"/>
          </a:xfrm>
          <a:prstGeom prst="roundRect">
            <a:avLst>
              <a:gd name="adj" fmla="val 6667"/>
            </a:avLst>
          </a:prstGeom>
          <a:solidFill>
            <a:srgbClr val="1B2740"/>
          </a:solidFill>
          <a:ln/>
        </p:spPr>
        <p:txBody>
          <a:bodyPr/>
          <a:lstStyle/>
          <a:p>
            <a:endParaRPr lang="fr-FR">
              <a:latin typeface="Aptos" panose="020B0004020202020204" pitchFamily="34" charset="0"/>
            </a:endParaRPr>
          </a:p>
        </p:txBody>
      </p:sp>
      <p:sp>
        <p:nvSpPr>
          <p:cNvPr id="7" name="Text 5"/>
          <p:cNvSpPr/>
          <p:nvPr/>
        </p:nvSpPr>
        <p:spPr>
          <a:xfrm>
            <a:off x="1295248" y="2011680"/>
            <a:ext cx="2743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onsolas" pitchFamily="34" charset="-122"/>
                <a:cs typeface="Consolas" pitchFamily="34" charset="-120"/>
              </a:rPr>
              <a:t>extract()</a:t>
            </a:r>
            <a:endParaRPr lang="en-US" sz="2000" dirty="0">
              <a:latin typeface="Aptos" panose="020B0004020202020204" pitchFamily="34" charset="0"/>
            </a:endParaRPr>
          </a:p>
        </p:txBody>
      </p:sp>
      <p:sp>
        <p:nvSpPr>
          <p:cNvPr id="8" name="Text 6"/>
          <p:cNvSpPr/>
          <p:nvPr/>
        </p:nvSpPr>
        <p:spPr>
          <a:xfrm>
            <a:off x="1478128" y="2514600"/>
            <a:ext cx="2377440" cy="594360"/>
          </a:xfrm>
          <a:prstGeom prst="rect">
            <a:avLst/>
          </a:prstGeom>
          <a:noFill/>
          <a:ln/>
        </p:spPr>
        <p:txBody>
          <a:bodyPr wrap="square" lIns="0" tIns="0" rIns="0" bIns="0" rtlCol="0" anchor="ctr"/>
          <a:lstStyle/>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Collecte les 4 sources</a:t>
            </a:r>
            <a:endParaRPr lang="en-US" sz="1400" dirty="0">
              <a:latin typeface="Aptos" panose="020B0004020202020204" pitchFamily="34" charset="0"/>
            </a:endParaRPr>
          </a:p>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 dict de DataFrames</a:t>
            </a:r>
            <a:endParaRPr lang="en-US" sz="1400" dirty="0">
              <a:latin typeface="Aptos" panose="020B0004020202020204" pitchFamily="34" charset="0"/>
            </a:endParaRPr>
          </a:p>
        </p:txBody>
      </p:sp>
      <p:sp>
        <p:nvSpPr>
          <p:cNvPr id="9" name="Text 7"/>
          <p:cNvSpPr/>
          <p:nvPr/>
        </p:nvSpPr>
        <p:spPr>
          <a:xfrm>
            <a:off x="4038448" y="2148840"/>
            <a:ext cx="685800" cy="731520"/>
          </a:xfrm>
          <a:prstGeom prst="rect">
            <a:avLst/>
          </a:prstGeom>
          <a:noFill/>
          <a:ln/>
        </p:spPr>
        <p:txBody>
          <a:bodyPr wrap="square" lIns="0" tIns="0" rIns="0" bIns="0" rtlCol="0" anchor="ctr"/>
          <a:lstStyle/>
          <a:p>
            <a:pPr marL="0" indent="0" algn="ctr">
              <a:buNone/>
            </a:pPr>
            <a:r>
              <a:rPr lang="en-US" sz="2800" b="1" dirty="0">
                <a:solidFill>
                  <a:srgbClr val="1B2740"/>
                </a:solidFill>
                <a:latin typeface="Aptos" panose="020B0004020202020204" pitchFamily="34" charset="0"/>
                <a:ea typeface="Calibri" pitchFamily="34" charset="-122"/>
                <a:cs typeface="Calibri" pitchFamily="34" charset="-120"/>
              </a:rPr>
              <a:t>→</a:t>
            </a:r>
            <a:endParaRPr lang="en-US" sz="2800" dirty="0">
              <a:latin typeface="Aptos" panose="020B0004020202020204" pitchFamily="34" charset="0"/>
            </a:endParaRPr>
          </a:p>
        </p:txBody>
      </p:sp>
      <p:sp>
        <p:nvSpPr>
          <p:cNvPr id="10" name="Shape 8"/>
          <p:cNvSpPr/>
          <p:nvPr/>
        </p:nvSpPr>
        <p:spPr>
          <a:xfrm>
            <a:off x="4724248" y="1828800"/>
            <a:ext cx="2743200" cy="1371600"/>
          </a:xfrm>
          <a:prstGeom prst="roundRect">
            <a:avLst>
              <a:gd name="adj" fmla="val 6667"/>
            </a:avLst>
          </a:prstGeom>
          <a:solidFill>
            <a:srgbClr val="E8452F"/>
          </a:solidFill>
          <a:ln/>
        </p:spPr>
        <p:txBody>
          <a:bodyPr/>
          <a:lstStyle/>
          <a:p>
            <a:endParaRPr lang="fr-FR">
              <a:latin typeface="Aptos" panose="020B0004020202020204" pitchFamily="34" charset="0"/>
            </a:endParaRPr>
          </a:p>
        </p:txBody>
      </p:sp>
      <p:sp>
        <p:nvSpPr>
          <p:cNvPr id="11" name="Text 9"/>
          <p:cNvSpPr/>
          <p:nvPr/>
        </p:nvSpPr>
        <p:spPr>
          <a:xfrm>
            <a:off x="4724248" y="2011680"/>
            <a:ext cx="2743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onsolas" pitchFamily="34" charset="-122"/>
                <a:cs typeface="Consolas" pitchFamily="34" charset="-120"/>
              </a:rPr>
              <a:t>transform()</a:t>
            </a:r>
            <a:endParaRPr lang="en-US" sz="2000" dirty="0">
              <a:latin typeface="Aptos" panose="020B0004020202020204" pitchFamily="34" charset="0"/>
            </a:endParaRPr>
          </a:p>
        </p:txBody>
      </p:sp>
      <p:sp>
        <p:nvSpPr>
          <p:cNvPr id="12" name="Text 10"/>
          <p:cNvSpPr/>
          <p:nvPr/>
        </p:nvSpPr>
        <p:spPr>
          <a:xfrm>
            <a:off x="4907128" y="2514600"/>
            <a:ext cx="2377440" cy="594360"/>
          </a:xfrm>
          <a:prstGeom prst="rect">
            <a:avLst/>
          </a:prstGeom>
          <a:noFill/>
          <a:ln/>
        </p:spPr>
        <p:txBody>
          <a:bodyPr wrap="square" lIns="0" tIns="0" rIns="0" bIns="0" rtlCol="0" anchor="ctr"/>
          <a:lstStyle/>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Nettoie, enrichit,</a:t>
            </a:r>
            <a:endParaRPr lang="en-US" sz="1400" dirty="0">
              <a:latin typeface="Aptos" panose="020B0004020202020204" pitchFamily="34" charset="0"/>
            </a:endParaRPr>
          </a:p>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agrège → sales_by_country</a:t>
            </a:r>
            <a:endParaRPr lang="en-US" sz="1400" dirty="0">
              <a:latin typeface="Aptos" panose="020B0004020202020204" pitchFamily="34" charset="0"/>
            </a:endParaRPr>
          </a:p>
        </p:txBody>
      </p:sp>
      <p:sp>
        <p:nvSpPr>
          <p:cNvPr id="13" name="Text 11"/>
          <p:cNvSpPr/>
          <p:nvPr/>
        </p:nvSpPr>
        <p:spPr>
          <a:xfrm>
            <a:off x="7467448" y="2148840"/>
            <a:ext cx="685800" cy="731520"/>
          </a:xfrm>
          <a:prstGeom prst="rect">
            <a:avLst/>
          </a:prstGeom>
          <a:noFill/>
          <a:ln/>
        </p:spPr>
        <p:txBody>
          <a:bodyPr wrap="square" lIns="0" tIns="0" rIns="0" bIns="0" rtlCol="0" anchor="ctr"/>
          <a:lstStyle/>
          <a:p>
            <a:pPr marL="0" indent="0" algn="ctr">
              <a:buNone/>
            </a:pPr>
            <a:r>
              <a:rPr lang="en-US" sz="2800" b="1" dirty="0">
                <a:solidFill>
                  <a:srgbClr val="1B2740"/>
                </a:solidFill>
                <a:latin typeface="Aptos" panose="020B0004020202020204" pitchFamily="34" charset="0"/>
                <a:ea typeface="Calibri" pitchFamily="34" charset="-122"/>
                <a:cs typeface="Calibri" pitchFamily="34" charset="-120"/>
              </a:rPr>
              <a:t>→</a:t>
            </a:r>
            <a:endParaRPr lang="en-US" sz="2800" dirty="0">
              <a:latin typeface="Aptos" panose="020B0004020202020204" pitchFamily="34" charset="0"/>
            </a:endParaRPr>
          </a:p>
        </p:txBody>
      </p:sp>
      <p:sp>
        <p:nvSpPr>
          <p:cNvPr id="14" name="Shape 12"/>
          <p:cNvSpPr/>
          <p:nvPr/>
        </p:nvSpPr>
        <p:spPr>
          <a:xfrm>
            <a:off x="8153248" y="1828800"/>
            <a:ext cx="2743200" cy="1371600"/>
          </a:xfrm>
          <a:prstGeom prst="roundRect">
            <a:avLst>
              <a:gd name="adj" fmla="val 6667"/>
            </a:avLst>
          </a:prstGeom>
          <a:solidFill>
            <a:srgbClr val="1B2740"/>
          </a:solidFill>
          <a:ln/>
        </p:spPr>
        <p:txBody>
          <a:bodyPr/>
          <a:lstStyle/>
          <a:p>
            <a:endParaRPr lang="fr-FR">
              <a:latin typeface="Aptos" panose="020B0004020202020204" pitchFamily="34" charset="0"/>
            </a:endParaRPr>
          </a:p>
        </p:txBody>
      </p:sp>
      <p:sp>
        <p:nvSpPr>
          <p:cNvPr id="15" name="Text 13"/>
          <p:cNvSpPr/>
          <p:nvPr/>
        </p:nvSpPr>
        <p:spPr>
          <a:xfrm>
            <a:off x="8153248" y="2011680"/>
            <a:ext cx="2743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onsolas" pitchFamily="34" charset="-122"/>
                <a:cs typeface="Consolas" pitchFamily="34" charset="-120"/>
              </a:rPr>
              <a:t>load()</a:t>
            </a:r>
            <a:endParaRPr lang="en-US" sz="2000" dirty="0">
              <a:latin typeface="Aptos" panose="020B0004020202020204" pitchFamily="34" charset="0"/>
            </a:endParaRPr>
          </a:p>
        </p:txBody>
      </p:sp>
      <p:sp>
        <p:nvSpPr>
          <p:cNvPr id="16" name="Text 14"/>
          <p:cNvSpPr/>
          <p:nvPr/>
        </p:nvSpPr>
        <p:spPr>
          <a:xfrm>
            <a:off x="8336128" y="2514600"/>
            <a:ext cx="2377440" cy="594360"/>
          </a:xfrm>
          <a:prstGeom prst="rect">
            <a:avLst/>
          </a:prstGeom>
          <a:noFill/>
          <a:ln/>
        </p:spPr>
        <p:txBody>
          <a:bodyPr wrap="square" lIns="0" tIns="0" rIns="0" bIns="0" rtlCol="0" anchor="ctr"/>
          <a:lstStyle/>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Crée la base finale</a:t>
            </a:r>
            <a:endParaRPr lang="en-US" sz="1400" dirty="0">
              <a:latin typeface="Aptos" panose="020B0004020202020204" pitchFamily="34" charset="0"/>
            </a:endParaRPr>
          </a:p>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et la peuple</a:t>
            </a:r>
            <a:endParaRPr lang="en-US" sz="1400" dirty="0">
              <a:latin typeface="Aptos" panose="020B0004020202020204" pitchFamily="34" charset="0"/>
            </a:endParaRPr>
          </a:p>
        </p:txBody>
      </p:sp>
      <p:sp>
        <p:nvSpPr>
          <p:cNvPr id="17" name="Text 15"/>
          <p:cNvSpPr/>
          <p:nvPr/>
        </p:nvSpPr>
        <p:spPr>
          <a:xfrm>
            <a:off x="548640" y="3520440"/>
            <a:ext cx="1097280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Aptos" panose="020B0004020202020204" pitchFamily="34" charset="0"/>
                <a:ea typeface="Consolas" pitchFamily="34" charset="-122"/>
                <a:cs typeface="Consolas" pitchFamily="34" charset="-120"/>
              </a:rPr>
              <a:t>main() orchestre </a:t>
            </a:r>
            <a:r>
              <a:rPr lang="en-US" sz="1400" i="1" dirty="0">
                <a:solidFill>
                  <a:srgbClr val="6B7280"/>
                </a:solidFill>
                <a:latin typeface="Aptos" panose="020B0004020202020204" pitchFamily="34" charset="0"/>
                <a:ea typeface="Consolas" pitchFamily="34" charset="-122"/>
                <a:cs typeface="Consolas" pitchFamily="34" charset="-120"/>
              </a:rPr>
              <a:t>l'enchaînement</a:t>
            </a:r>
            <a:r>
              <a:rPr lang="en-US" sz="1250" i="1" dirty="0">
                <a:solidFill>
                  <a:srgbClr val="6B7280"/>
                </a:solidFill>
                <a:latin typeface="Aptos" panose="020B0004020202020204" pitchFamily="34" charset="0"/>
                <a:ea typeface="Consolas" pitchFamily="34" charset="-122"/>
                <a:cs typeface="Consolas" pitchFamily="34" charset="-120"/>
              </a:rPr>
              <a:t>, appelé depuis if __name__ == "__main__":</a:t>
            </a:r>
            <a:endParaRPr lang="en-US" sz="1250" dirty="0">
              <a:latin typeface="Aptos" panose="020B0004020202020204" pitchFamily="34" charset="0"/>
            </a:endParaRPr>
          </a:p>
        </p:txBody>
      </p:sp>
      <p:sp>
        <p:nvSpPr>
          <p:cNvPr id="21" name="Text 19"/>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4 / 20</a:t>
            </a:r>
            <a:endParaRPr lang="en-US" sz="1000" dirty="0">
              <a:latin typeface="Aptos" panose="020B0004020202020204" pitchFamily="34" charset="0"/>
            </a:endParaRPr>
          </a:p>
        </p:txBody>
      </p:sp>
      <p:sp>
        <p:nvSpPr>
          <p:cNvPr id="23" name="Text 19">
            <a:extLst>
              <a:ext uri="{FF2B5EF4-FFF2-40B4-BE49-F238E27FC236}">
                <a16:creationId xmlns:a16="http://schemas.microsoft.com/office/drawing/2014/main" id="{327F2C9C-F0F4-71E6-D948-BB11C2B7F76C}"/>
              </a:ext>
            </a:extLst>
          </p:cNvPr>
          <p:cNvSpPr/>
          <p:nvPr/>
        </p:nvSpPr>
        <p:spPr>
          <a:xfrm>
            <a:off x="914400" y="4206240"/>
            <a:ext cx="3657600" cy="320040"/>
          </a:xfrm>
          <a:prstGeom prst="rect">
            <a:avLst/>
          </a:prstGeom>
          <a:noFill/>
          <a:ln/>
        </p:spPr>
        <p:txBody>
          <a:bodyPr wrap="square" lIns="0" tIns="0" rIns="0" bIns="0" rtlCol="0" anchor="ctr"/>
          <a:lstStyle/>
          <a:p>
            <a:r>
              <a:rPr lang="en-US" sz="1600" b="1" dirty="0" err="1">
                <a:solidFill>
                  <a:srgbClr val="E8452F"/>
                </a:solidFill>
                <a:latin typeface="Aptos" panose="020B0004020202020204" pitchFamily="34" charset="0"/>
                <a:ea typeface="Consolas" pitchFamily="34" charset="-122"/>
                <a:cs typeface="Consolas" pitchFamily="34" charset="-120"/>
              </a:rPr>
              <a:t>output_pipeline</a:t>
            </a:r>
            <a:r>
              <a:rPr lang="en-US" sz="1600" b="1" dirty="0">
                <a:solidFill>
                  <a:srgbClr val="E8452F"/>
                </a:solidFill>
                <a:latin typeface="Aptos" panose="020B0004020202020204" pitchFamily="34" charset="0"/>
                <a:ea typeface="Consolas" pitchFamily="34" charset="-122"/>
                <a:cs typeface="Consolas" pitchFamily="34" charset="-120"/>
              </a:rPr>
              <a:t>/</a:t>
            </a:r>
            <a:endParaRPr lang="en-US" sz="1600" dirty="0">
              <a:latin typeface="Aptos" panose="020B0004020202020204" pitchFamily="34" charset="0"/>
            </a:endParaRPr>
          </a:p>
        </p:txBody>
      </p:sp>
      <p:sp>
        <p:nvSpPr>
          <p:cNvPr id="24" name="Text 20">
            <a:extLst>
              <a:ext uri="{FF2B5EF4-FFF2-40B4-BE49-F238E27FC236}">
                <a16:creationId xmlns:a16="http://schemas.microsoft.com/office/drawing/2014/main" id="{355BC740-0276-B4D3-B9BE-44BF75B83EE1}"/>
              </a:ext>
            </a:extLst>
          </p:cNvPr>
          <p:cNvSpPr/>
          <p:nvPr/>
        </p:nvSpPr>
        <p:spPr>
          <a:xfrm>
            <a:off x="914400" y="4526280"/>
            <a:ext cx="10332720" cy="1280160"/>
          </a:xfrm>
          <a:prstGeom prst="rect">
            <a:avLst/>
          </a:prstGeom>
          <a:noFill/>
          <a:ln/>
        </p:spPr>
        <p:txBody>
          <a:bodyPr wrap="square" lIns="0" tIns="0" rIns="0" bIns="0" rtlCol="0" anchor="ctr"/>
          <a:lstStyle/>
          <a:p>
            <a:pPr marL="0" indent="0">
              <a:lnSpc>
                <a:spcPct val="130000"/>
              </a:lnSpc>
              <a:buNone/>
            </a:pPr>
            <a:r>
              <a:rPr lang="fr-FR" sz="1400" dirty="0">
                <a:solidFill>
                  <a:srgbClr val="1B2740"/>
                </a:solidFill>
                <a:latin typeface="Aptos" panose="020B0004020202020204" pitchFamily="34" charset="0"/>
              </a:rPr>
              <a:t>queries.sql  »  généré par </a:t>
            </a:r>
            <a:r>
              <a:rPr lang="fr-FR" sz="1400" dirty="0" err="1">
                <a:solidFill>
                  <a:srgbClr val="1B2740"/>
                </a:solidFill>
                <a:latin typeface="Aptos" panose="020B0004020202020204" pitchFamily="34" charset="0"/>
              </a:rPr>
              <a:t>extract</a:t>
            </a:r>
            <a:r>
              <a:rPr lang="fr-FR" sz="1400" dirty="0">
                <a:solidFill>
                  <a:srgbClr val="1B2740"/>
                </a:solidFill>
                <a:latin typeface="Aptos" panose="020B0004020202020204" pitchFamily="34" charset="0"/>
              </a:rPr>
              <a:t>()</a:t>
            </a:r>
          </a:p>
          <a:p>
            <a:pPr marL="0" indent="0">
              <a:lnSpc>
                <a:spcPct val="130000"/>
              </a:lnSpc>
              <a:buNone/>
            </a:pPr>
            <a:r>
              <a:rPr lang="fr-FR" sz="1400" dirty="0" err="1">
                <a:solidFill>
                  <a:srgbClr val="1B2740"/>
                </a:solidFill>
                <a:latin typeface="Aptos" panose="020B0004020202020204" pitchFamily="34" charset="0"/>
              </a:rPr>
              <a:t>bookworld_final.db</a:t>
            </a:r>
            <a:r>
              <a:rPr lang="fr-FR" sz="1400" dirty="0">
                <a:solidFill>
                  <a:srgbClr val="1B2740"/>
                </a:solidFill>
                <a:latin typeface="Aptos" panose="020B0004020202020204" pitchFamily="34" charset="0"/>
              </a:rPr>
              <a:t> »  généré par </a:t>
            </a:r>
            <a:r>
              <a:rPr lang="fr-FR" sz="1400" dirty="0" err="1">
                <a:solidFill>
                  <a:srgbClr val="1B2740"/>
                </a:solidFill>
                <a:latin typeface="Aptos" panose="020B0004020202020204" pitchFamily="34" charset="0"/>
              </a:rPr>
              <a:t>load</a:t>
            </a:r>
            <a:r>
              <a:rPr lang="fr-FR" sz="1400" dirty="0">
                <a:solidFill>
                  <a:srgbClr val="1B2740"/>
                </a:solidFill>
                <a:latin typeface="Aptos" panose="020B0004020202020204" pitchFamily="34"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5</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EXTRACTION</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Les 4 sources de données</a:t>
            </a:r>
            <a:endParaRPr lang="en-US" sz="2600" dirty="0">
              <a:latin typeface="Aptos" panose="020B0004020202020204" pitchFamily="34" charset="0"/>
            </a:endParaRPr>
          </a:p>
        </p:txBody>
      </p:sp>
      <p:graphicFrame>
        <p:nvGraphicFramePr>
          <p:cNvPr id="6" name="Table 0"/>
          <p:cNvGraphicFramePr>
            <a:graphicFrameLocks noGrp="1"/>
          </p:cNvGraphicFramePr>
          <p:nvPr>
            <p:extLst>
              <p:ext uri="{D42A27DB-BD31-4B8C-83A1-F6EECF244321}">
                <p14:modId xmlns:p14="http://schemas.microsoft.com/office/powerpoint/2010/main" val="103450892"/>
              </p:ext>
            </p:extLst>
          </p:nvPr>
        </p:nvGraphicFramePr>
        <p:xfrm>
          <a:off x="548640" y="1691640"/>
          <a:ext cx="11119449" cy="3672840"/>
        </p:xfrm>
        <a:graphic>
          <a:graphicData uri="http://schemas.openxmlformats.org/drawingml/2006/table">
            <a:tbl>
              <a:tblPr/>
              <a:tblGrid>
                <a:gridCol w="2018220">
                  <a:extLst>
                    <a:ext uri="{9D8B030D-6E8A-4147-A177-3AD203B41FA5}">
                      <a16:colId xmlns:a16="http://schemas.microsoft.com/office/drawing/2014/main" val="20000"/>
                    </a:ext>
                  </a:extLst>
                </a:gridCol>
                <a:gridCol w="1368159">
                  <a:extLst>
                    <a:ext uri="{9D8B030D-6E8A-4147-A177-3AD203B41FA5}">
                      <a16:colId xmlns:a16="http://schemas.microsoft.com/office/drawing/2014/main" val="20001"/>
                    </a:ext>
                  </a:extLst>
                </a:gridCol>
                <a:gridCol w="3866535">
                  <a:extLst>
                    <a:ext uri="{9D8B030D-6E8A-4147-A177-3AD203B41FA5}">
                      <a16:colId xmlns:a16="http://schemas.microsoft.com/office/drawing/2014/main" val="20002"/>
                    </a:ext>
                  </a:extLst>
                </a:gridCol>
                <a:gridCol w="3866535">
                  <a:extLst>
                    <a:ext uri="{9D8B030D-6E8A-4147-A177-3AD203B41FA5}">
                      <a16:colId xmlns:a16="http://schemas.microsoft.com/office/drawing/2014/main" val="1614263526"/>
                    </a:ext>
                  </a:extLst>
                </a:gridCol>
              </a:tblGrid>
              <a:tr h="0">
                <a:tc>
                  <a:txBody>
                    <a:bodyP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Source</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chemeClr val="tx1"/>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Type</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Contenu</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lgn="ctr">
                        <a:buNone/>
                      </a:pPr>
                      <a:r>
                        <a:rPr lang="en-US" sz="1300" b="1" dirty="0" err="1">
                          <a:solidFill>
                            <a:schemeClr val="bg1"/>
                          </a:solidFill>
                          <a:latin typeface="Aptos" panose="020B0004020202020204" pitchFamily="34" charset="0"/>
                          <a:ea typeface="Calibri" charset="0"/>
                          <a:cs typeface="Calibri" charset="0"/>
                        </a:rPr>
                        <a:t>Colonnes</a:t>
                      </a:r>
                      <a:endParaRPr lang="en-US" sz="1300" b="1" dirty="0">
                        <a:solidFill>
                          <a:schemeClr val="bg1"/>
                        </a:solidFill>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extLst>
                  <a:ext uri="{0D108BD9-81ED-4DB2-BD59-A6C34878D82A}">
                    <a16:rowId xmlns:a16="http://schemas.microsoft.com/office/drawing/2014/main" val="10000"/>
                  </a:ext>
                </a:extLst>
              </a:tr>
              <a:tr h="0">
                <a:tc>
                  <a:txBody>
                    <a:bodyPr/>
                    <a:lstStyle/>
                    <a:p>
                      <a:pPr marL="0" indent="0" algn="ctr">
                        <a:buNone/>
                      </a:pPr>
                      <a:r>
                        <a:rPr lang="en-US" sz="1300" dirty="0">
                          <a:solidFill>
                            <a:srgbClr val="1B2740"/>
                          </a:solidFill>
                          <a:latin typeface="Aptos" panose="020B0004020202020204" pitchFamily="34" charset="0"/>
                          <a:ea typeface="Calibri" pitchFamily="34" charset="-122"/>
                          <a:cs typeface="Calibri" pitchFamily="34" charset="-120"/>
                        </a:rPr>
                        <a:t>sales_raw.csv</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chemeClr val="tx1"/>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40"/>
                          </a:solidFill>
                          <a:latin typeface="Aptos" panose="020B0004020202020204" pitchFamily="34" charset="0"/>
                          <a:ea typeface="Calibri" pitchFamily="34" charset="-122"/>
                          <a:cs typeface="Calibri" pitchFamily="34" charset="-120"/>
                        </a:rPr>
                        <a:t>CSV</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B2740"/>
                          </a:solidFill>
                          <a:latin typeface="Aptos" panose="020B0004020202020204" pitchFamily="34" charset="0"/>
                          <a:ea typeface="Calibri" pitchFamily="34" charset="-122"/>
                          <a:cs typeface="Calibri" pitchFamily="34" charset="-120"/>
                        </a:rPr>
                        <a:t>Ventes brutes </a:t>
                      </a:r>
                      <a:r>
                        <a:rPr lang="en-US" sz="1300" b="0" dirty="0">
                          <a:solidFill>
                            <a:srgbClr val="1B2740"/>
                          </a:solidFill>
                          <a:latin typeface="Aptos" panose="020B0004020202020204" pitchFamily="34" charset="0"/>
                          <a:ea typeface="Calibri" pitchFamily="34" charset="-122"/>
                          <a:cs typeface="Calibri" pitchFamily="34" charset="-120"/>
                        </a:rPr>
                        <a:t>(240)</a:t>
                      </a: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0" dirty="0">
                          <a:solidFill>
                            <a:srgbClr val="1B2740"/>
                          </a:solidFill>
                          <a:latin typeface="Aptos" panose="020B0004020202020204" pitchFamily="34" charset="0"/>
                          <a:ea typeface="Calibri" pitchFamily="34" charset="-122"/>
                          <a:cs typeface="Calibri" pitchFamily="34" charset="-120"/>
                        </a:rPr>
                        <a:t>[</a:t>
                      </a:r>
                      <a:r>
                        <a:rPr lang="en-US" sz="1100" i="0" dirty="0" err="1">
                          <a:solidFill>
                            <a:srgbClr val="1B2740"/>
                          </a:solidFill>
                          <a:latin typeface="Aptos" panose="020B0004020202020204" pitchFamily="34" charset="0"/>
                          <a:ea typeface="Calibri" pitchFamily="34" charset="-122"/>
                          <a:cs typeface="Calibri" pitchFamily="34" charset="-120"/>
                        </a:rPr>
                        <a:t>order_id</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order_date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book_id</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country_code</a:t>
                      </a:r>
                      <a:r>
                        <a:rPr lang="en-US" sz="1100" i="0" dirty="0">
                          <a:solidFill>
                            <a:srgbClr val="1B2740"/>
                          </a:solidFill>
                          <a:latin typeface="Aptos" panose="020B0004020202020204" pitchFamily="34" charset="0"/>
                          <a:ea typeface="Calibri" pitchFamily="34" charset="-122"/>
                          <a:cs typeface="Calibri" pitchFamily="34" charset="-12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0" dirty="0" err="1">
                          <a:solidFill>
                            <a:srgbClr val="1B2740"/>
                          </a:solidFill>
                          <a:latin typeface="Aptos" panose="020B0004020202020204" pitchFamily="34" charset="0"/>
                          <a:ea typeface="Calibri" pitchFamily="34" charset="-122"/>
                          <a:cs typeface="Calibri" pitchFamily="34" charset="-120"/>
                        </a:rPr>
                        <a:t>channel_code</a:t>
                      </a:r>
                      <a:r>
                        <a:rPr lang="en-US" sz="1100" i="0" dirty="0">
                          <a:solidFill>
                            <a:srgbClr val="1B2740"/>
                          </a:solidFill>
                          <a:latin typeface="Aptos" panose="020B0004020202020204" pitchFamily="34" charset="0"/>
                          <a:ea typeface="Calibri" pitchFamily="34" charset="-122"/>
                          <a:cs typeface="Calibri" pitchFamily="34" charset="-120"/>
                        </a:rPr>
                        <a:t>, quantity, </a:t>
                      </a:r>
                      <a:r>
                        <a:rPr lang="en-US" sz="1100" i="0" dirty="0" err="1">
                          <a:solidFill>
                            <a:srgbClr val="1B2740"/>
                          </a:solidFill>
                          <a:latin typeface="Aptos" panose="020B0004020202020204" pitchFamily="34" charset="0"/>
                          <a:ea typeface="Calibri" pitchFamily="34" charset="-122"/>
                          <a:cs typeface="Calibri" pitchFamily="34" charset="-120"/>
                        </a:rPr>
                        <a:t>discount_rate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customer_first_name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customer_last_name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book_name</a:t>
                      </a:r>
                      <a:r>
                        <a:rPr lang="en-US" sz="1100" i="0" dirty="0">
                          <a:solidFill>
                            <a:srgbClr val="1B2740"/>
                          </a:solidFill>
                          <a:latin typeface="Aptos" panose="020B0004020202020204" pitchFamily="34" charset="0"/>
                          <a:ea typeface="Calibri" pitchFamily="34" charset="-122"/>
                          <a:cs typeface="Calibri" pitchFamily="34" charset="-120"/>
                        </a:rPr>
                        <a:t>]</a:t>
                      </a:r>
                      <a:endParaRPr lang="en-US" sz="1100" i="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rowSpan="3">
                  <a:txBody>
                    <a:bodyPr/>
                    <a:lstStyle/>
                    <a:p>
                      <a:pPr marL="0" indent="0" algn="ctr">
                        <a:buNone/>
                      </a:pPr>
                      <a:r>
                        <a:rPr lang="en-US" sz="1300" dirty="0">
                          <a:solidFill>
                            <a:srgbClr val="1B2740"/>
                          </a:solidFill>
                          <a:latin typeface="Aptos" panose="020B0004020202020204" pitchFamily="34" charset="0"/>
                          <a:ea typeface="Calibri" pitchFamily="34" charset="-122"/>
                          <a:cs typeface="Calibri" pitchFamily="34" charset="-120"/>
                        </a:rPr>
                        <a:t>bookworld_reference.db</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chemeClr val="tx1"/>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rowSpan="3">
                  <a:txBody>
                    <a:bodyPr/>
                    <a:lstStyle/>
                    <a:p>
                      <a:pPr marL="0" indent="0" algn="ctr">
                        <a:buNone/>
                      </a:pPr>
                      <a:r>
                        <a:rPr lang="en-US" sz="1300" dirty="0">
                          <a:solidFill>
                            <a:srgbClr val="1B2740"/>
                          </a:solidFill>
                          <a:latin typeface="Aptos" panose="020B0004020202020204" pitchFamily="34" charset="0"/>
                          <a:ea typeface="Calibri" pitchFamily="34" charset="-122"/>
                          <a:cs typeface="Calibri" pitchFamily="34" charset="-120"/>
                        </a:rPr>
                        <a:t>SQLite</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indent="0" algn="ctr">
                        <a:buNone/>
                      </a:pPr>
                      <a:r>
                        <a:rPr lang="en-US" sz="1300" b="1" dirty="0">
                          <a:solidFill>
                            <a:srgbClr val="1B2740"/>
                          </a:solidFill>
                          <a:latin typeface="Aptos" panose="020B0004020202020204" pitchFamily="34" charset="0"/>
                          <a:ea typeface="Calibri" pitchFamily="34" charset="-122"/>
                          <a:cs typeface="Calibri" pitchFamily="34" charset="-120"/>
                        </a:rPr>
                        <a:t>Table </a:t>
                      </a:r>
                      <a:r>
                        <a:rPr lang="en-US" sz="1300" b="1" i="1" dirty="0">
                          <a:solidFill>
                            <a:srgbClr val="1B2740"/>
                          </a:solidFill>
                          <a:latin typeface="Aptos" panose="020B0004020202020204" pitchFamily="34" charset="0"/>
                          <a:ea typeface="Calibri" pitchFamily="34" charset="-122"/>
                          <a:cs typeface="Calibri" pitchFamily="34" charset="-120"/>
                        </a:rPr>
                        <a:t>countries </a:t>
                      </a:r>
                      <a:r>
                        <a:rPr lang="en-US" sz="1300" b="0" dirty="0">
                          <a:solidFill>
                            <a:srgbClr val="1B2740"/>
                          </a:solidFill>
                          <a:latin typeface="Aptos" panose="020B0004020202020204" pitchFamily="34" charset="0"/>
                          <a:ea typeface="Calibri" pitchFamily="34" charset="-122"/>
                          <a:cs typeface="Calibri" pitchFamily="34" charset="-120"/>
                        </a:rPr>
                        <a:t>(10)</a:t>
                      </a: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0" dirty="0">
                          <a:solidFill>
                            <a:srgbClr val="1B2740"/>
                          </a:solidFill>
                          <a:latin typeface="Aptos" panose="020B0004020202020204" pitchFamily="34" charset="0"/>
                          <a:ea typeface="Calibri" pitchFamily="34" charset="-122"/>
                          <a:cs typeface="Calibri" pitchFamily="34" charset="-120"/>
                        </a:rPr>
                        <a:t>[</a:t>
                      </a:r>
                      <a:r>
                        <a:rPr lang="en-US" sz="1100" i="0" dirty="0" err="1">
                          <a:solidFill>
                            <a:srgbClr val="1B2740"/>
                          </a:solidFill>
                          <a:latin typeface="Aptos" panose="020B0004020202020204" pitchFamily="34" charset="0"/>
                          <a:ea typeface="Calibri" pitchFamily="34" charset="-122"/>
                          <a:cs typeface="Calibri" pitchFamily="34" charset="-120"/>
                        </a:rPr>
                        <a:t>country_code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country_name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currency_code</a:t>
                      </a:r>
                      <a:r>
                        <a:rPr lang="en-US" sz="1100" i="0" dirty="0">
                          <a:solidFill>
                            <a:srgbClr val="1B2740"/>
                          </a:solidFill>
                          <a:latin typeface="Aptos" panose="020B0004020202020204" pitchFamily="34" charset="0"/>
                          <a:ea typeface="Calibri" pitchFamily="34" charset="-122"/>
                          <a:cs typeface="Calibri" pitchFamily="34" charset="-12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0" dirty="0" err="1">
                          <a:solidFill>
                            <a:srgbClr val="1B2740"/>
                          </a:solidFill>
                          <a:latin typeface="Aptos" panose="020B0004020202020204" pitchFamily="34" charset="0"/>
                          <a:ea typeface="Calibri" pitchFamily="34" charset="-122"/>
                          <a:cs typeface="Calibri" pitchFamily="34" charset="-120"/>
                        </a:rPr>
                        <a:t>vat_rate</a:t>
                      </a:r>
                      <a:r>
                        <a:rPr lang="en-US" sz="1100" i="0" dirty="0">
                          <a:solidFill>
                            <a:srgbClr val="1B2740"/>
                          </a:solidFill>
                          <a:latin typeface="Aptos" panose="020B0004020202020204" pitchFamily="34" charset="0"/>
                          <a:ea typeface="Calibri" pitchFamily="34" charset="-122"/>
                          <a:cs typeface="Calibri" pitchFamily="34" charset="-120"/>
                        </a:rPr>
                        <a:t>, region, </a:t>
                      </a:r>
                      <a:r>
                        <a:rPr lang="en-US" sz="1100" i="0" dirty="0" err="1">
                          <a:solidFill>
                            <a:srgbClr val="1B2740"/>
                          </a:solidFill>
                          <a:latin typeface="Aptos" panose="020B0004020202020204" pitchFamily="34" charset="0"/>
                          <a:ea typeface="Calibri" pitchFamily="34" charset="-122"/>
                          <a:cs typeface="Calibri" pitchFamily="34" charset="-120"/>
                        </a:rPr>
                        <a:t>is_active</a:t>
                      </a:r>
                      <a:r>
                        <a:rPr lang="en-US" sz="1100" i="0" dirty="0">
                          <a:solidFill>
                            <a:srgbClr val="1B2740"/>
                          </a:solidFill>
                          <a:latin typeface="Aptos" panose="020B0004020202020204" pitchFamily="34" charset="0"/>
                          <a:ea typeface="Calibri" pitchFamily="34" charset="-122"/>
                          <a:cs typeface="Calibri" pitchFamily="34" charset="-120"/>
                        </a:rPr>
                        <a:t>]</a:t>
                      </a:r>
                      <a:endParaRPr lang="en-US" sz="1100" i="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extLst>
                  <a:ext uri="{0D108BD9-81ED-4DB2-BD59-A6C34878D82A}">
                    <a16:rowId xmlns:a16="http://schemas.microsoft.com/office/drawing/2014/main" val="10002"/>
                  </a:ext>
                </a:extLst>
              </a:tr>
              <a:tr h="0">
                <a:tc vMerge="1">
                  <a:txBody>
                    <a:bodyPr/>
                    <a:lstStyle/>
                    <a:p>
                      <a:pPr marL="0" indent="0" algn="ctr">
                        <a:buNone/>
                      </a:pPr>
                      <a:endParaRPr lang="en-US" sz="1300" dirty="0">
                        <a:latin typeface="Calibri"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vMerge="1">
                  <a:txBody>
                    <a:bodyPr/>
                    <a:lstStyle/>
                    <a:p>
                      <a:pPr marL="0" indent="0" algn="ctr">
                        <a:buNone/>
                      </a:pPr>
                      <a:endParaRPr lang="en-US" sz="1300" dirty="0">
                        <a:latin typeface="Calibri"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dirty="0">
                          <a:solidFill>
                            <a:srgbClr val="1B2740"/>
                          </a:solidFill>
                          <a:latin typeface="Aptos" panose="020B0004020202020204" pitchFamily="34" charset="0"/>
                          <a:ea typeface="Calibri" pitchFamily="34" charset="-122"/>
                          <a:cs typeface="Calibri" pitchFamily="34" charset="-120"/>
                        </a:rPr>
                        <a:t>Table </a:t>
                      </a:r>
                      <a:r>
                        <a:rPr lang="en-US" sz="1300" b="1" i="1" dirty="0">
                          <a:solidFill>
                            <a:srgbClr val="1B2740"/>
                          </a:solidFill>
                          <a:latin typeface="Aptos" panose="020B0004020202020204" pitchFamily="34" charset="0"/>
                          <a:ea typeface="Calibri" pitchFamily="34" charset="-122"/>
                          <a:cs typeface="Calibri" pitchFamily="34" charset="-120"/>
                        </a:rPr>
                        <a:t>channels </a:t>
                      </a:r>
                      <a:r>
                        <a:rPr lang="en-US" sz="1300" b="0" dirty="0">
                          <a:solidFill>
                            <a:srgbClr val="1B2740"/>
                          </a:solidFill>
                          <a:latin typeface="Aptos" panose="020B0004020202020204" pitchFamily="34" charset="0"/>
                          <a:ea typeface="Calibri" pitchFamily="34" charset="-122"/>
                          <a:cs typeface="Calibri" pitchFamily="34" charset="-120"/>
                        </a:rPr>
                        <a:t>(4)</a:t>
                      </a: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0" dirty="0">
                          <a:solidFill>
                            <a:srgbClr val="1B2740"/>
                          </a:solidFill>
                          <a:latin typeface="Aptos" panose="020B0004020202020204" pitchFamily="34" charset="0"/>
                          <a:ea typeface="Calibri" pitchFamily="34" charset="-122"/>
                          <a:cs typeface="Calibri" pitchFamily="34" charset="-120"/>
                        </a:rPr>
                        <a:t>[</a:t>
                      </a:r>
                      <a:r>
                        <a:rPr lang="en-US" sz="1100" i="0" dirty="0" err="1">
                          <a:solidFill>
                            <a:srgbClr val="1B2740"/>
                          </a:solidFill>
                          <a:latin typeface="Aptos" panose="020B0004020202020204" pitchFamily="34" charset="0"/>
                          <a:ea typeface="Calibri" pitchFamily="34" charset="-122"/>
                          <a:cs typeface="Calibri" pitchFamily="34" charset="-120"/>
                        </a:rPr>
                        <a:t>channel_code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channel_name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acquisition_cost_gbp</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channel_group</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is_active</a:t>
                      </a:r>
                      <a:r>
                        <a:rPr lang="en-US" sz="1100" i="0" dirty="0">
                          <a:solidFill>
                            <a:srgbClr val="1B2740"/>
                          </a:solidFill>
                          <a:latin typeface="Aptos" panose="020B0004020202020204" pitchFamily="34" charset="0"/>
                          <a:ea typeface="Calibri" pitchFamily="34" charset="-122"/>
                          <a:cs typeface="Calibri" pitchFamily="34" charset="-120"/>
                        </a:rPr>
                        <a:t>]</a:t>
                      </a:r>
                      <a:endParaRPr lang="en-US" sz="1400" i="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extLst>
                  <a:ext uri="{0D108BD9-81ED-4DB2-BD59-A6C34878D82A}">
                    <a16:rowId xmlns:a16="http://schemas.microsoft.com/office/drawing/2014/main" val="820622369"/>
                  </a:ext>
                </a:extLst>
              </a:tr>
              <a:tr h="0">
                <a:tc vMerge="1">
                  <a:txBody>
                    <a:bodyPr/>
                    <a:lstStyle/>
                    <a:p>
                      <a:pPr marL="0" indent="0" algn="ctr">
                        <a:buNone/>
                      </a:pPr>
                      <a:endParaRPr lang="en-US" sz="1300" dirty="0">
                        <a:latin typeface="Calibri"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vMerge="1">
                  <a:txBody>
                    <a:bodyPr/>
                    <a:lstStyle/>
                    <a:p>
                      <a:pPr marL="0" indent="0" algn="ctr">
                        <a:buNone/>
                      </a:pPr>
                      <a:endParaRPr lang="en-US" sz="1300" dirty="0">
                        <a:latin typeface="Calibri"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dirty="0">
                          <a:solidFill>
                            <a:srgbClr val="1B2740"/>
                          </a:solidFill>
                          <a:latin typeface="Aptos" panose="020B0004020202020204" pitchFamily="34" charset="0"/>
                          <a:ea typeface="Calibri" pitchFamily="34" charset="-122"/>
                          <a:cs typeface="Calibri" pitchFamily="34" charset="-120"/>
                        </a:rPr>
                        <a:t>Table </a:t>
                      </a:r>
                      <a:r>
                        <a:rPr lang="en-US" sz="1300" b="1" i="1" dirty="0" err="1">
                          <a:solidFill>
                            <a:srgbClr val="1B2740"/>
                          </a:solidFill>
                          <a:latin typeface="Aptos" panose="020B0004020202020204" pitchFamily="34" charset="0"/>
                          <a:ea typeface="Calibri" pitchFamily="34" charset="-122"/>
                          <a:cs typeface="Calibri" pitchFamily="34" charset="-120"/>
                        </a:rPr>
                        <a:t>category_rules</a:t>
                      </a:r>
                      <a:r>
                        <a:rPr lang="en-US" sz="1300" b="1" dirty="0">
                          <a:solidFill>
                            <a:srgbClr val="1B2740"/>
                          </a:solidFill>
                          <a:latin typeface="Aptos" panose="020B0004020202020204" pitchFamily="34" charset="0"/>
                          <a:ea typeface="Calibri" pitchFamily="34" charset="-122"/>
                          <a:cs typeface="Calibri" pitchFamily="34" charset="-120"/>
                        </a:rPr>
                        <a:t> </a:t>
                      </a:r>
                      <a:r>
                        <a:rPr lang="en-US" sz="1300" b="0" dirty="0">
                          <a:solidFill>
                            <a:srgbClr val="1B2740"/>
                          </a:solidFill>
                          <a:latin typeface="Aptos" panose="020B0004020202020204" pitchFamily="34" charset="0"/>
                          <a:ea typeface="Calibri" pitchFamily="34" charset="-122"/>
                          <a:cs typeface="Calibri" pitchFamily="34" charset="-120"/>
                        </a:rPr>
                        <a:t>(10)</a:t>
                      </a: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0" dirty="0">
                          <a:solidFill>
                            <a:srgbClr val="1B2740"/>
                          </a:solidFill>
                          <a:latin typeface="Aptos" panose="020B0004020202020204" pitchFamily="34" charset="0"/>
                          <a:ea typeface="Calibri" pitchFamily="34" charset="-122"/>
                          <a:cs typeface="Calibri" pitchFamily="34" charset="-120"/>
                        </a:rPr>
                        <a:t>[</a:t>
                      </a:r>
                      <a:r>
                        <a:rPr lang="en-US" sz="1100" i="0" dirty="0" err="1">
                          <a:solidFill>
                            <a:srgbClr val="1B2740"/>
                          </a:solidFill>
                          <a:latin typeface="Aptos" panose="020B0004020202020204" pitchFamily="34" charset="0"/>
                          <a:ea typeface="Calibri" pitchFamily="34" charset="-122"/>
                          <a:cs typeface="Calibri" pitchFamily="34" charset="-120"/>
                        </a:rPr>
                        <a:t>category_name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margin_rate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strategic_flag</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default_channel_code</a:t>
                      </a:r>
                      <a:r>
                        <a:rPr lang="en-US" sz="1100" i="0" dirty="0">
                          <a:solidFill>
                            <a:srgbClr val="1B2740"/>
                          </a:solidFill>
                          <a:latin typeface="Aptos" panose="020B0004020202020204" pitchFamily="34" charset="0"/>
                          <a:ea typeface="Calibri" pitchFamily="34" charset="-122"/>
                          <a:cs typeface="Calibri" pitchFamily="34" charset="-120"/>
                        </a:rPr>
                        <a:t>, </a:t>
                      </a:r>
                      <a:r>
                        <a:rPr lang="en-US" sz="1100" i="0" dirty="0" err="1">
                          <a:solidFill>
                            <a:srgbClr val="1B2740"/>
                          </a:solidFill>
                          <a:latin typeface="Aptos" panose="020B0004020202020204" pitchFamily="34" charset="0"/>
                          <a:ea typeface="Calibri" pitchFamily="34" charset="-122"/>
                          <a:cs typeface="Calibri" pitchFamily="34" charset="-120"/>
                        </a:rPr>
                        <a:t>is_active</a:t>
                      </a:r>
                      <a:r>
                        <a:rPr lang="en-US" sz="1100" i="0" dirty="0">
                          <a:solidFill>
                            <a:srgbClr val="1B2740"/>
                          </a:solidFill>
                          <a:latin typeface="Aptos" panose="020B0004020202020204" pitchFamily="34" charset="0"/>
                          <a:ea typeface="Calibri" pitchFamily="34" charset="-122"/>
                          <a:cs typeface="Calibri" pitchFamily="34" charset="-120"/>
                        </a:rPr>
                        <a:t>]</a:t>
                      </a:r>
                      <a:endParaRPr lang="en-US" sz="1100" i="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extLst>
                  <a:ext uri="{0D108BD9-81ED-4DB2-BD59-A6C34878D82A}">
                    <a16:rowId xmlns:a16="http://schemas.microsoft.com/office/drawing/2014/main" val="1751932647"/>
                  </a:ext>
                </a:extLst>
              </a:tr>
              <a:tr h="0">
                <a:tc>
                  <a:txBody>
                    <a:bodyPr/>
                    <a:lstStyle/>
                    <a:p>
                      <a:pPr marL="0" indent="0" algn="ctr">
                        <a:buNone/>
                      </a:pPr>
                      <a:r>
                        <a:rPr lang="en-US" sz="1300" dirty="0">
                          <a:solidFill>
                            <a:srgbClr val="1B2740"/>
                          </a:solidFill>
                          <a:latin typeface="Aptos" panose="020B0004020202020204" pitchFamily="34" charset="0"/>
                          <a:ea typeface="Calibri" pitchFamily="34" charset="-122"/>
                          <a:cs typeface="Calibri" pitchFamily="34" charset="-120"/>
                        </a:rPr>
                        <a:t>books.toscrape.com</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chemeClr val="tx1"/>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40"/>
                          </a:solidFill>
                          <a:latin typeface="Aptos" panose="020B0004020202020204" pitchFamily="34" charset="0"/>
                          <a:ea typeface="Calibri" pitchFamily="34" charset="-122"/>
                          <a:cs typeface="Calibri" pitchFamily="34" charset="-120"/>
                        </a:rPr>
                        <a:t>Web Scraping</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B2740"/>
                          </a:solidFill>
                          <a:latin typeface="Aptos" panose="020B0004020202020204" pitchFamily="34" charset="0"/>
                          <a:ea typeface="Calibri" pitchFamily="34" charset="-122"/>
                          <a:cs typeface="Calibri" pitchFamily="34" charset="-120"/>
                        </a:rPr>
                        <a:t>Catalogue de livres </a:t>
                      </a:r>
                    </a:p>
                    <a:p>
                      <a:pPr marL="0" indent="0" algn="ctr">
                        <a:buNone/>
                      </a:pPr>
                      <a:r>
                        <a:rPr lang="en-US" sz="1300" b="0" dirty="0">
                          <a:solidFill>
                            <a:srgbClr val="1B2740"/>
                          </a:solidFill>
                          <a:latin typeface="Aptos" panose="020B0004020202020204" pitchFamily="34" charset="0"/>
                          <a:ea typeface="Calibri" pitchFamily="34" charset="-122"/>
                          <a:cs typeface="Calibri" pitchFamily="34" charset="-120"/>
                        </a:rPr>
                        <a:t>(1</a:t>
                      </a:r>
                      <a:r>
                        <a:rPr lang="en-US" sz="1300" b="0" baseline="30000" dirty="0">
                          <a:solidFill>
                            <a:srgbClr val="1B2740"/>
                          </a:solidFill>
                          <a:latin typeface="Aptos" panose="020B0004020202020204" pitchFamily="34" charset="0"/>
                          <a:ea typeface="Calibri" pitchFamily="34" charset="-122"/>
                          <a:cs typeface="Calibri" pitchFamily="34" charset="-120"/>
                        </a:rPr>
                        <a:t>ère</a:t>
                      </a:r>
                      <a:r>
                        <a:rPr lang="en-US" sz="1300" b="0" dirty="0">
                          <a:solidFill>
                            <a:srgbClr val="1B2740"/>
                          </a:solidFill>
                          <a:latin typeface="Aptos" panose="020B0004020202020204" pitchFamily="34" charset="0"/>
                          <a:ea typeface="Calibri" pitchFamily="34" charset="-122"/>
                          <a:cs typeface="Calibri" pitchFamily="34" charset="-120"/>
                        </a:rPr>
                        <a:t> page: 20 items)</a:t>
                      </a:r>
                      <a:endParaRPr lang="en-US" sz="1300" b="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lgn="ctr">
                        <a:buNone/>
                      </a:pPr>
                      <a:r>
                        <a:rPr lang="en-US" sz="1100" i="0" dirty="0">
                          <a:latin typeface="Aptos" panose="020B0004020202020204" pitchFamily="34" charset="0"/>
                          <a:ea typeface="Calibri" charset="0"/>
                          <a:cs typeface="Calibri" charset="0"/>
                        </a:rPr>
                        <a:t>[</a:t>
                      </a:r>
                      <a:r>
                        <a:rPr lang="en-US" sz="1100" i="0" dirty="0" err="1">
                          <a:latin typeface="Aptos" panose="020B0004020202020204" pitchFamily="34" charset="0"/>
                          <a:ea typeface="Calibri" charset="0"/>
                          <a:cs typeface="Calibri" charset="0"/>
                        </a:rPr>
                        <a:t>book_name</a:t>
                      </a:r>
                      <a:r>
                        <a:rPr lang="en-US" sz="1100" i="0" dirty="0">
                          <a:latin typeface="Aptos" panose="020B0004020202020204" pitchFamily="34" charset="0"/>
                          <a:ea typeface="Calibri" charset="0"/>
                          <a:cs typeface="Calibri" charset="0"/>
                        </a:rPr>
                        <a:t>, </a:t>
                      </a:r>
                      <a:r>
                        <a:rPr lang="en-US" sz="1100" i="0" dirty="0" err="1">
                          <a:latin typeface="Aptos" panose="020B0004020202020204" pitchFamily="34" charset="0"/>
                          <a:ea typeface="Calibri" charset="0"/>
                          <a:cs typeface="Calibri" charset="0"/>
                        </a:rPr>
                        <a:t>price_gbp</a:t>
                      </a:r>
                      <a:r>
                        <a:rPr lang="en-US" sz="1100" i="0" dirty="0">
                          <a:latin typeface="Aptos" panose="020B0004020202020204" pitchFamily="34" charset="0"/>
                          <a:ea typeface="Calibri" charset="0"/>
                          <a:cs typeface="Calibri" charset="0"/>
                        </a:rPr>
                        <a:t>, </a:t>
                      </a:r>
                      <a:r>
                        <a:rPr lang="en-US" sz="1100" i="0" dirty="0" err="1">
                          <a:latin typeface="Aptos" panose="020B0004020202020204" pitchFamily="34" charset="0"/>
                          <a:ea typeface="Calibri" charset="0"/>
                          <a:cs typeface="Calibri" charset="0"/>
                        </a:rPr>
                        <a:t>book_url</a:t>
                      </a:r>
                      <a:r>
                        <a:rPr lang="en-US" sz="1100" i="0" dirty="0">
                          <a:latin typeface="Aptos" panose="020B0004020202020204" pitchFamily="34" charset="0"/>
                          <a:ea typeface="Calibri" charset="0"/>
                          <a:cs typeface="Calibri" charset="0"/>
                        </a:rPr>
                        <a:t>, category, </a:t>
                      </a:r>
                    </a:p>
                    <a:p>
                      <a:pPr marL="0" indent="0" algn="ctr">
                        <a:buNone/>
                      </a:pPr>
                      <a:r>
                        <a:rPr lang="en-US" sz="1100" i="0" dirty="0" err="1">
                          <a:latin typeface="Aptos" panose="020B0004020202020204" pitchFamily="34" charset="0"/>
                          <a:ea typeface="Calibri" charset="0"/>
                          <a:cs typeface="Calibri" charset="0"/>
                        </a:rPr>
                        <a:t>upc</a:t>
                      </a:r>
                      <a:r>
                        <a:rPr lang="en-US" sz="1100" i="0" dirty="0">
                          <a:latin typeface="Aptos" panose="020B0004020202020204" pitchFamily="34" charset="0"/>
                          <a:ea typeface="Calibri" charset="0"/>
                          <a:cs typeface="Calibri" charset="0"/>
                        </a:rPr>
                        <a:t>, </a:t>
                      </a:r>
                      <a:r>
                        <a:rPr lang="en-US" sz="1100" i="0" dirty="0" err="1">
                          <a:latin typeface="Aptos" panose="020B0004020202020204" pitchFamily="34" charset="0"/>
                          <a:ea typeface="Calibri" charset="0"/>
                          <a:cs typeface="Calibri" charset="0"/>
                        </a:rPr>
                        <a:t>price_excl_tax</a:t>
                      </a:r>
                      <a:r>
                        <a:rPr lang="en-US" sz="1100" i="0" dirty="0">
                          <a:latin typeface="Aptos" panose="020B0004020202020204" pitchFamily="34" charset="0"/>
                          <a:ea typeface="Calibri" charset="0"/>
                          <a:cs typeface="Calibri" charset="0"/>
                        </a:rPr>
                        <a:t>, </a:t>
                      </a:r>
                      <a:r>
                        <a:rPr lang="en-US" sz="1100" i="0" dirty="0" err="1">
                          <a:latin typeface="Aptos" panose="020B0004020202020204" pitchFamily="34" charset="0"/>
                          <a:ea typeface="Calibri" charset="0"/>
                          <a:cs typeface="Calibri" charset="0"/>
                        </a:rPr>
                        <a:t>price_incl_tax</a:t>
                      </a:r>
                      <a:r>
                        <a:rPr lang="en-US" sz="1100" i="0" dirty="0">
                          <a:latin typeface="Aptos" panose="020B0004020202020204" pitchFamily="34" charset="0"/>
                          <a:ea typeface="Calibri" charset="0"/>
                          <a:cs typeface="Calibri" charset="0"/>
                        </a:rPr>
                        <a:t>, tax, </a:t>
                      </a:r>
                    </a:p>
                    <a:p>
                      <a:pPr marL="0" indent="0" algn="ctr">
                        <a:buNone/>
                      </a:pPr>
                      <a:r>
                        <a:rPr lang="en-US" sz="1100" i="0" dirty="0" err="1">
                          <a:latin typeface="Aptos" panose="020B0004020202020204" pitchFamily="34" charset="0"/>
                          <a:ea typeface="Calibri" charset="0"/>
                          <a:cs typeface="Calibri" charset="0"/>
                        </a:rPr>
                        <a:t>number_of_review</a:t>
                      </a:r>
                      <a:r>
                        <a:rPr lang="en-US" sz="1100" i="0" dirty="0">
                          <a:latin typeface="Aptos" panose="020B0004020202020204" pitchFamily="34" charset="0"/>
                          <a:ea typeface="Calibri" charset="0"/>
                          <a:cs typeface="Calibri" charset="0"/>
                        </a:rPr>
                        <a:t>, </a:t>
                      </a:r>
                      <a:r>
                        <a:rPr lang="en-US" sz="1100" i="0" dirty="0" err="1">
                          <a:latin typeface="Aptos" panose="020B0004020202020204" pitchFamily="34" charset="0"/>
                          <a:ea typeface="Calibri" charset="0"/>
                          <a:cs typeface="Calibri" charset="0"/>
                        </a:rPr>
                        <a:t>savailability</a:t>
                      </a:r>
                      <a:r>
                        <a:rPr lang="en-US" sz="1100" i="0" dirty="0">
                          <a:latin typeface="Aptos" panose="020B0004020202020204" pitchFamily="34" charset="0"/>
                          <a:ea typeface="Calibri" charset="0"/>
                          <a:cs typeface="Calibri" charset="0"/>
                        </a:rPr>
                        <a:t>, rating]</a:t>
                      </a: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dirty="0">
                          <a:solidFill>
                            <a:srgbClr val="1B2740"/>
                          </a:solidFill>
                          <a:latin typeface="Aptos" panose="020B0004020202020204" pitchFamily="34" charset="0"/>
                          <a:ea typeface="Calibri" pitchFamily="34" charset="-122"/>
                          <a:cs typeface="Calibri" pitchFamily="34" charset="-120"/>
                        </a:rPr>
                        <a:t>Frankfurter API (v2)</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chemeClr val="tx1"/>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1EF"/>
                    </a:solidFill>
                  </a:tcPr>
                </a:tc>
                <a:tc>
                  <a:txBody>
                    <a:bodyPr/>
                    <a:lstStyle/>
                    <a:p>
                      <a:pPr marL="0" indent="0" algn="ctr">
                        <a:buNone/>
                      </a:pPr>
                      <a:r>
                        <a:rPr lang="en-US" sz="1300" dirty="0">
                          <a:solidFill>
                            <a:srgbClr val="1B2740"/>
                          </a:solidFill>
                          <a:latin typeface="Aptos" panose="020B0004020202020204" pitchFamily="34" charset="0"/>
                          <a:ea typeface="Calibri" pitchFamily="34" charset="-122"/>
                          <a:cs typeface="Calibri" pitchFamily="34" charset="-120"/>
                        </a:rPr>
                        <a:t>API REST</a:t>
                      </a:r>
                      <a:endParaRPr lang="en-US" sz="130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1EF"/>
                    </a:solidFill>
                  </a:tcPr>
                </a:tc>
                <a:tc>
                  <a:txBody>
                    <a:bodyPr/>
                    <a:lstStyle/>
                    <a:p>
                      <a:pPr marL="0" indent="0" algn="ctr">
                        <a:buNone/>
                      </a:pPr>
                      <a:r>
                        <a:rPr lang="en-US" sz="1300" b="1" dirty="0">
                          <a:solidFill>
                            <a:srgbClr val="1B2740"/>
                          </a:solidFill>
                          <a:latin typeface="Aptos" panose="020B0004020202020204" pitchFamily="34" charset="0"/>
                          <a:ea typeface="Calibri" pitchFamily="34" charset="-122"/>
                          <a:cs typeface="Calibri" pitchFamily="34" charset="-120"/>
                        </a:rPr>
                        <a:t>Taux de change </a:t>
                      </a:r>
                      <a:r>
                        <a:rPr lang="en-US" sz="1300" b="1" dirty="0" err="1">
                          <a:solidFill>
                            <a:srgbClr val="1B2740"/>
                          </a:solidFill>
                          <a:latin typeface="Aptos" panose="020B0004020202020204" pitchFamily="34" charset="0"/>
                          <a:ea typeface="Calibri" pitchFamily="34" charset="-122"/>
                          <a:cs typeface="Calibri" pitchFamily="34" charset="-120"/>
                        </a:rPr>
                        <a:t>journalier</a:t>
                      </a:r>
                      <a:endParaRPr lang="en-US" sz="1300" b="1" dirty="0">
                        <a:solidFill>
                          <a:srgbClr val="1B2740"/>
                        </a:solidFill>
                        <a:latin typeface="Aptos" panose="020B0004020202020204" pitchFamily="34" charset="0"/>
                        <a:ea typeface="Calibri" pitchFamily="34" charset="-122"/>
                        <a:cs typeface="Calibri" pitchFamily="34" charset="-120"/>
                      </a:endParaRPr>
                    </a:p>
                    <a:p>
                      <a:pPr marL="0" indent="0" algn="ctr">
                        <a:buNone/>
                      </a:pPr>
                      <a:r>
                        <a:rPr lang="en-US" sz="1300" b="0" dirty="0">
                          <a:solidFill>
                            <a:srgbClr val="1B2740"/>
                          </a:solidFill>
                          <a:latin typeface="Aptos" panose="020B0004020202020204" pitchFamily="34" charset="0"/>
                          <a:ea typeface="Calibri" pitchFamily="34" charset="-122"/>
                          <a:cs typeface="Calibri" pitchFamily="34" charset="-120"/>
                        </a:rPr>
                        <a:t>(GBP </a:t>
                      </a:r>
                      <a:r>
                        <a:rPr lang="fr-FR" sz="1200" b="0" dirty="0">
                          <a:solidFill>
                            <a:srgbClr val="1B2740"/>
                          </a:solidFill>
                          <a:latin typeface="Aptos" panose="020B0004020202020204" pitchFamily="34" charset="0"/>
                        </a:rPr>
                        <a:t>»</a:t>
                      </a:r>
                      <a:r>
                        <a:rPr lang="en-US" sz="1300" b="0" dirty="0">
                          <a:solidFill>
                            <a:srgbClr val="1B2740"/>
                          </a:solidFill>
                          <a:latin typeface="Aptos" panose="020B0004020202020204" pitchFamily="34" charset="0"/>
                          <a:ea typeface="Calibri" pitchFamily="34" charset="-122"/>
                          <a:cs typeface="Calibri" pitchFamily="34" charset="-120"/>
                        </a:rPr>
                        <a:t> EUR)</a:t>
                      </a:r>
                      <a:endParaRPr lang="en-US" sz="1300" b="0" dirty="0">
                        <a:latin typeface="Aptos" panose="020B0004020202020204" pitchFamily="34" charset="0"/>
                        <a:ea typeface="Calibri" charset="0"/>
                        <a:cs typeface="Calibri" charset="0"/>
                      </a:endParaRP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1EF"/>
                    </a:solidFill>
                  </a:tcPr>
                </a:tc>
                <a:tc>
                  <a:txBody>
                    <a:bodyPr/>
                    <a:lstStyle/>
                    <a:p>
                      <a:pPr marL="0" indent="0" algn="ctr">
                        <a:buNone/>
                      </a:pPr>
                      <a:r>
                        <a:rPr lang="en-US" sz="1100" i="0" dirty="0">
                          <a:latin typeface="Aptos" panose="020B0004020202020204" pitchFamily="34" charset="0"/>
                          <a:ea typeface="Calibri" charset="0"/>
                          <a:cs typeface="Calibri" charset="0"/>
                        </a:rPr>
                        <a:t>[date, base, quote, rate]</a:t>
                      </a:r>
                    </a:p>
                  </a:txBody>
                  <a:tcPr marL="127000" marR="127000" marT="76200" marB="76200" anchor="ctr">
                    <a:lnL w="12700" cap="flat" cmpd="sng" algn="ctr">
                      <a:solidFill>
                        <a:srgbClr val="E3E2E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1EF"/>
                    </a:solidFill>
                  </a:tcPr>
                </a:tc>
                <a:extLst>
                  <a:ext uri="{0D108BD9-81ED-4DB2-BD59-A6C34878D82A}">
                    <a16:rowId xmlns:a16="http://schemas.microsoft.com/office/drawing/2014/main" val="10004"/>
                  </a:ext>
                </a:extLst>
              </a:tr>
            </a:tbl>
          </a:graphicData>
        </a:graphic>
      </p:graphicFrame>
      <p:sp>
        <p:nvSpPr>
          <p:cNvPr id="7" name="Text 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5 / 20</a:t>
            </a:r>
            <a:endParaRPr lang="en-US" sz="1000" dirty="0">
              <a:latin typeface="Aptos" panose="020B0004020202020204" pitchFamily="34" charset="0"/>
            </a:endParaRPr>
          </a:p>
        </p:txBody>
      </p:sp>
      <p:sp>
        <p:nvSpPr>
          <p:cNvPr id="9" name="Rectangle 8">
            <a:extLst>
              <a:ext uri="{FF2B5EF4-FFF2-40B4-BE49-F238E27FC236}">
                <a16:creationId xmlns:a16="http://schemas.microsoft.com/office/drawing/2014/main" id="{7E9E6CED-BCBA-5595-A6E6-725F7ADE362D}"/>
              </a:ext>
            </a:extLst>
          </p:cNvPr>
          <p:cNvSpPr/>
          <p:nvPr/>
        </p:nvSpPr>
        <p:spPr>
          <a:xfrm>
            <a:off x="7806397" y="1424354"/>
            <a:ext cx="4118598" cy="4149969"/>
          </a:xfrm>
          <a:prstGeom prst="rect">
            <a:avLst/>
          </a:prstGeom>
          <a:solidFill>
            <a:schemeClr val="bg1">
              <a:alpha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6</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EXTRACTION — 3.1 / 3.2</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CSV &amp; SQLite</a:t>
            </a:r>
            <a:endParaRPr lang="en-US" sz="2600" dirty="0">
              <a:latin typeface="Aptos" panose="020B0004020202020204" pitchFamily="34" charset="0"/>
            </a:endParaRPr>
          </a:p>
        </p:txBody>
      </p:sp>
      <p:sp>
        <p:nvSpPr>
          <p:cNvPr id="6" name="Shape 4"/>
          <p:cNvSpPr/>
          <p:nvPr/>
        </p:nvSpPr>
        <p:spPr>
          <a:xfrm>
            <a:off x="548640" y="1691640"/>
            <a:ext cx="5349240" cy="4206240"/>
          </a:xfrm>
          <a:prstGeom prst="roundRect">
            <a:avLst>
              <a:gd name="adj" fmla="val 2174"/>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7" name="Text 5"/>
          <p:cNvSpPr/>
          <p:nvPr/>
        </p:nvSpPr>
        <p:spPr>
          <a:xfrm>
            <a:off x="868680" y="1965960"/>
            <a:ext cx="4709160" cy="365760"/>
          </a:xfrm>
          <a:prstGeom prst="rect">
            <a:avLst/>
          </a:prstGeom>
          <a:noFill/>
          <a:ln/>
        </p:spPr>
        <p:txBody>
          <a:bodyPr wrap="square" lIns="0" tIns="0" rIns="0" bIns="0" rtlCol="0" anchor="ctr"/>
          <a:lstStyle/>
          <a:p>
            <a:pPr marL="0" indent="0">
              <a:buNone/>
            </a:pPr>
            <a:r>
              <a:rPr lang="en-US" sz="1700" b="1" dirty="0">
                <a:solidFill>
                  <a:srgbClr val="E8452F"/>
                </a:solidFill>
                <a:latin typeface="Aptos" panose="020B0004020202020204" pitchFamily="34" charset="0"/>
                <a:ea typeface="Calibri" pitchFamily="34" charset="-122"/>
                <a:cs typeface="Calibri" pitchFamily="34" charset="-120"/>
              </a:rPr>
              <a:t>sales_raw.csv</a:t>
            </a:r>
            <a:endParaRPr lang="en-US" sz="1700" dirty="0">
              <a:latin typeface="Aptos" panose="020B0004020202020204" pitchFamily="34" charset="0"/>
            </a:endParaRPr>
          </a:p>
        </p:txBody>
      </p:sp>
      <p:sp>
        <p:nvSpPr>
          <p:cNvPr id="8" name="Text 6"/>
          <p:cNvSpPr/>
          <p:nvPr/>
        </p:nvSpPr>
        <p:spPr>
          <a:xfrm>
            <a:off x="868680" y="2468880"/>
            <a:ext cx="4709160" cy="365760"/>
          </a:xfrm>
          <a:prstGeom prst="rect">
            <a:avLst/>
          </a:prstGeom>
          <a:noFill/>
          <a:ln/>
        </p:spPr>
        <p:txBody>
          <a:bodyPr wrap="square" lIns="0" tIns="0" rIns="0" bIns="0" rtlCol="0" anchor="ctr"/>
          <a:lstStyle/>
          <a:p>
            <a:pPr marL="0" indent="0">
              <a:buNone/>
            </a:pPr>
            <a:r>
              <a:rPr lang="en-US" sz="1400" dirty="0">
                <a:solidFill>
                  <a:srgbClr val="1B2740"/>
                </a:solidFill>
                <a:latin typeface="Aptos" panose="020B0004020202020204" pitchFamily="34" charset="0"/>
                <a:ea typeface="Consolas" pitchFamily="34" charset="-122"/>
                <a:cs typeface="Consolas" pitchFamily="34" charset="-120"/>
              </a:rPr>
              <a:t>pd.read_csv("data/sales_raw.csv", encoding="utf-8")</a:t>
            </a:r>
            <a:endParaRPr lang="en-US" sz="1400" dirty="0">
              <a:latin typeface="Aptos" panose="020B0004020202020204" pitchFamily="34" charset="0"/>
            </a:endParaRPr>
          </a:p>
        </p:txBody>
      </p:sp>
      <p:sp>
        <p:nvSpPr>
          <p:cNvPr id="9" name="Text 7"/>
          <p:cNvSpPr/>
          <p:nvPr/>
        </p:nvSpPr>
        <p:spPr>
          <a:xfrm>
            <a:off x="868680" y="3063240"/>
            <a:ext cx="4709160" cy="2651760"/>
          </a:xfrm>
          <a:prstGeom prst="rect">
            <a:avLst/>
          </a:prstGeom>
          <a:noFill/>
          <a:ln/>
        </p:spPr>
        <p:txBody>
          <a:bodyPr wrap="square" lIns="0" tIns="0" rIns="0" bIns="0" rtlCol="0" anchor="ctr"/>
          <a:lstStyle/>
          <a:p>
            <a:pPr algn="just">
              <a:lnSpc>
                <a:spcPct val="130000"/>
              </a:lnSpc>
            </a:pPr>
            <a:r>
              <a:rPr lang="en-US" sz="1400" b="1" dirty="0">
                <a:solidFill>
                  <a:srgbClr val="1B2740"/>
                </a:solidFill>
                <a:latin typeface="Aptos" panose="020B0004020202020204" pitchFamily="34" charset="0"/>
                <a:ea typeface="Calibri" pitchFamily="34" charset="-122"/>
                <a:cs typeface="Calibri" pitchFamily="34" charset="-120"/>
              </a:rPr>
              <a:t>Gestion </a:t>
            </a:r>
            <a:r>
              <a:rPr lang="en-US" sz="1400" b="1" dirty="0" err="1">
                <a:solidFill>
                  <a:srgbClr val="1B2740"/>
                </a:solidFill>
                <a:latin typeface="Aptos" panose="020B0004020202020204" pitchFamily="34" charset="0"/>
                <a:ea typeface="Calibri" pitchFamily="34" charset="-122"/>
                <a:cs typeface="Calibri" pitchFamily="34" charset="-120"/>
              </a:rPr>
              <a:t>d'erreur</a:t>
            </a:r>
            <a:r>
              <a:rPr lang="en-US" sz="1400" b="1" dirty="0">
                <a:solidFill>
                  <a:srgbClr val="1B2740"/>
                </a:solidFill>
                <a:latin typeface="Aptos" panose="020B0004020202020204" pitchFamily="34" charset="0"/>
                <a:ea typeface="Calibri" pitchFamily="34" charset="-122"/>
                <a:cs typeface="Calibri" pitchFamily="34" charset="-120"/>
              </a:rPr>
              <a:t> </a:t>
            </a:r>
            <a:r>
              <a:rPr lang="en-US" sz="1400" dirty="0">
                <a:solidFill>
                  <a:srgbClr val="1B2740"/>
                </a:solidFill>
                <a:latin typeface="Aptos" panose="020B0004020202020204" pitchFamily="34" charset="0"/>
                <a:ea typeface="Calibri" pitchFamily="34" charset="-122"/>
                <a:cs typeface="Calibri" pitchFamily="34" charset="-120"/>
              </a:rPr>
              <a:t>(try/except)</a:t>
            </a:r>
            <a:r>
              <a:rPr lang="en-US" sz="1400" b="1" dirty="0">
                <a:solidFill>
                  <a:srgbClr val="1B2740"/>
                </a:solidFill>
                <a:latin typeface="Aptos" panose="020B0004020202020204" pitchFamily="34" charset="0"/>
                <a:ea typeface="Calibri" pitchFamily="34" charset="-122"/>
                <a:cs typeface="Calibri" pitchFamily="34" charset="-120"/>
              </a:rPr>
              <a:t> : </a:t>
            </a:r>
            <a:r>
              <a:rPr lang="en-US" sz="1400" dirty="0">
                <a:solidFill>
                  <a:srgbClr val="1B2740"/>
                </a:solidFill>
                <a:latin typeface="Aptos" panose="020B0004020202020204" pitchFamily="34" charset="0"/>
                <a:ea typeface="Calibri" pitchFamily="34" charset="-122"/>
                <a:cs typeface="Calibri" pitchFamily="34" charset="-120"/>
              </a:rPr>
              <a:t>“</a:t>
            </a:r>
            <a:r>
              <a:rPr lang="en-US" sz="1400" u="sng" dirty="0">
                <a:solidFill>
                  <a:srgbClr val="1B2740"/>
                </a:solidFill>
                <a:latin typeface="Aptos" panose="020B0004020202020204" pitchFamily="34" charset="0"/>
                <a:ea typeface="Calibri" pitchFamily="34" charset="-122"/>
                <a:cs typeface="Calibri" pitchFamily="34" charset="-120"/>
              </a:rPr>
              <a:t>tout </a:t>
            </a:r>
            <a:r>
              <a:rPr lang="en-US" sz="1400" u="sng" dirty="0" err="1">
                <a:solidFill>
                  <a:srgbClr val="1B2740"/>
                </a:solidFill>
                <a:latin typeface="Aptos" panose="020B0004020202020204" pitchFamily="34" charset="0"/>
                <a:ea typeface="Calibri" pitchFamily="34" charset="-122"/>
                <a:cs typeface="Calibri" pitchFamily="34" charset="-120"/>
              </a:rPr>
              <a:t>ou</a:t>
            </a:r>
            <a:r>
              <a:rPr lang="en-US" sz="1400" u="sng" dirty="0">
                <a:solidFill>
                  <a:srgbClr val="1B2740"/>
                </a:solidFill>
                <a:latin typeface="Aptos" panose="020B0004020202020204" pitchFamily="34" charset="0"/>
                <a:ea typeface="Calibri" pitchFamily="34" charset="-122"/>
                <a:cs typeface="Calibri" pitchFamily="34" charset="-120"/>
              </a:rPr>
              <a:t> rien</a:t>
            </a:r>
            <a:r>
              <a:rPr lang="en-US" sz="1400" dirty="0">
                <a:solidFill>
                  <a:srgbClr val="1B2740"/>
                </a:solidFill>
                <a:latin typeface="Aptos" panose="020B0004020202020204" pitchFamily="34" charset="0"/>
                <a:ea typeface="Calibri" pitchFamily="34" charset="-122"/>
                <a:cs typeface="Calibri" pitchFamily="34" charset="-120"/>
              </a:rPr>
              <a:t>”.</a:t>
            </a:r>
            <a:endParaRPr lang="en-US" sz="1400" dirty="0">
              <a:latin typeface="Aptos" panose="020B0004020202020204" pitchFamily="34" charset="0"/>
            </a:endParaRPr>
          </a:p>
          <a:p>
            <a:pPr algn="just">
              <a:lnSpc>
                <a:spcPct val="130000"/>
              </a:lnSpc>
            </a:pPr>
            <a:r>
              <a:rPr lang="fr-FR" sz="1400" dirty="0">
                <a:solidFill>
                  <a:srgbClr val="1B2740"/>
                </a:solidFill>
                <a:latin typeface="Aptos" panose="020B0004020202020204" pitchFamily="34" charset="0"/>
              </a:rPr>
              <a:t>    » </a:t>
            </a:r>
            <a:r>
              <a:rPr lang="en-US" sz="1400" dirty="0">
                <a:solidFill>
                  <a:srgbClr val="1B2740"/>
                </a:solidFill>
                <a:latin typeface="Aptos" panose="020B0004020202020204" pitchFamily="34" charset="0"/>
                <a:ea typeface="Calibri" pitchFamily="34" charset="-122"/>
                <a:cs typeface="Calibri" pitchFamily="34" charset="-120"/>
              </a:rPr>
              <a:t>Sans les ventes, aucune étape suivante n'a de sens.</a:t>
            </a:r>
            <a:endParaRPr lang="en-US" sz="1400" dirty="0">
              <a:latin typeface="Aptos" panose="020B0004020202020204" pitchFamily="34" charset="0"/>
            </a:endParaRPr>
          </a:p>
          <a:p>
            <a:pPr marL="0" indent="0" algn="just">
              <a:lnSpc>
                <a:spcPct val="130000"/>
              </a:lnSpc>
              <a:buNone/>
            </a:pPr>
            <a:endParaRPr lang="en-US" sz="1400" dirty="0">
              <a:latin typeface="Aptos" panose="020B0004020202020204" pitchFamily="34" charset="0"/>
            </a:endParaRPr>
          </a:p>
          <a:p>
            <a:pPr marL="0" indent="0" algn="just">
              <a:lnSpc>
                <a:spcPct val="130000"/>
              </a:lnSpc>
              <a:buNone/>
            </a:pPr>
            <a:r>
              <a:rPr lang="en-US" sz="1400" i="1" dirty="0">
                <a:solidFill>
                  <a:srgbClr val="1B2740"/>
                </a:solidFill>
                <a:latin typeface="Aptos" panose="020B0004020202020204" pitchFamily="34" charset="0"/>
                <a:ea typeface="Calibri" pitchFamily="34" charset="-122"/>
                <a:cs typeface="Calibri" pitchFamily="34" charset="-120"/>
              </a:rPr>
              <a:t>FileNotFoundError</a:t>
            </a:r>
            <a:r>
              <a:rPr lang="en-US" sz="1400" dirty="0">
                <a:solidFill>
                  <a:srgbClr val="1B2740"/>
                </a:solidFill>
                <a:latin typeface="Aptos" panose="020B0004020202020204" pitchFamily="34" charset="0"/>
                <a:ea typeface="Calibri" pitchFamily="34" charset="-122"/>
                <a:cs typeface="Calibri" pitchFamily="34" charset="-120"/>
              </a:rPr>
              <a:t> explicite + relance propre en cas d'échec de lecture: “</a:t>
            </a:r>
            <a:r>
              <a:rPr lang="en-US" sz="1400" i="1" dirty="0">
                <a:solidFill>
                  <a:srgbClr val="1B2740"/>
                </a:solidFill>
                <a:latin typeface="Aptos" panose="020B0004020202020204" pitchFamily="34" charset="0"/>
                <a:ea typeface="Calibri" pitchFamily="34" charset="-122"/>
                <a:cs typeface="Calibri" pitchFamily="34" charset="-120"/>
              </a:rPr>
              <a:t>Unexpected error while reading the CSV file</a:t>
            </a:r>
            <a:r>
              <a:rPr lang="en-US" sz="1400" dirty="0">
                <a:solidFill>
                  <a:srgbClr val="1B2740"/>
                </a:solidFill>
                <a:latin typeface="Aptos" panose="020B0004020202020204" pitchFamily="34" charset="0"/>
                <a:ea typeface="Calibri" pitchFamily="34" charset="-122"/>
                <a:cs typeface="Calibri" pitchFamily="34" charset="-120"/>
              </a:rPr>
              <a:t>”.</a:t>
            </a:r>
            <a:endParaRPr lang="en-US" sz="1400" dirty="0">
              <a:latin typeface="Aptos" panose="020B0004020202020204" pitchFamily="34" charset="0"/>
            </a:endParaRPr>
          </a:p>
        </p:txBody>
      </p:sp>
      <p:sp>
        <p:nvSpPr>
          <p:cNvPr id="10" name="Shape 8"/>
          <p:cNvSpPr/>
          <p:nvPr/>
        </p:nvSpPr>
        <p:spPr>
          <a:xfrm>
            <a:off x="6263640" y="1691640"/>
            <a:ext cx="5349240" cy="4206240"/>
          </a:xfrm>
          <a:prstGeom prst="roundRect">
            <a:avLst>
              <a:gd name="adj" fmla="val 2174"/>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11" name="Text 9"/>
          <p:cNvSpPr/>
          <p:nvPr/>
        </p:nvSpPr>
        <p:spPr>
          <a:xfrm>
            <a:off x="6583680" y="1965960"/>
            <a:ext cx="4709160" cy="365760"/>
          </a:xfrm>
          <a:prstGeom prst="rect">
            <a:avLst/>
          </a:prstGeom>
          <a:noFill/>
          <a:ln/>
        </p:spPr>
        <p:txBody>
          <a:bodyPr wrap="square" lIns="0" tIns="0" rIns="0" bIns="0" rtlCol="0" anchor="ctr"/>
          <a:lstStyle/>
          <a:p>
            <a:pPr marL="0" indent="0">
              <a:buNone/>
            </a:pPr>
            <a:r>
              <a:rPr lang="en-US" sz="1700" b="1" dirty="0">
                <a:solidFill>
                  <a:srgbClr val="E8452F"/>
                </a:solidFill>
                <a:latin typeface="Aptos" panose="020B0004020202020204" pitchFamily="34" charset="0"/>
                <a:ea typeface="Calibri" pitchFamily="34" charset="-122"/>
                <a:cs typeface="Calibri" pitchFamily="34" charset="-120"/>
              </a:rPr>
              <a:t>bookworld_reference.db</a:t>
            </a:r>
            <a:endParaRPr lang="en-US" sz="1700" dirty="0">
              <a:latin typeface="Aptos" panose="020B0004020202020204" pitchFamily="34" charset="0"/>
            </a:endParaRPr>
          </a:p>
        </p:txBody>
      </p:sp>
      <p:sp>
        <p:nvSpPr>
          <p:cNvPr id="12" name="Text 10"/>
          <p:cNvSpPr/>
          <p:nvPr/>
        </p:nvSpPr>
        <p:spPr>
          <a:xfrm>
            <a:off x="6583680" y="2468880"/>
            <a:ext cx="4709160" cy="1118382"/>
          </a:xfrm>
          <a:prstGeom prst="rect">
            <a:avLst/>
          </a:prstGeom>
          <a:noFill/>
          <a:ln/>
        </p:spPr>
        <p:txBody>
          <a:bodyPr wrap="square" lIns="0" tIns="0" rIns="0" bIns="0" rtlCol="0" anchor="ctr"/>
          <a:lstStyle/>
          <a:p>
            <a:pPr marL="0" indent="0">
              <a:buNone/>
            </a:pPr>
            <a:r>
              <a:rPr lang="en-US" sz="1400" dirty="0">
                <a:solidFill>
                  <a:srgbClr val="1B2740"/>
                </a:solidFill>
                <a:latin typeface="Aptos" panose="020B0004020202020204" pitchFamily="34" charset="0"/>
                <a:ea typeface="Consolas" pitchFamily="34" charset="-122"/>
                <a:cs typeface="Consolas" pitchFamily="34" charset="-120"/>
              </a:rPr>
              <a:t>run_query(label, query, conn)</a:t>
            </a:r>
          </a:p>
          <a:p>
            <a:r>
              <a:rPr lang="fr-FR" sz="1400" dirty="0">
                <a:solidFill>
                  <a:srgbClr val="1B2740"/>
                </a:solidFill>
                <a:latin typeface="Aptos" panose="020B0004020202020204" pitchFamily="34" charset="0"/>
              </a:rPr>
              <a:t> » </a:t>
            </a:r>
            <a:r>
              <a:rPr lang="en-US" sz="1400" dirty="0">
                <a:solidFill>
                  <a:srgbClr val="1B2740"/>
                </a:solidFill>
                <a:latin typeface="Aptos" panose="020B0004020202020204" pitchFamily="34" charset="0"/>
                <a:ea typeface="Calibri" pitchFamily="34" charset="-122"/>
                <a:cs typeface="Calibri" pitchFamily="34" charset="-120"/>
              </a:rPr>
              <a:t>3 tables de </a:t>
            </a:r>
            <a:r>
              <a:rPr lang="en-US" sz="1400" dirty="0" err="1">
                <a:solidFill>
                  <a:srgbClr val="1B2740"/>
                </a:solidFill>
                <a:latin typeface="Aptos" panose="020B0004020202020204" pitchFamily="34" charset="0"/>
                <a:ea typeface="Calibri" pitchFamily="34" charset="-122"/>
                <a:cs typeface="Calibri" pitchFamily="34" charset="-120"/>
              </a:rPr>
              <a:t>référence</a:t>
            </a:r>
            <a:r>
              <a:rPr lang="en-US" sz="1400" dirty="0">
                <a:solidFill>
                  <a:srgbClr val="1B2740"/>
                </a:solidFill>
                <a:latin typeface="Aptos" panose="020B0004020202020204" pitchFamily="34" charset="0"/>
                <a:ea typeface="Calibri" pitchFamily="34" charset="-122"/>
                <a:cs typeface="Calibri" pitchFamily="34" charset="-120"/>
              </a:rPr>
              <a:t> lues via </a:t>
            </a:r>
            <a:r>
              <a:rPr lang="en-US" sz="1400" dirty="0" err="1">
                <a:solidFill>
                  <a:srgbClr val="1B2740"/>
                </a:solidFill>
                <a:latin typeface="Aptos" panose="020B0004020202020204" pitchFamily="34" charset="0"/>
                <a:ea typeface="Calibri" pitchFamily="34" charset="-122"/>
                <a:cs typeface="Calibri" pitchFamily="34" charset="-120"/>
              </a:rPr>
              <a:t>une</a:t>
            </a:r>
            <a:r>
              <a:rPr lang="en-US" sz="1400" dirty="0">
                <a:solidFill>
                  <a:srgbClr val="1B2740"/>
                </a:solidFill>
                <a:latin typeface="Aptos" panose="020B0004020202020204" pitchFamily="34" charset="0"/>
                <a:ea typeface="Calibri" pitchFamily="34" charset="-122"/>
                <a:cs typeface="Calibri" pitchFamily="34" charset="-120"/>
              </a:rPr>
              <a:t> </a:t>
            </a:r>
            <a:r>
              <a:rPr lang="en-US" sz="1400" dirty="0" err="1">
                <a:solidFill>
                  <a:srgbClr val="1B2740"/>
                </a:solidFill>
                <a:latin typeface="Aptos" panose="020B0004020202020204" pitchFamily="34" charset="0"/>
                <a:ea typeface="Calibri" pitchFamily="34" charset="-122"/>
                <a:cs typeface="Calibri" pitchFamily="34" charset="-120"/>
              </a:rPr>
              <a:t>fonction</a:t>
            </a:r>
            <a:r>
              <a:rPr lang="en-US" sz="1400" dirty="0">
                <a:solidFill>
                  <a:srgbClr val="1B2740"/>
                </a:solidFill>
                <a:latin typeface="Aptos" panose="020B0004020202020204" pitchFamily="34" charset="0"/>
                <a:ea typeface="Calibri" pitchFamily="34" charset="-122"/>
                <a:cs typeface="Calibri" pitchFamily="34" charset="-120"/>
              </a:rPr>
              <a:t> </a:t>
            </a:r>
            <a:r>
              <a:rPr lang="en-US" sz="1400" dirty="0" err="1">
                <a:solidFill>
                  <a:srgbClr val="1B2740"/>
                </a:solidFill>
                <a:latin typeface="Aptos" panose="020B0004020202020204" pitchFamily="34" charset="0"/>
                <a:ea typeface="Calibri" pitchFamily="34" charset="-122"/>
                <a:cs typeface="Calibri" pitchFamily="34" charset="-120"/>
              </a:rPr>
              <a:t>utilitaire</a:t>
            </a:r>
            <a:r>
              <a:rPr lang="en-US" sz="1400" dirty="0">
                <a:solidFill>
                  <a:srgbClr val="1B2740"/>
                </a:solidFill>
                <a:latin typeface="Aptos" panose="020B0004020202020204" pitchFamily="34" charset="0"/>
                <a:ea typeface="Calibri" pitchFamily="34" charset="-122"/>
                <a:cs typeface="Calibri" pitchFamily="34" charset="-120"/>
              </a:rPr>
              <a:t> commune, qui </a:t>
            </a:r>
            <a:r>
              <a:rPr lang="en-US" sz="1400" dirty="0" err="1">
                <a:solidFill>
                  <a:srgbClr val="1B2740"/>
                </a:solidFill>
                <a:latin typeface="Aptos" panose="020B0004020202020204" pitchFamily="34" charset="0"/>
                <a:ea typeface="Calibri" pitchFamily="34" charset="-122"/>
                <a:cs typeface="Calibri" pitchFamily="34" charset="-120"/>
              </a:rPr>
              <a:t>centralise</a:t>
            </a:r>
            <a:r>
              <a:rPr lang="en-US" sz="1400" dirty="0">
                <a:solidFill>
                  <a:srgbClr val="1B2740"/>
                </a:solidFill>
                <a:latin typeface="Aptos" panose="020B0004020202020204" pitchFamily="34" charset="0"/>
                <a:ea typeface="Calibri" pitchFamily="34" charset="-122"/>
                <a:cs typeface="Calibri" pitchFamily="34" charset="-120"/>
              </a:rPr>
              <a:t> la </a:t>
            </a:r>
            <a:r>
              <a:rPr lang="en-US" sz="1400" dirty="0" err="1">
                <a:solidFill>
                  <a:srgbClr val="1B2740"/>
                </a:solidFill>
                <a:latin typeface="Aptos" panose="020B0004020202020204" pitchFamily="34" charset="0"/>
                <a:ea typeface="Calibri" pitchFamily="34" charset="-122"/>
                <a:cs typeface="Calibri" pitchFamily="34" charset="-120"/>
              </a:rPr>
              <a:t>connexion</a:t>
            </a:r>
            <a:r>
              <a:rPr lang="en-US" sz="1400" dirty="0">
                <a:solidFill>
                  <a:srgbClr val="1B2740"/>
                </a:solidFill>
                <a:latin typeface="Aptos" panose="020B0004020202020204" pitchFamily="34" charset="0"/>
                <a:ea typeface="Calibri" pitchFamily="34" charset="-122"/>
                <a:cs typeface="Calibri" pitchFamily="34" charset="-120"/>
              </a:rPr>
              <a:t> et la gestion </a:t>
            </a:r>
            <a:r>
              <a:rPr lang="en-US" sz="1400" dirty="0" err="1">
                <a:solidFill>
                  <a:srgbClr val="1B2740"/>
                </a:solidFill>
                <a:latin typeface="Aptos" panose="020B0004020202020204" pitchFamily="34" charset="0"/>
                <a:ea typeface="Calibri" pitchFamily="34" charset="-122"/>
                <a:cs typeface="Calibri" pitchFamily="34" charset="-120"/>
              </a:rPr>
              <a:t>d'erreur</a:t>
            </a:r>
            <a:r>
              <a:rPr lang="en-US" sz="1400" dirty="0">
                <a:solidFill>
                  <a:srgbClr val="1B2740"/>
                </a:solidFill>
                <a:latin typeface="Aptos" panose="020B0004020202020204" pitchFamily="34" charset="0"/>
                <a:ea typeface="Calibri" pitchFamily="34" charset="-122"/>
                <a:cs typeface="Calibri" pitchFamily="34" charset="-120"/>
              </a:rPr>
              <a:t> (</a:t>
            </a:r>
            <a:r>
              <a:rPr lang="en-US" sz="1400" dirty="0" err="1">
                <a:solidFill>
                  <a:srgbClr val="1B2740"/>
                </a:solidFill>
                <a:latin typeface="Aptos" panose="020B0004020202020204" pitchFamily="34" charset="0"/>
                <a:ea typeface="Calibri" pitchFamily="34" charset="-122"/>
                <a:cs typeface="Calibri" pitchFamily="34" charset="-120"/>
              </a:rPr>
              <a:t>évite</a:t>
            </a:r>
            <a:r>
              <a:rPr lang="en-US" sz="1400" dirty="0">
                <a:solidFill>
                  <a:srgbClr val="1B2740"/>
                </a:solidFill>
                <a:latin typeface="Aptos" panose="020B0004020202020204" pitchFamily="34" charset="0"/>
                <a:ea typeface="Calibri" pitchFamily="34" charset="-122"/>
                <a:cs typeface="Calibri" pitchFamily="34" charset="-120"/>
              </a:rPr>
              <a:t> de </a:t>
            </a:r>
            <a:r>
              <a:rPr lang="en-US" sz="1400" dirty="0" err="1">
                <a:solidFill>
                  <a:srgbClr val="1B2740"/>
                </a:solidFill>
                <a:latin typeface="Aptos" panose="020B0004020202020204" pitchFamily="34" charset="0"/>
                <a:ea typeface="Calibri" pitchFamily="34" charset="-122"/>
                <a:cs typeface="Calibri" pitchFamily="34" charset="-120"/>
              </a:rPr>
              <a:t>répéter</a:t>
            </a:r>
            <a:r>
              <a:rPr lang="en-US" sz="1400" dirty="0">
                <a:solidFill>
                  <a:srgbClr val="1B2740"/>
                </a:solidFill>
                <a:latin typeface="Aptos" panose="020B0004020202020204" pitchFamily="34" charset="0"/>
                <a:ea typeface="Calibri" pitchFamily="34" charset="-122"/>
                <a:cs typeface="Calibri" pitchFamily="34" charset="-120"/>
              </a:rPr>
              <a:t> try/except à </a:t>
            </a:r>
            <a:r>
              <a:rPr lang="en-US" sz="1400" dirty="0" err="1">
                <a:solidFill>
                  <a:srgbClr val="1B2740"/>
                </a:solidFill>
                <a:latin typeface="Aptos" panose="020B0004020202020204" pitchFamily="34" charset="0"/>
                <a:ea typeface="Calibri" pitchFamily="34" charset="-122"/>
                <a:cs typeface="Calibri" pitchFamily="34" charset="-120"/>
              </a:rPr>
              <a:t>chaque</a:t>
            </a:r>
            <a:r>
              <a:rPr lang="en-US" sz="1400" dirty="0">
                <a:solidFill>
                  <a:srgbClr val="1B2740"/>
                </a:solidFill>
                <a:latin typeface="Aptos" panose="020B0004020202020204" pitchFamily="34" charset="0"/>
                <a:ea typeface="Calibri" pitchFamily="34" charset="-122"/>
                <a:cs typeface="Calibri" pitchFamily="34" charset="-120"/>
              </a:rPr>
              <a:t> </a:t>
            </a:r>
            <a:r>
              <a:rPr lang="en-US" sz="1400" dirty="0" err="1">
                <a:solidFill>
                  <a:srgbClr val="1B2740"/>
                </a:solidFill>
                <a:latin typeface="Aptos" panose="020B0004020202020204" pitchFamily="34" charset="0"/>
                <a:ea typeface="Calibri" pitchFamily="34" charset="-122"/>
                <a:cs typeface="Calibri" pitchFamily="34" charset="-120"/>
              </a:rPr>
              <a:t>requête</a:t>
            </a:r>
            <a:r>
              <a:rPr lang="en-US" sz="1400" dirty="0">
                <a:solidFill>
                  <a:srgbClr val="1B2740"/>
                </a:solidFill>
                <a:latin typeface="Aptos" panose="020B0004020202020204" pitchFamily="34" charset="0"/>
                <a:ea typeface="Calibri" pitchFamily="34" charset="-122"/>
                <a:cs typeface="Calibri" pitchFamily="34" charset="-120"/>
              </a:rPr>
              <a:t>).</a:t>
            </a:r>
            <a:endParaRPr lang="en-US" sz="1400" dirty="0">
              <a:latin typeface="Aptos" panose="020B0004020202020204" pitchFamily="34" charset="0"/>
            </a:endParaRPr>
          </a:p>
        </p:txBody>
      </p:sp>
      <p:sp>
        <p:nvSpPr>
          <p:cNvPr id="13" name="Text 11"/>
          <p:cNvSpPr/>
          <p:nvPr/>
        </p:nvSpPr>
        <p:spPr>
          <a:xfrm>
            <a:off x="6583679" y="3200401"/>
            <a:ext cx="4881489" cy="2651760"/>
          </a:xfrm>
          <a:prstGeom prst="rect">
            <a:avLst/>
          </a:prstGeom>
          <a:noFill/>
          <a:ln/>
        </p:spPr>
        <p:txBody>
          <a:bodyPr wrap="square" lIns="0" tIns="0" rIns="0" bIns="0" rtlCol="0" anchor="ctr"/>
          <a:lstStyle/>
          <a:p>
            <a:pPr algn="just">
              <a:lnSpc>
                <a:spcPct val="130000"/>
              </a:lnSpc>
            </a:pPr>
            <a:r>
              <a:rPr lang="en-US" sz="1400" b="1" dirty="0">
                <a:solidFill>
                  <a:srgbClr val="1B2740"/>
                </a:solidFill>
                <a:latin typeface="Aptos" panose="020B0004020202020204" pitchFamily="34" charset="0"/>
                <a:ea typeface="Calibri" pitchFamily="34" charset="-122"/>
                <a:cs typeface="Calibri" pitchFamily="34" charset="-120"/>
              </a:rPr>
              <a:t>Gestion </a:t>
            </a:r>
            <a:r>
              <a:rPr lang="en-US" sz="1400" b="1" dirty="0" err="1">
                <a:solidFill>
                  <a:srgbClr val="1B2740"/>
                </a:solidFill>
                <a:latin typeface="Aptos" panose="020B0004020202020204" pitchFamily="34" charset="0"/>
                <a:ea typeface="Calibri" pitchFamily="34" charset="-122"/>
                <a:cs typeface="Calibri" pitchFamily="34" charset="-120"/>
              </a:rPr>
              <a:t>d'erreur</a:t>
            </a:r>
            <a:r>
              <a:rPr lang="en-US" sz="1400" b="1" dirty="0">
                <a:solidFill>
                  <a:srgbClr val="1B2740"/>
                </a:solidFill>
                <a:latin typeface="Aptos" panose="020B0004020202020204" pitchFamily="34" charset="0"/>
                <a:ea typeface="Calibri" pitchFamily="34" charset="-122"/>
                <a:cs typeface="Calibri" pitchFamily="34" charset="-120"/>
              </a:rPr>
              <a:t> </a:t>
            </a:r>
            <a:r>
              <a:rPr lang="en-US" sz="1400" dirty="0">
                <a:solidFill>
                  <a:srgbClr val="1B2740"/>
                </a:solidFill>
                <a:latin typeface="Aptos" panose="020B0004020202020204" pitchFamily="34" charset="0"/>
                <a:ea typeface="Calibri" pitchFamily="34" charset="-122"/>
                <a:cs typeface="Calibri" pitchFamily="34" charset="-120"/>
              </a:rPr>
              <a:t>(try/except)</a:t>
            </a:r>
            <a:r>
              <a:rPr lang="en-US" sz="1400" b="1" dirty="0">
                <a:solidFill>
                  <a:srgbClr val="1B2740"/>
                </a:solidFill>
                <a:latin typeface="Aptos" panose="020B0004020202020204" pitchFamily="34" charset="0"/>
                <a:ea typeface="Calibri" pitchFamily="34" charset="-122"/>
                <a:cs typeface="Calibri" pitchFamily="34" charset="-120"/>
              </a:rPr>
              <a:t> : </a:t>
            </a:r>
            <a:r>
              <a:rPr lang="en-US" sz="1400" dirty="0">
                <a:solidFill>
                  <a:srgbClr val="1B2740"/>
                </a:solidFill>
                <a:latin typeface="Aptos" panose="020B0004020202020204" pitchFamily="34" charset="0"/>
                <a:ea typeface="Calibri" pitchFamily="34" charset="-122"/>
                <a:cs typeface="Calibri" pitchFamily="34" charset="-120"/>
              </a:rPr>
              <a:t>“</a:t>
            </a:r>
            <a:r>
              <a:rPr lang="en-US" sz="1400" u="sng" dirty="0">
                <a:solidFill>
                  <a:srgbClr val="1B2740"/>
                </a:solidFill>
                <a:latin typeface="Aptos" panose="020B0004020202020204" pitchFamily="34" charset="0"/>
                <a:ea typeface="Calibri" pitchFamily="34" charset="-122"/>
                <a:cs typeface="Calibri" pitchFamily="34" charset="-120"/>
              </a:rPr>
              <a:t>tout </a:t>
            </a:r>
            <a:r>
              <a:rPr lang="en-US" sz="1400" u="sng" dirty="0" err="1">
                <a:solidFill>
                  <a:srgbClr val="1B2740"/>
                </a:solidFill>
                <a:latin typeface="Aptos" panose="020B0004020202020204" pitchFamily="34" charset="0"/>
                <a:ea typeface="Calibri" pitchFamily="34" charset="-122"/>
                <a:cs typeface="Calibri" pitchFamily="34" charset="-120"/>
              </a:rPr>
              <a:t>ou</a:t>
            </a:r>
            <a:r>
              <a:rPr lang="en-US" sz="1400" u="sng" dirty="0">
                <a:solidFill>
                  <a:srgbClr val="1B2740"/>
                </a:solidFill>
                <a:latin typeface="Aptos" panose="020B0004020202020204" pitchFamily="34" charset="0"/>
                <a:ea typeface="Calibri" pitchFamily="34" charset="-122"/>
                <a:cs typeface="Calibri" pitchFamily="34" charset="-120"/>
              </a:rPr>
              <a:t> rien</a:t>
            </a:r>
            <a:r>
              <a:rPr lang="en-US" sz="1400" dirty="0">
                <a:solidFill>
                  <a:srgbClr val="1B2740"/>
                </a:solidFill>
                <a:latin typeface="Aptos" panose="020B0004020202020204" pitchFamily="34" charset="0"/>
                <a:ea typeface="Calibri" pitchFamily="34" charset="-122"/>
                <a:cs typeface="Calibri" pitchFamily="34" charset="-120"/>
              </a:rPr>
              <a:t>”.</a:t>
            </a:r>
          </a:p>
          <a:p>
            <a:pPr algn="just">
              <a:lnSpc>
                <a:spcPct val="130000"/>
              </a:lnSpc>
            </a:pPr>
            <a:r>
              <a:rPr lang="fr-FR" sz="1400" dirty="0">
                <a:solidFill>
                  <a:srgbClr val="1B2740"/>
                </a:solidFill>
                <a:latin typeface="Aptos" panose="020B0004020202020204" pitchFamily="34" charset="0"/>
              </a:rPr>
              <a:t> » Sans les tables de références, étape suivante n’a pas de sens. </a:t>
            </a:r>
          </a:p>
          <a:p>
            <a:pPr algn="just">
              <a:lnSpc>
                <a:spcPct val="130000"/>
              </a:lnSpc>
            </a:pPr>
            <a:endParaRPr lang="fr-FR" sz="1400" dirty="0">
              <a:solidFill>
                <a:srgbClr val="1B2740"/>
              </a:solidFill>
              <a:latin typeface="Aptos" panose="020B0004020202020204" pitchFamily="34" charset="0"/>
            </a:endParaRPr>
          </a:p>
          <a:p>
            <a:pPr algn="just">
              <a:lnSpc>
                <a:spcPct val="130000"/>
              </a:lnSpc>
            </a:pPr>
            <a:r>
              <a:rPr lang="fr-FR" sz="1400" dirty="0">
                <a:solidFill>
                  <a:srgbClr val="1B2740"/>
                </a:solidFill>
                <a:latin typeface="Aptos" panose="020B0004020202020204" pitchFamily="34" charset="0"/>
              </a:rPr>
              <a:t>Relance en cas d’erreur de lecture de la table : </a:t>
            </a:r>
            <a:r>
              <a:rPr lang="en-US" sz="1400" dirty="0">
                <a:solidFill>
                  <a:srgbClr val="1B2740"/>
                </a:solidFill>
                <a:latin typeface="Aptos" panose="020B0004020202020204" pitchFamily="34" charset="0"/>
                <a:ea typeface="Calibri" pitchFamily="34" charset="-122"/>
                <a:cs typeface="Calibri" pitchFamily="34" charset="-120"/>
              </a:rPr>
              <a:t>“</a:t>
            </a:r>
            <a:r>
              <a:rPr lang="en-US" sz="1400" i="1" dirty="0">
                <a:solidFill>
                  <a:srgbClr val="1B2740"/>
                </a:solidFill>
                <a:latin typeface="Aptos" panose="020B0004020202020204" pitchFamily="34" charset="0"/>
                <a:ea typeface="Calibri" pitchFamily="34" charset="-122"/>
                <a:cs typeface="Calibri" pitchFamily="34" charset="-120"/>
              </a:rPr>
              <a:t>Error while reading '{label}’ </a:t>
            </a:r>
            <a:r>
              <a:rPr lang="en-US" sz="1400" dirty="0">
                <a:solidFill>
                  <a:srgbClr val="1B2740"/>
                </a:solidFill>
                <a:latin typeface="Aptos" panose="020B0004020202020204" pitchFamily="34" charset="0"/>
                <a:ea typeface="Calibri" pitchFamily="34" charset="-122"/>
                <a:cs typeface="Calibri" pitchFamily="34" charset="-120"/>
              </a:rPr>
              <a:t>”.</a:t>
            </a:r>
            <a:endParaRPr lang="fr-FR" sz="1400" dirty="0">
              <a:solidFill>
                <a:srgbClr val="1B2740"/>
              </a:solidFill>
              <a:latin typeface="Aptos" panose="020B0004020202020204" pitchFamily="34" charset="0"/>
            </a:endParaRPr>
          </a:p>
        </p:txBody>
      </p:sp>
      <p:sp>
        <p:nvSpPr>
          <p:cNvPr id="14" name="Text 1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6 / 20</a:t>
            </a:r>
            <a:endParaRPr lang="en-US" sz="1000" dirty="0">
              <a:latin typeface="Aptos" panose="020B00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7</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EXTRACTION — 3.3</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Scraping du catalogue</a:t>
            </a:r>
            <a:endParaRPr lang="en-US" sz="2600" dirty="0">
              <a:latin typeface="Aptos" panose="020B0004020202020204" pitchFamily="34" charset="0"/>
            </a:endParaRPr>
          </a:p>
        </p:txBody>
      </p:sp>
      <p:sp>
        <p:nvSpPr>
          <p:cNvPr id="6" name="Shape 4"/>
          <p:cNvSpPr/>
          <p:nvPr/>
        </p:nvSpPr>
        <p:spPr>
          <a:xfrm>
            <a:off x="548640" y="1691640"/>
            <a:ext cx="3291840" cy="1188720"/>
          </a:xfrm>
          <a:prstGeom prst="roundRect">
            <a:avLst>
              <a:gd name="adj" fmla="val 7692"/>
            </a:avLst>
          </a:prstGeom>
          <a:solidFill>
            <a:srgbClr val="1B2740"/>
          </a:solidFill>
          <a:ln/>
        </p:spPr>
        <p:txBody>
          <a:bodyPr/>
          <a:lstStyle/>
          <a:p>
            <a:endParaRPr lang="fr-FR">
              <a:latin typeface="Aptos" panose="020B0004020202020204" pitchFamily="34" charset="0"/>
            </a:endParaRPr>
          </a:p>
        </p:txBody>
      </p:sp>
      <p:sp>
        <p:nvSpPr>
          <p:cNvPr id="7" name="Text 5"/>
          <p:cNvSpPr/>
          <p:nvPr/>
        </p:nvSpPr>
        <p:spPr>
          <a:xfrm>
            <a:off x="777240" y="1874520"/>
            <a:ext cx="548640" cy="457200"/>
          </a:xfrm>
          <a:prstGeom prst="rect">
            <a:avLst/>
          </a:prstGeom>
          <a:noFill/>
          <a:ln/>
        </p:spPr>
        <p:txBody>
          <a:bodyPr wrap="square" lIns="0" tIns="0" rIns="0" bIns="0" rtlCol="0" anchor="ctr"/>
          <a:lstStyle/>
          <a:p>
            <a:pPr marL="0" indent="0">
              <a:buNone/>
            </a:pPr>
            <a:r>
              <a:rPr lang="en-US" sz="2200" b="1" dirty="0">
                <a:solidFill>
                  <a:srgbClr val="E8452F"/>
                </a:solidFill>
                <a:latin typeface="Aptos" panose="020B0004020202020204" pitchFamily="34" charset="0"/>
                <a:ea typeface="Calibri" pitchFamily="34" charset="-122"/>
                <a:cs typeface="Calibri" pitchFamily="34" charset="-120"/>
              </a:rPr>
              <a:t>1</a:t>
            </a:r>
            <a:endParaRPr lang="en-US" sz="2200" dirty="0">
              <a:latin typeface="Aptos" panose="020B0004020202020204" pitchFamily="34" charset="0"/>
            </a:endParaRPr>
          </a:p>
        </p:txBody>
      </p:sp>
      <p:sp>
        <p:nvSpPr>
          <p:cNvPr id="8" name="Text 6"/>
          <p:cNvSpPr/>
          <p:nvPr/>
        </p:nvSpPr>
        <p:spPr>
          <a:xfrm>
            <a:off x="1325880" y="1892808"/>
            <a:ext cx="2377440" cy="320040"/>
          </a:xfrm>
          <a:prstGeom prst="rect">
            <a:avLst/>
          </a:prstGeom>
          <a:noFill/>
          <a:ln/>
        </p:spPr>
        <p:txBody>
          <a:bodyPr wrap="square" lIns="0" tIns="0" rIns="0" bIns="0" rtlCol="0" anchor="ctr"/>
          <a:lstStyle/>
          <a:p>
            <a:pPr marL="0" indent="0">
              <a:buNone/>
            </a:pPr>
            <a:r>
              <a:rPr lang="en-US" sz="1450" b="1" dirty="0">
                <a:solidFill>
                  <a:srgbClr val="FFFFFF"/>
                </a:solidFill>
                <a:latin typeface="Aptos" panose="020B0004020202020204" pitchFamily="34" charset="0"/>
                <a:ea typeface="Calibri" pitchFamily="34" charset="-122"/>
                <a:cs typeface="Calibri" pitchFamily="34" charset="-120"/>
              </a:rPr>
              <a:t>Page liste</a:t>
            </a:r>
            <a:endParaRPr lang="en-US" sz="1450" dirty="0">
              <a:latin typeface="Aptos" panose="020B0004020202020204" pitchFamily="34" charset="0"/>
            </a:endParaRPr>
          </a:p>
        </p:txBody>
      </p:sp>
      <p:sp>
        <p:nvSpPr>
          <p:cNvPr id="9" name="Text 7"/>
          <p:cNvSpPr/>
          <p:nvPr/>
        </p:nvSpPr>
        <p:spPr>
          <a:xfrm>
            <a:off x="1325880" y="2258568"/>
            <a:ext cx="2377440" cy="502920"/>
          </a:xfrm>
          <a:prstGeom prst="rect">
            <a:avLst/>
          </a:prstGeom>
          <a:noFill/>
          <a:ln/>
        </p:spPr>
        <p:txBody>
          <a:bodyPr wrap="square" lIns="0" tIns="0" rIns="0" bIns="0" rtlCol="0" anchor="ctr"/>
          <a:lstStyle/>
          <a:p>
            <a:pPr marL="0" indent="0">
              <a:buNone/>
            </a:pPr>
            <a:r>
              <a:rPr lang="en-US" sz="1400" dirty="0">
                <a:solidFill>
                  <a:srgbClr val="C9CEDA"/>
                </a:solidFill>
                <a:latin typeface="Aptos" panose="020B0004020202020204" pitchFamily="34" charset="0"/>
                <a:ea typeface="Calibri" pitchFamily="34" charset="-122"/>
                <a:cs typeface="Calibri" pitchFamily="34" charset="-120"/>
              </a:rPr>
              <a:t>books.toscrape.com </a:t>
            </a:r>
          </a:p>
          <a:p>
            <a:pPr marL="0" indent="0">
              <a:buNone/>
            </a:pPr>
            <a:r>
              <a:rPr lang="en-US" sz="1400" dirty="0">
                <a:solidFill>
                  <a:srgbClr val="C9CEDA"/>
                </a:solidFill>
                <a:latin typeface="Aptos" panose="020B0004020202020204" pitchFamily="34" charset="0"/>
                <a:ea typeface="Calibri" pitchFamily="34" charset="-122"/>
                <a:cs typeface="Calibri" pitchFamily="34" charset="-120"/>
              </a:rPr>
              <a:t>20 livres</a:t>
            </a:r>
            <a:endParaRPr lang="en-US" sz="1400" dirty="0">
              <a:latin typeface="Aptos" panose="020B0004020202020204" pitchFamily="34" charset="0"/>
            </a:endParaRPr>
          </a:p>
        </p:txBody>
      </p:sp>
      <p:sp>
        <p:nvSpPr>
          <p:cNvPr id="10" name="Text 8"/>
          <p:cNvSpPr/>
          <p:nvPr/>
        </p:nvSpPr>
        <p:spPr>
          <a:xfrm>
            <a:off x="3840480" y="2011680"/>
            <a:ext cx="365760" cy="548640"/>
          </a:xfrm>
          <a:prstGeom prst="rect">
            <a:avLst/>
          </a:prstGeom>
          <a:noFill/>
          <a:ln/>
        </p:spPr>
        <p:txBody>
          <a:bodyPr wrap="square" lIns="0" tIns="0" rIns="0" bIns="0" rtlCol="0" anchor="ctr"/>
          <a:lstStyle/>
          <a:p>
            <a:pPr marL="0" indent="0" algn="ctr">
              <a:buNone/>
            </a:pPr>
            <a:r>
              <a:rPr lang="en-US" sz="2200" b="1" dirty="0">
                <a:solidFill>
                  <a:srgbClr val="1B2740"/>
                </a:solidFill>
                <a:latin typeface="Aptos" panose="020B0004020202020204" pitchFamily="34" charset="0"/>
                <a:ea typeface="Calibri" pitchFamily="34" charset="-122"/>
                <a:cs typeface="Calibri" pitchFamily="34" charset="-120"/>
              </a:rPr>
              <a:t>→</a:t>
            </a:r>
            <a:endParaRPr lang="en-US" sz="2200" dirty="0">
              <a:latin typeface="Aptos" panose="020B0004020202020204" pitchFamily="34" charset="0"/>
            </a:endParaRPr>
          </a:p>
        </p:txBody>
      </p:sp>
      <p:sp>
        <p:nvSpPr>
          <p:cNvPr id="11" name="Shape 9"/>
          <p:cNvSpPr/>
          <p:nvPr/>
        </p:nvSpPr>
        <p:spPr>
          <a:xfrm>
            <a:off x="4206240" y="1691640"/>
            <a:ext cx="3291840" cy="1188720"/>
          </a:xfrm>
          <a:prstGeom prst="roundRect">
            <a:avLst>
              <a:gd name="adj" fmla="val 7692"/>
            </a:avLst>
          </a:prstGeom>
          <a:solidFill>
            <a:srgbClr val="1B2740"/>
          </a:solidFill>
          <a:ln/>
        </p:spPr>
        <p:txBody>
          <a:bodyPr/>
          <a:lstStyle/>
          <a:p>
            <a:endParaRPr lang="fr-FR">
              <a:latin typeface="Aptos" panose="020B0004020202020204" pitchFamily="34" charset="0"/>
            </a:endParaRPr>
          </a:p>
        </p:txBody>
      </p:sp>
      <p:sp>
        <p:nvSpPr>
          <p:cNvPr id="12" name="Text 10"/>
          <p:cNvSpPr/>
          <p:nvPr/>
        </p:nvSpPr>
        <p:spPr>
          <a:xfrm>
            <a:off x="4434840" y="1874520"/>
            <a:ext cx="548640" cy="457200"/>
          </a:xfrm>
          <a:prstGeom prst="rect">
            <a:avLst/>
          </a:prstGeom>
          <a:noFill/>
          <a:ln/>
        </p:spPr>
        <p:txBody>
          <a:bodyPr wrap="square" lIns="0" tIns="0" rIns="0" bIns="0" rtlCol="0" anchor="ctr"/>
          <a:lstStyle/>
          <a:p>
            <a:pPr marL="0" indent="0">
              <a:buNone/>
            </a:pPr>
            <a:r>
              <a:rPr lang="en-US" sz="2200" b="1" dirty="0">
                <a:solidFill>
                  <a:srgbClr val="E8452F"/>
                </a:solidFill>
                <a:latin typeface="Aptos" panose="020B0004020202020204" pitchFamily="34" charset="0"/>
                <a:ea typeface="Calibri" pitchFamily="34" charset="-122"/>
                <a:cs typeface="Calibri" pitchFamily="34" charset="-120"/>
              </a:rPr>
              <a:t>2</a:t>
            </a:r>
            <a:endParaRPr lang="en-US" sz="2200" dirty="0">
              <a:latin typeface="Aptos" panose="020B0004020202020204" pitchFamily="34" charset="0"/>
            </a:endParaRPr>
          </a:p>
        </p:txBody>
      </p:sp>
      <p:sp>
        <p:nvSpPr>
          <p:cNvPr id="13" name="Text 11"/>
          <p:cNvSpPr/>
          <p:nvPr/>
        </p:nvSpPr>
        <p:spPr>
          <a:xfrm>
            <a:off x="4983480" y="1892808"/>
            <a:ext cx="2377440" cy="320040"/>
          </a:xfrm>
          <a:prstGeom prst="rect">
            <a:avLst/>
          </a:prstGeom>
          <a:noFill/>
          <a:ln/>
        </p:spPr>
        <p:txBody>
          <a:bodyPr wrap="square" lIns="0" tIns="0" rIns="0" bIns="0" rtlCol="0" anchor="ctr"/>
          <a:lstStyle/>
          <a:p>
            <a:pPr marL="0" indent="0">
              <a:buNone/>
            </a:pPr>
            <a:r>
              <a:rPr lang="en-US" sz="1450" b="1" dirty="0">
                <a:solidFill>
                  <a:srgbClr val="FFFFFF"/>
                </a:solidFill>
                <a:latin typeface="Aptos" panose="020B0004020202020204" pitchFamily="34" charset="0"/>
                <a:ea typeface="Calibri" pitchFamily="34" charset="-122"/>
                <a:cs typeface="Calibri" pitchFamily="34" charset="-120"/>
              </a:rPr>
              <a:t>Page détail</a:t>
            </a:r>
            <a:endParaRPr lang="en-US" sz="1450" dirty="0">
              <a:latin typeface="Aptos" panose="020B0004020202020204" pitchFamily="34" charset="0"/>
            </a:endParaRPr>
          </a:p>
        </p:txBody>
      </p:sp>
      <p:sp>
        <p:nvSpPr>
          <p:cNvPr id="14" name="Text 12"/>
          <p:cNvSpPr/>
          <p:nvPr/>
        </p:nvSpPr>
        <p:spPr>
          <a:xfrm>
            <a:off x="4983480" y="2258568"/>
            <a:ext cx="2377440" cy="502920"/>
          </a:xfrm>
          <a:prstGeom prst="rect">
            <a:avLst/>
          </a:prstGeom>
          <a:noFill/>
          <a:ln/>
        </p:spPr>
        <p:txBody>
          <a:bodyPr wrap="square" lIns="0" tIns="0" rIns="0" bIns="0" rtlCol="0" anchor="ctr"/>
          <a:lstStyle/>
          <a:p>
            <a:pPr marL="0" indent="0">
              <a:buNone/>
            </a:pPr>
            <a:r>
              <a:rPr lang="en-US" sz="1400" dirty="0">
                <a:solidFill>
                  <a:srgbClr val="C9CEDA"/>
                </a:solidFill>
                <a:latin typeface="Aptos" panose="020B0004020202020204" pitchFamily="34" charset="0"/>
                <a:ea typeface="Calibri" pitchFamily="34" charset="-122"/>
                <a:cs typeface="Calibri" pitchFamily="34" charset="-120"/>
              </a:rPr>
              <a:t>prix, catégorie, </a:t>
            </a:r>
          </a:p>
          <a:p>
            <a:pPr marL="0" indent="0">
              <a:buNone/>
            </a:pPr>
            <a:r>
              <a:rPr lang="en-US" sz="1400" dirty="0">
                <a:solidFill>
                  <a:srgbClr val="C9CEDA"/>
                </a:solidFill>
                <a:latin typeface="Aptos" panose="020B0004020202020204" pitchFamily="34" charset="0"/>
                <a:ea typeface="Calibri" pitchFamily="34" charset="-122"/>
                <a:cs typeface="Calibri" pitchFamily="34" charset="-120"/>
              </a:rPr>
              <a:t>note, disponibilité</a:t>
            </a:r>
            <a:endParaRPr lang="en-US" sz="1400" dirty="0">
              <a:latin typeface="Aptos" panose="020B0004020202020204" pitchFamily="34" charset="0"/>
            </a:endParaRPr>
          </a:p>
        </p:txBody>
      </p:sp>
      <p:sp>
        <p:nvSpPr>
          <p:cNvPr id="15" name="Shape 13"/>
          <p:cNvSpPr/>
          <p:nvPr/>
        </p:nvSpPr>
        <p:spPr>
          <a:xfrm>
            <a:off x="548640" y="3154680"/>
            <a:ext cx="11064240" cy="1234440"/>
          </a:xfrm>
          <a:prstGeom prst="roundRect">
            <a:avLst>
              <a:gd name="adj" fmla="val 7407"/>
            </a:avLst>
          </a:prstGeom>
          <a:solidFill>
            <a:srgbClr val="F2F1EF"/>
          </a:solidFill>
          <a:ln/>
        </p:spPr>
        <p:txBody>
          <a:bodyPr/>
          <a:lstStyle/>
          <a:p>
            <a:endParaRPr lang="fr-FR">
              <a:latin typeface="Aptos" panose="020B0004020202020204" pitchFamily="34" charset="0"/>
            </a:endParaRPr>
          </a:p>
        </p:txBody>
      </p:sp>
      <p:sp>
        <p:nvSpPr>
          <p:cNvPr id="16" name="Text 14"/>
          <p:cNvSpPr/>
          <p:nvPr/>
        </p:nvSpPr>
        <p:spPr>
          <a:xfrm>
            <a:off x="868680" y="3337560"/>
            <a:ext cx="10424160" cy="320040"/>
          </a:xfrm>
          <a:prstGeom prst="rect">
            <a:avLst/>
          </a:prstGeom>
          <a:noFill/>
          <a:ln/>
        </p:spPr>
        <p:txBody>
          <a:bodyPr wrap="square" lIns="0" tIns="0" rIns="0" bIns="0" rtlCol="0" anchor="ctr"/>
          <a:lstStyle/>
          <a:p>
            <a:pPr marL="0" indent="0">
              <a:buNone/>
            </a:pPr>
            <a:r>
              <a:rPr lang="en-US" sz="1400" b="1" dirty="0">
                <a:solidFill>
                  <a:srgbClr val="E8452F"/>
                </a:solidFill>
                <a:latin typeface="Aptos" panose="020B0004020202020204" pitchFamily="34" charset="0"/>
                <a:ea typeface="Calibri" pitchFamily="34" charset="-122"/>
                <a:cs typeface="Calibri" pitchFamily="34" charset="-120"/>
              </a:rPr>
              <a:t>Scoping HTML — pourquoi limiter la recherche à 2 zones précises</a:t>
            </a:r>
            <a:endParaRPr lang="en-US" sz="1400" dirty="0">
              <a:latin typeface="Aptos" panose="020B0004020202020204" pitchFamily="34" charset="0"/>
            </a:endParaRPr>
          </a:p>
        </p:txBody>
      </p:sp>
      <p:sp>
        <p:nvSpPr>
          <p:cNvPr id="17" name="Text 15"/>
          <p:cNvSpPr/>
          <p:nvPr/>
        </p:nvSpPr>
        <p:spPr>
          <a:xfrm>
            <a:off x="868680" y="3703320"/>
            <a:ext cx="10424160" cy="640080"/>
          </a:xfrm>
          <a:prstGeom prst="rect">
            <a:avLst/>
          </a:prstGeom>
          <a:noFill/>
          <a:ln/>
        </p:spPr>
        <p:txBody>
          <a:bodyPr wrap="square" lIns="0" tIns="0" rIns="0" bIns="0" rtlCol="0" anchor="ctr"/>
          <a:lstStyle/>
          <a:p>
            <a:pPr marL="0" indent="0">
              <a:lnSpc>
                <a:spcPct val="125000"/>
              </a:lnSpc>
              <a:buNone/>
            </a:pPr>
            <a:r>
              <a:rPr lang="en-US" sz="1400" dirty="0">
                <a:solidFill>
                  <a:srgbClr val="1B2740"/>
                </a:solidFill>
                <a:latin typeface="Aptos" panose="020B0004020202020204" pitchFamily="34" charset="0"/>
                <a:ea typeface="Calibri" pitchFamily="34" charset="-122"/>
                <a:cs typeface="Calibri" pitchFamily="34" charset="-120"/>
              </a:rPr>
              <a:t>Rechercher dans </a:t>
            </a:r>
            <a:r>
              <a:rPr lang="en-US" sz="1400" i="1" dirty="0">
                <a:solidFill>
                  <a:srgbClr val="1B2740"/>
                </a:solidFill>
                <a:latin typeface="Aptos" panose="020B0004020202020204" pitchFamily="34" charset="0"/>
                <a:ea typeface="Calibri" pitchFamily="34" charset="-122"/>
                <a:cs typeface="Calibri" pitchFamily="34" charset="-120"/>
              </a:rPr>
              <a:t>product_main</a:t>
            </a:r>
            <a:r>
              <a:rPr lang="en-US" sz="1400" dirty="0">
                <a:solidFill>
                  <a:srgbClr val="1B2740"/>
                </a:solidFill>
                <a:latin typeface="Aptos" panose="020B0004020202020204" pitchFamily="34" charset="0"/>
                <a:ea typeface="Calibri" pitchFamily="34" charset="-122"/>
                <a:cs typeface="Calibri" pitchFamily="34" charset="-120"/>
              </a:rPr>
              <a:t> + le tableau "</a:t>
            </a:r>
            <a:r>
              <a:rPr lang="en-US" sz="1400" i="1" dirty="0">
                <a:solidFill>
                  <a:srgbClr val="1B2740"/>
                </a:solidFill>
                <a:latin typeface="Aptos" panose="020B0004020202020204" pitchFamily="34" charset="0"/>
                <a:ea typeface="Calibri" pitchFamily="34" charset="-122"/>
                <a:cs typeface="Calibri" pitchFamily="34" charset="-120"/>
              </a:rPr>
              <a:t>Product Information</a:t>
            </a:r>
            <a:r>
              <a:rPr lang="en-US" sz="1400" dirty="0">
                <a:solidFill>
                  <a:srgbClr val="1B2740"/>
                </a:solidFill>
                <a:latin typeface="Aptos" panose="020B0004020202020204" pitchFamily="34" charset="0"/>
                <a:ea typeface="Calibri" pitchFamily="34" charset="-122"/>
                <a:cs typeface="Calibri" pitchFamily="34" charset="-120"/>
              </a:rPr>
              <a:t>" (plutôt que toute la page) évite de capter par erreur les données d'un autre livre affiché plus bas ("vous aimerez aussi").</a:t>
            </a:r>
            <a:endParaRPr lang="en-US" sz="1400" dirty="0">
              <a:latin typeface="Aptos" panose="020B0004020202020204" pitchFamily="34" charset="0"/>
            </a:endParaRPr>
          </a:p>
        </p:txBody>
      </p:sp>
      <p:sp>
        <p:nvSpPr>
          <p:cNvPr id="18" name="Shape 16"/>
          <p:cNvSpPr/>
          <p:nvPr/>
        </p:nvSpPr>
        <p:spPr>
          <a:xfrm>
            <a:off x="548640" y="4572000"/>
            <a:ext cx="11064240" cy="1234440"/>
          </a:xfrm>
          <a:prstGeom prst="roundRect">
            <a:avLst>
              <a:gd name="adj" fmla="val 7407"/>
            </a:avLst>
          </a:prstGeom>
          <a:solidFill>
            <a:srgbClr val="1B2740"/>
          </a:solidFill>
          <a:ln/>
        </p:spPr>
        <p:txBody>
          <a:bodyPr/>
          <a:lstStyle/>
          <a:p>
            <a:endParaRPr lang="fr-FR">
              <a:latin typeface="Aptos" panose="020B0004020202020204" pitchFamily="34" charset="0"/>
            </a:endParaRPr>
          </a:p>
        </p:txBody>
      </p:sp>
      <p:sp>
        <p:nvSpPr>
          <p:cNvPr id="19" name="Text 17"/>
          <p:cNvSpPr/>
          <p:nvPr/>
        </p:nvSpPr>
        <p:spPr>
          <a:xfrm>
            <a:off x="868680" y="4754880"/>
            <a:ext cx="10424160" cy="320040"/>
          </a:xfrm>
          <a:prstGeom prst="rect">
            <a:avLst/>
          </a:prstGeom>
          <a:noFill/>
          <a:ln/>
        </p:spPr>
        <p:txBody>
          <a:bodyPr wrap="square" lIns="0" tIns="0" rIns="0" bIns="0" rtlCol="0" anchor="ctr"/>
          <a:lstStyle/>
          <a:p>
            <a:pPr marL="0" indent="0">
              <a:buNone/>
            </a:pPr>
            <a:r>
              <a:rPr lang="en-US" sz="1600" b="1" cap="small" dirty="0">
                <a:solidFill>
                  <a:srgbClr val="E8452F"/>
                </a:solidFill>
                <a:latin typeface="Aptos" panose="020B0004020202020204" pitchFamily="34" charset="0"/>
                <a:ea typeface="Calibri" pitchFamily="34" charset="-122"/>
                <a:cs typeface="Calibri" pitchFamily="34" charset="-120"/>
              </a:rPr>
              <a:t>Gestion d'erreur — deux niveaux</a:t>
            </a:r>
            <a:endParaRPr lang="en-US" sz="1600" cap="small" dirty="0">
              <a:latin typeface="Aptos" panose="020B0004020202020204" pitchFamily="34" charset="0"/>
            </a:endParaRPr>
          </a:p>
        </p:txBody>
      </p:sp>
      <p:sp>
        <p:nvSpPr>
          <p:cNvPr id="20" name="Text 18"/>
          <p:cNvSpPr/>
          <p:nvPr/>
        </p:nvSpPr>
        <p:spPr>
          <a:xfrm>
            <a:off x="868680" y="5102352"/>
            <a:ext cx="10424160" cy="594360"/>
          </a:xfrm>
          <a:prstGeom prst="rect">
            <a:avLst/>
          </a:prstGeom>
          <a:noFill/>
          <a:ln/>
        </p:spPr>
        <p:txBody>
          <a:bodyPr wrap="square" lIns="0" tIns="0" rIns="0" bIns="0" numCol="2" rtlCol="0" anchor="ctr"/>
          <a:lstStyle/>
          <a:p>
            <a:pPr>
              <a:lnSpc>
                <a:spcPct val="125000"/>
              </a:lnSpc>
            </a:pPr>
            <a:r>
              <a:rPr lang="en-US" sz="1300" b="1" dirty="0" err="1">
                <a:solidFill>
                  <a:srgbClr val="FFFFFF"/>
                </a:solidFill>
                <a:latin typeface="Aptos" panose="020B0004020202020204" pitchFamily="34" charset="0"/>
                <a:ea typeface="Calibri" pitchFamily="34" charset="-122"/>
                <a:cs typeface="Calibri" pitchFamily="34" charset="-120"/>
              </a:rPr>
              <a:t>Catégorie</a:t>
            </a:r>
            <a:r>
              <a:rPr lang="en-US" sz="1300" b="1" dirty="0">
                <a:solidFill>
                  <a:srgbClr val="FFFFFF"/>
                </a:solidFill>
                <a:latin typeface="Aptos" panose="020B0004020202020204" pitchFamily="34" charset="0"/>
                <a:ea typeface="Calibri" pitchFamily="34" charset="-122"/>
                <a:cs typeface="Calibri" pitchFamily="34" charset="-120"/>
              </a:rPr>
              <a:t> “All products”, première page : </a:t>
            </a:r>
          </a:p>
          <a:p>
            <a:pPr>
              <a:lnSpc>
                <a:spcPct val="125000"/>
              </a:lnSpc>
            </a:pPr>
            <a:r>
              <a:rPr lang="fr-FR" sz="1300" dirty="0">
                <a:solidFill>
                  <a:srgbClr val="C9CEDA"/>
                </a:solidFill>
                <a:latin typeface="Aptos" panose="020B0004020202020204" pitchFamily="34" charset="0"/>
                <a:ea typeface="Calibri" pitchFamily="34" charset="-122"/>
                <a:cs typeface="Calibri" pitchFamily="34" charset="-120"/>
              </a:rPr>
              <a:t>(</a:t>
            </a:r>
            <a:r>
              <a:rPr lang="fr-FR" sz="1300" dirty="0" err="1">
                <a:solidFill>
                  <a:srgbClr val="C9CEDA"/>
                </a:solidFill>
                <a:latin typeface="Aptos" panose="020B0004020202020204" pitchFamily="34" charset="0"/>
                <a:ea typeface="Calibri" pitchFamily="34" charset="-122"/>
                <a:cs typeface="Calibri" pitchFamily="34" charset="-120"/>
              </a:rPr>
              <a:t>try</a:t>
            </a:r>
            <a:r>
              <a:rPr lang="fr-FR" sz="1300" dirty="0">
                <a:solidFill>
                  <a:srgbClr val="C9CEDA"/>
                </a:solidFill>
                <a:latin typeface="Aptos" panose="020B0004020202020204" pitchFamily="34" charset="0"/>
                <a:ea typeface="Calibri" pitchFamily="34" charset="-122"/>
                <a:cs typeface="Calibri" pitchFamily="34" charset="-120"/>
              </a:rPr>
              <a:t>/</a:t>
            </a:r>
            <a:r>
              <a:rPr lang="fr-FR" sz="1300" dirty="0" err="1">
                <a:solidFill>
                  <a:srgbClr val="C9CEDA"/>
                </a:solidFill>
                <a:latin typeface="Aptos" panose="020B0004020202020204" pitchFamily="34" charset="0"/>
                <a:ea typeface="Calibri" pitchFamily="34" charset="-122"/>
                <a:cs typeface="Calibri" pitchFamily="34" charset="-120"/>
              </a:rPr>
              <a:t>except</a:t>
            </a:r>
            <a:r>
              <a:rPr lang="fr-FR" sz="1300" dirty="0">
                <a:solidFill>
                  <a:srgbClr val="C9CEDA"/>
                </a:solidFill>
                <a:latin typeface="Aptos" panose="020B0004020202020204" pitchFamily="34" charset="0"/>
                <a:ea typeface="Calibri" pitchFamily="34" charset="-122"/>
                <a:cs typeface="Calibri" pitchFamily="34" charset="-120"/>
              </a:rPr>
              <a:t>) type “</a:t>
            </a:r>
            <a:r>
              <a:rPr lang="fr-FR" sz="1300" u="sng" dirty="0">
                <a:solidFill>
                  <a:srgbClr val="C9CEDA"/>
                </a:solidFill>
                <a:latin typeface="Aptos" panose="020B0004020202020204" pitchFamily="34" charset="0"/>
                <a:ea typeface="Calibri" pitchFamily="34" charset="-122"/>
                <a:cs typeface="Calibri" pitchFamily="34" charset="-120"/>
              </a:rPr>
              <a:t>tout ou rien</a:t>
            </a:r>
            <a:r>
              <a:rPr lang="fr-FR" sz="1300" dirty="0">
                <a:solidFill>
                  <a:srgbClr val="C9CEDA"/>
                </a:solidFill>
                <a:latin typeface="Aptos" panose="020B0004020202020204" pitchFamily="34" charset="0"/>
                <a:ea typeface="Calibri" pitchFamily="34" charset="-122"/>
                <a:cs typeface="Calibri" pitchFamily="34" charset="-120"/>
              </a:rPr>
              <a:t>”.</a:t>
            </a:r>
            <a:endParaRPr lang="en-US" sz="1300" b="1" dirty="0">
              <a:solidFill>
                <a:srgbClr val="C9CEDA"/>
              </a:solidFill>
              <a:latin typeface="Aptos" panose="020B0004020202020204" pitchFamily="34" charset="0"/>
              <a:ea typeface="Calibri" pitchFamily="34" charset="-122"/>
              <a:cs typeface="Calibri" pitchFamily="34" charset="-120"/>
            </a:endParaRPr>
          </a:p>
          <a:p>
            <a:pPr>
              <a:lnSpc>
                <a:spcPct val="125000"/>
              </a:lnSpc>
            </a:pPr>
            <a:endParaRPr lang="en-US" sz="1300" b="1" dirty="0">
              <a:solidFill>
                <a:srgbClr val="FFFFFF"/>
              </a:solidFill>
              <a:latin typeface="Aptos" panose="020B0004020202020204" pitchFamily="34" charset="0"/>
              <a:ea typeface="Calibri" pitchFamily="34" charset="-122"/>
              <a:cs typeface="Calibri" pitchFamily="34" charset="-120"/>
            </a:endParaRPr>
          </a:p>
          <a:p>
            <a:pPr>
              <a:lnSpc>
                <a:spcPct val="125000"/>
              </a:lnSpc>
            </a:pPr>
            <a:r>
              <a:rPr lang="en-US" sz="1300" b="1" dirty="0">
                <a:solidFill>
                  <a:srgbClr val="FFFFFF"/>
                </a:solidFill>
                <a:latin typeface="Aptos" panose="020B0004020202020204" pitchFamily="34" charset="0"/>
                <a:ea typeface="Calibri" pitchFamily="34" charset="-122"/>
                <a:cs typeface="Calibri" pitchFamily="34" charset="-120"/>
              </a:rPr>
              <a:t>Boucle sur </a:t>
            </a:r>
            <a:r>
              <a:rPr lang="en-US" sz="1300" b="1" dirty="0" err="1">
                <a:solidFill>
                  <a:srgbClr val="FFFFFF"/>
                </a:solidFill>
                <a:latin typeface="Aptos" panose="020B0004020202020204" pitchFamily="34" charset="0"/>
                <a:ea typeface="Calibri" pitchFamily="34" charset="-122"/>
                <a:cs typeface="Calibri" pitchFamily="34" charset="-120"/>
              </a:rPr>
              <a:t>chaque</a:t>
            </a:r>
            <a:r>
              <a:rPr lang="en-US" sz="1300" b="1" dirty="0">
                <a:solidFill>
                  <a:srgbClr val="FFFFFF"/>
                </a:solidFill>
                <a:latin typeface="Aptos" panose="020B0004020202020204" pitchFamily="34" charset="0"/>
                <a:ea typeface="Calibri" pitchFamily="34" charset="-122"/>
                <a:cs typeface="Calibri" pitchFamily="34" charset="-120"/>
              </a:rPr>
              <a:t> livre de la première page, 20 livres</a:t>
            </a:r>
          </a:p>
          <a:p>
            <a:pPr>
              <a:lnSpc>
                <a:spcPct val="125000"/>
              </a:lnSpc>
            </a:pPr>
            <a:r>
              <a:rPr lang="fr-FR" sz="1300" dirty="0">
                <a:solidFill>
                  <a:srgbClr val="C9CEDA"/>
                </a:solidFill>
                <a:latin typeface="Aptos" panose="020B0004020202020204" pitchFamily="34" charset="0"/>
                <a:ea typeface="Calibri" pitchFamily="34" charset="-122"/>
                <a:cs typeface="Calibri" pitchFamily="34" charset="-120"/>
              </a:rPr>
              <a:t>(</a:t>
            </a:r>
            <a:r>
              <a:rPr lang="fr-FR" sz="1300" dirty="0" err="1">
                <a:solidFill>
                  <a:srgbClr val="C9CEDA"/>
                </a:solidFill>
                <a:latin typeface="Aptos" panose="020B0004020202020204" pitchFamily="34" charset="0"/>
                <a:ea typeface="Calibri" pitchFamily="34" charset="-122"/>
                <a:cs typeface="Calibri" pitchFamily="34" charset="-120"/>
              </a:rPr>
              <a:t>try</a:t>
            </a:r>
            <a:r>
              <a:rPr lang="fr-FR" sz="1300" dirty="0">
                <a:solidFill>
                  <a:srgbClr val="C9CEDA"/>
                </a:solidFill>
                <a:latin typeface="Aptos" panose="020B0004020202020204" pitchFamily="34" charset="0"/>
                <a:ea typeface="Calibri" pitchFamily="34" charset="-122"/>
                <a:cs typeface="Calibri" pitchFamily="34" charset="-120"/>
              </a:rPr>
              <a:t>/</a:t>
            </a:r>
            <a:r>
              <a:rPr lang="fr-FR" sz="1300" dirty="0" err="1">
                <a:solidFill>
                  <a:srgbClr val="C9CEDA"/>
                </a:solidFill>
                <a:latin typeface="Aptos" panose="020B0004020202020204" pitchFamily="34" charset="0"/>
                <a:ea typeface="Calibri" pitchFamily="34" charset="-122"/>
                <a:cs typeface="Calibri" pitchFamily="34" charset="-120"/>
              </a:rPr>
              <a:t>except</a:t>
            </a:r>
            <a:r>
              <a:rPr lang="fr-FR" sz="1300" dirty="0">
                <a:solidFill>
                  <a:srgbClr val="C9CEDA"/>
                </a:solidFill>
                <a:latin typeface="Aptos" panose="020B0004020202020204" pitchFamily="34" charset="0"/>
                <a:ea typeface="Calibri" pitchFamily="34" charset="-122"/>
                <a:cs typeface="Calibri" pitchFamily="34" charset="-120"/>
              </a:rPr>
              <a:t>) type “</a:t>
            </a:r>
            <a:r>
              <a:rPr lang="fr-FR" sz="1300" u="sng" dirty="0">
                <a:solidFill>
                  <a:srgbClr val="C9CEDA"/>
                </a:solidFill>
                <a:latin typeface="Aptos" panose="020B0004020202020204" pitchFamily="34" charset="0"/>
                <a:ea typeface="Calibri" pitchFamily="34" charset="-122"/>
                <a:cs typeface="Calibri" pitchFamily="34" charset="-120"/>
              </a:rPr>
              <a:t>best effort</a:t>
            </a:r>
            <a:r>
              <a:rPr lang="fr-FR" sz="1300" dirty="0">
                <a:solidFill>
                  <a:srgbClr val="C9CEDA"/>
                </a:solidFill>
                <a:latin typeface="Aptos" panose="020B0004020202020204" pitchFamily="34" charset="0"/>
                <a:ea typeface="Calibri" pitchFamily="34" charset="-122"/>
                <a:cs typeface="Calibri" pitchFamily="34" charset="-120"/>
              </a:rPr>
              <a:t>” [</a:t>
            </a:r>
            <a:r>
              <a:rPr lang="en-US" sz="1300" i="1" dirty="0">
                <a:solidFill>
                  <a:srgbClr val="C9CEDA"/>
                </a:solidFill>
                <a:latin typeface="Aptos" panose="020B0004020202020204" pitchFamily="34" charset="0"/>
                <a:ea typeface="Calibri" pitchFamily="34" charset="-122"/>
                <a:cs typeface="Calibri" pitchFamily="34" charset="-120"/>
              </a:rPr>
              <a:t>un livre </a:t>
            </a:r>
            <a:r>
              <a:rPr lang="en-US" sz="1300" i="1" dirty="0" err="1">
                <a:solidFill>
                  <a:srgbClr val="C9CEDA"/>
                </a:solidFill>
                <a:latin typeface="Aptos" panose="020B0004020202020204" pitchFamily="34" charset="0"/>
                <a:ea typeface="Calibri" pitchFamily="34" charset="-122"/>
                <a:cs typeface="Calibri" pitchFamily="34" charset="-120"/>
              </a:rPr>
              <a:t>en</a:t>
            </a:r>
            <a:r>
              <a:rPr lang="en-US" sz="1300" i="1" dirty="0">
                <a:solidFill>
                  <a:srgbClr val="C9CEDA"/>
                </a:solidFill>
                <a:latin typeface="Aptos" panose="020B0004020202020204" pitchFamily="34" charset="0"/>
                <a:ea typeface="Calibri" pitchFamily="34" charset="-122"/>
                <a:cs typeface="Calibri" pitchFamily="34" charset="-120"/>
              </a:rPr>
              <a:t> </a:t>
            </a:r>
            <a:r>
              <a:rPr lang="en-US" sz="1300" i="1" dirty="0" err="1">
                <a:solidFill>
                  <a:srgbClr val="C9CEDA"/>
                </a:solidFill>
                <a:latin typeface="Aptos" panose="020B0004020202020204" pitchFamily="34" charset="0"/>
                <a:ea typeface="Calibri" pitchFamily="34" charset="-122"/>
                <a:cs typeface="Calibri" pitchFamily="34" charset="-120"/>
              </a:rPr>
              <a:t>échec</a:t>
            </a:r>
            <a:r>
              <a:rPr lang="en-US" sz="1300" i="1" dirty="0">
                <a:solidFill>
                  <a:srgbClr val="C9CEDA"/>
                </a:solidFill>
                <a:latin typeface="Aptos" panose="020B0004020202020204" pitchFamily="34" charset="0"/>
                <a:ea typeface="Calibri" pitchFamily="34" charset="-122"/>
                <a:cs typeface="Calibri" pitchFamily="34" charset="-120"/>
              </a:rPr>
              <a:t> est </a:t>
            </a:r>
            <a:r>
              <a:rPr lang="en-US" sz="1300" i="1" dirty="0" err="1">
                <a:solidFill>
                  <a:srgbClr val="C9CEDA"/>
                </a:solidFill>
                <a:latin typeface="Aptos" panose="020B0004020202020204" pitchFamily="34" charset="0"/>
                <a:ea typeface="Calibri" pitchFamily="34" charset="-122"/>
                <a:cs typeface="Calibri" pitchFamily="34" charset="-120"/>
              </a:rPr>
              <a:t>signalé</a:t>
            </a:r>
            <a:r>
              <a:rPr lang="en-US" sz="1300" i="1" dirty="0">
                <a:solidFill>
                  <a:srgbClr val="C9CEDA"/>
                </a:solidFill>
                <a:latin typeface="Aptos" panose="020B0004020202020204" pitchFamily="34" charset="0"/>
                <a:ea typeface="Calibri" pitchFamily="34" charset="-122"/>
                <a:cs typeface="Calibri" pitchFamily="34" charset="-120"/>
              </a:rPr>
              <a:t> et </a:t>
            </a:r>
            <a:r>
              <a:rPr lang="en-US" sz="1300" i="1" dirty="0" err="1">
                <a:solidFill>
                  <a:srgbClr val="C9CEDA"/>
                </a:solidFill>
                <a:latin typeface="Aptos" panose="020B0004020202020204" pitchFamily="34" charset="0"/>
                <a:ea typeface="Calibri" pitchFamily="34" charset="-122"/>
                <a:cs typeface="Calibri" pitchFamily="34" charset="-120"/>
              </a:rPr>
              <a:t>ignoré</a:t>
            </a:r>
            <a:r>
              <a:rPr lang="en-US" sz="1300" i="1" dirty="0">
                <a:solidFill>
                  <a:srgbClr val="C9CEDA"/>
                </a:solidFill>
                <a:latin typeface="Aptos" panose="020B0004020202020204" pitchFamily="34" charset="0"/>
                <a:ea typeface="Calibri" pitchFamily="34" charset="-122"/>
                <a:cs typeface="Calibri" pitchFamily="34" charset="-120"/>
              </a:rPr>
              <a:t>, sans </a:t>
            </a:r>
            <a:r>
              <a:rPr lang="en-US" sz="1300" i="1" dirty="0" err="1">
                <a:solidFill>
                  <a:srgbClr val="C9CEDA"/>
                </a:solidFill>
                <a:latin typeface="Aptos" panose="020B0004020202020204" pitchFamily="34" charset="0"/>
                <a:ea typeface="Calibri" pitchFamily="34" charset="-122"/>
                <a:cs typeface="Calibri" pitchFamily="34" charset="-120"/>
              </a:rPr>
              <a:t>bloquer</a:t>
            </a:r>
            <a:r>
              <a:rPr lang="en-US" sz="1300" i="1" dirty="0">
                <a:solidFill>
                  <a:srgbClr val="C9CEDA"/>
                </a:solidFill>
                <a:latin typeface="Aptos" panose="020B0004020202020204" pitchFamily="34" charset="0"/>
                <a:ea typeface="Calibri" pitchFamily="34" charset="-122"/>
                <a:cs typeface="Calibri" pitchFamily="34" charset="-120"/>
              </a:rPr>
              <a:t> les 19 </a:t>
            </a:r>
            <a:r>
              <a:rPr lang="en-US" sz="1300" i="1" dirty="0" err="1">
                <a:solidFill>
                  <a:srgbClr val="C9CEDA"/>
                </a:solidFill>
                <a:latin typeface="Aptos" panose="020B0004020202020204" pitchFamily="34" charset="0"/>
                <a:ea typeface="Calibri" pitchFamily="34" charset="-122"/>
                <a:cs typeface="Calibri" pitchFamily="34" charset="-120"/>
              </a:rPr>
              <a:t>autres</a:t>
            </a:r>
            <a:r>
              <a:rPr lang="en-US" sz="1300" dirty="0">
                <a:solidFill>
                  <a:srgbClr val="C9CEDA"/>
                </a:solidFill>
                <a:latin typeface="Aptos" panose="020B0004020202020204" pitchFamily="34" charset="0"/>
                <a:ea typeface="Calibri" pitchFamily="34" charset="-122"/>
                <a:cs typeface="Calibri" pitchFamily="34" charset="-120"/>
              </a:rPr>
              <a:t>].</a:t>
            </a:r>
            <a:endParaRPr lang="en-US" sz="1300" dirty="0">
              <a:latin typeface="Aptos" panose="020B0004020202020204" pitchFamily="34" charset="0"/>
            </a:endParaRPr>
          </a:p>
        </p:txBody>
      </p:sp>
      <p:sp>
        <p:nvSpPr>
          <p:cNvPr id="21" name="Text 19"/>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7 / 20</a:t>
            </a:r>
            <a:endParaRPr lang="en-US" sz="1000"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8</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EXTRACTION — 3.4</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API de taux de change</a:t>
            </a:r>
            <a:endParaRPr lang="en-US" sz="2600" dirty="0">
              <a:latin typeface="Aptos" panose="020B0004020202020204" pitchFamily="34" charset="0"/>
            </a:endParaRPr>
          </a:p>
        </p:txBody>
      </p:sp>
      <p:sp>
        <p:nvSpPr>
          <p:cNvPr id="6" name="Shape 4"/>
          <p:cNvSpPr/>
          <p:nvPr/>
        </p:nvSpPr>
        <p:spPr>
          <a:xfrm>
            <a:off x="548640" y="1691640"/>
            <a:ext cx="11064240" cy="1005840"/>
          </a:xfrm>
          <a:prstGeom prst="roundRect">
            <a:avLst>
              <a:gd name="adj" fmla="val 9091"/>
            </a:avLst>
          </a:prstGeom>
          <a:solidFill>
            <a:srgbClr val="1B2740"/>
          </a:solidFill>
          <a:ln/>
        </p:spPr>
        <p:txBody>
          <a:bodyPr/>
          <a:lstStyle/>
          <a:p>
            <a:endParaRPr lang="fr-FR">
              <a:latin typeface="Aptos" panose="020B0004020202020204" pitchFamily="34" charset="0"/>
            </a:endParaRPr>
          </a:p>
        </p:txBody>
      </p:sp>
      <p:sp>
        <p:nvSpPr>
          <p:cNvPr id="7" name="Text 5"/>
          <p:cNvSpPr/>
          <p:nvPr/>
        </p:nvSpPr>
        <p:spPr>
          <a:xfrm>
            <a:off x="868680" y="1965960"/>
            <a:ext cx="10424160" cy="45720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onsolas" pitchFamily="34" charset="-122"/>
                <a:cs typeface="Consolas" pitchFamily="34" charset="-120"/>
              </a:rPr>
              <a:t>GET https://api.frankfurter.dev/v2/rate/GBP/EUR</a:t>
            </a:r>
            <a:endParaRPr lang="en-US" sz="1600" dirty="0">
              <a:latin typeface="Aptos" panose="020B0004020202020204" pitchFamily="34" charset="0"/>
            </a:endParaRPr>
          </a:p>
        </p:txBody>
      </p:sp>
      <p:sp>
        <p:nvSpPr>
          <p:cNvPr id="8" name="Text 6"/>
          <p:cNvSpPr/>
          <p:nvPr/>
        </p:nvSpPr>
        <p:spPr>
          <a:xfrm>
            <a:off x="868680" y="2377440"/>
            <a:ext cx="10424160" cy="274320"/>
          </a:xfrm>
          <a:prstGeom prst="rect">
            <a:avLst/>
          </a:prstGeom>
          <a:noFill/>
          <a:ln/>
        </p:spPr>
        <p:txBody>
          <a:bodyPr wrap="square" lIns="0" tIns="0" rIns="0" bIns="0" rtlCol="0" anchor="ctr"/>
          <a:lstStyle/>
          <a:p>
            <a:pPr marL="0" indent="0">
              <a:buNone/>
            </a:pPr>
            <a:r>
              <a:rPr lang="en-US" sz="1200" dirty="0">
                <a:solidFill>
                  <a:srgbClr val="C9CEDA"/>
                </a:solidFill>
                <a:latin typeface="Aptos" panose="020B0004020202020204" pitchFamily="34" charset="0"/>
                <a:ea typeface="Calibri" pitchFamily="34" charset="-122"/>
                <a:cs typeface="Calibri" pitchFamily="34" charset="-120"/>
              </a:rPr>
              <a:t>Réponse directe et plate : { "rate": 1.1666, ... } — pas de clé API requise</a:t>
            </a:r>
            <a:endParaRPr lang="en-US" sz="1200" dirty="0">
              <a:latin typeface="Aptos" panose="020B0004020202020204" pitchFamily="34" charset="0"/>
            </a:endParaRPr>
          </a:p>
        </p:txBody>
      </p:sp>
      <p:sp>
        <p:nvSpPr>
          <p:cNvPr id="9" name="Text 7"/>
          <p:cNvSpPr/>
          <p:nvPr/>
        </p:nvSpPr>
        <p:spPr>
          <a:xfrm>
            <a:off x="548640" y="2971800"/>
            <a:ext cx="7315200" cy="365760"/>
          </a:xfrm>
          <a:prstGeom prst="rect">
            <a:avLst/>
          </a:prstGeom>
          <a:noFill/>
          <a:ln/>
        </p:spPr>
        <p:txBody>
          <a:bodyPr wrap="square" lIns="0" tIns="0" rIns="0" bIns="0" rtlCol="0" anchor="ctr"/>
          <a:lstStyle/>
          <a:p>
            <a:pPr marL="0" indent="0">
              <a:buNone/>
            </a:pPr>
            <a:r>
              <a:rPr lang="en-US" sz="1600" b="1" dirty="0">
                <a:solidFill>
                  <a:srgbClr val="1B2740"/>
                </a:solidFill>
                <a:latin typeface="Aptos" panose="020B0004020202020204" pitchFamily="34" charset="0"/>
                <a:ea typeface="Calibri" pitchFamily="34" charset="-122"/>
                <a:cs typeface="Calibri" pitchFamily="34" charset="-120"/>
              </a:rPr>
              <a:t>Pourquoi la v2 plutôt que la v1 ?</a:t>
            </a:r>
            <a:endParaRPr lang="en-US" sz="1600" dirty="0">
              <a:latin typeface="Aptos" panose="020B0004020202020204" pitchFamily="34" charset="0"/>
            </a:endParaRPr>
          </a:p>
        </p:txBody>
      </p:sp>
      <p:sp>
        <p:nvSpPr>
          <p:cNvPr id="10" name="Shape 8"/>
          <p:cNvSpPr/>
          <p:nvPr/>
        </p:nvSpPr>
        <p:spPr>
          <a:xfrm>
            <a:off x="548640" y="3429000"/>
            <a:ext cx="5349240" cy="1600200"/>
          </a:xfrm>
          <a:prstGeom prst="roundRect">
            <a:avLst>
              <a:gd name="adj" fmla="val 5714"/>
            </a:avLst>
          </a:prstGeom>
          <a:solidFill>
            <a:srgbClr val="F2F1EF"/>
          </a:solidFill>
          <a:ln/>
        </p:spPr>
        <p:txBody>
          <a:bodyPr/>
          <a:lstStyle/>
          <a:p>
            <a:endParaRPr lang="fr-FR">
              <a:latin typeface="Aptos" panose="020B0004020202020204" pitchFamily="34" charset="0"/>
            </a:endParaRPr>
          </a:p>
        </p:txBody>
      </p:sp>
      <p:sp>
        <p:nvSpPr>
          <p:cNvPr id="11" name="Text 9"/>
          <p:cNvSpPr/>
          <p:nvPr/>
        </p:nvSpPr>
        <p:spPr>
          <a:xfrm>
            <a:off x="822960" y="3611880"/>
            <a:ext cx="4800600" cy="320040"/>
          </a:xfrm>
          <a:prstGeom prst="rect">
            <a:avLst/>
          </a:prstGeom>
          <a:noFill/>
          <a:ln/>
        </p:spPr>
        <p:txBody>
          <a:bodyPr wrap="square" lIns="0" tIns="0" rIns="0" bIns="0" rtlCol="0" anchor="ctr"/>
          <a:lstStyle/>
          <a:p>
            <a:pPr marL="0" indent="0">
              <a:buNone/>
            </a:pPr>
            <a:r>
              <a:rPr lang="en-US" sz="1400" b="1" dirty="0">
                <a:solidFill>
                  <a:srgbClr val="6B7280"/>
                </a:solidFill>
                <a:latin typeface="Aptos" panose="020B0004020202020204" pitchFamily="34" charset="0"/>
                <a:ea typeface="Calibri" pitchFamily="34" charset="-122"/>
                <a:cs typeface="Calibri" pitchFamily="34" charset="-120"/>
              </a:rPr>
              <a:t>v1 (non retenue)</a:t>
            </a:r>
            <a:endParaRPr lang="en-US" sz="1400" dirty="0">
              <a:latin typeface="Aptos" panose="020B0004020202020204" pitchFamily="34" charset="0"/>
            </a:endParaRPr>
          </a:p>
        </p:txBody>
      </p:sp>
      <p:sp>
        <p:nvSpPr>
          <p:cNvPr id="12" name="Text 10"/>
          <p:cNvSpPr/>
          <p:nvPr/>
        </p:nvSpPr>
        <p:spPr>
          <a:xfrm>
            <a:off x="822960" y="3977640"/>
            <a:ext cx="4800600" cy="320040"/>
          </a:xfrm>
          <a:prstGeom prst="rect">
            <a:avLst/>
          </a:prstGeom>
          <a:noFill/>
          <a:ln/>
        </p:spPr>
        <p:txBody>
          <a:bodyPr wrap="square" lIns="0" tIns="0" rIns="0" bIns="0" rtlCol="0" anchor="ctr"/>
          <a:lstStyle/>
          <a:p>
            <a:pPr marL="0" indent="0">
              <a:buNone/>
            </a:pPr>
            <a:r>
              <a:rPr lang="en-US" sz="1250" dirty="0">
                <a:solidFill>
                  <a:srgbClr val="1B2740"/>
                </a:solidFill>
                <a:latin typeface="Aptos" panose="020B0004020202020204" pitchFamily="34" charset="0"/>
                <a:ea typeface="Consolas" pitchFamily="34" charset="-122"/>
                <a:cs typeface="Consolas" pitchFamily="34" charset="-120"/>
              </a:rPr>
              <a:t>data["rates"]["EUR"]</a:t>
            </a:r>
            <a:endParaRPr lang="en-US" sz="1250" dirty="0">
              <a:latin typeface="Aptos" panose="020B0004020202020204" pitchFamily="34" charset="0"/>
            </a:endParaRPr>
          </a:p>
        </p:txBody>
      </p:sp>
      <p:sp>
        <p:nvSpPr>
          <p:cNvPr id="13" name="Text 11"/>
          <p:cNvSpPr/>
          <p:nvPr/>
        </p:nvSpPr>
        <p:spPr>
          <a:xfrm>
            <a:off x="822960" y="4343400"/>
            <a:ext cx="4800600" cy="548640"/>
          </a:xfrm>
          <a:prstGeom prst="rect">
            <a:avLst/>
          </a:prstGeom>
          <a:noFill/>
          <a:ln/>
        </p:spPr>
        <p:txBody>
          <a:bodyPr wrap="square" lIns="0" tIns="0" rIns="0" bIns="0" rtlCol="0" anchor="ctr"/>
          <a:lstStyle/>
          <a:p>
            <a:pPr marL="0" indent="0">
              <a:buNone/>
            </a:pPr>
            <a:r>
              <a:rPr lang="en-US" sz="1200" dirty="0">
                <a:solidFill>
                  <a:srgbClr val="6B7280"/>
                </a:solidFill>
                <a:latin typeface="Aptos" panose="020B0004020202020204" pitchFamily="34" charset="0"/>
                <a:ea typeface="Calibri" pitchFamily="34" charset="-122"/>
                <a:cs typeface="Calibri" pitchFamily="34" charset="-120"/>
              </a:rPr>
              <a:t>Structure imbriquée à parcourir</a:t>
            </a:r>
            <a:endParaRPr lang="en-US" sz="1200" dirty="0">
              <a:latin typeface="Aptos" panose="020B0004020202020204" pitchFamily="34" charset="0"/>
            </a:endParaRPr>
          </a:p>
        </p:txBody>
      </p:sp>
      <p:sp>
        <p:nvSpPr>
          <p:cNvPr id="14" name="Shape 12"/>
          <p:cNvSpPr/>
          <p:nvPr/>
        </p:nvSpPr>
        <p:spPr>
          <a:xfrm>
            <a:off x="6263640" y="3429000"/>
            <a:ext cx="5349240" cy="1600200"/>
          </a:xfrm>
          <a:prstGeom prst="roundRect">
            <a:avLst>
              <a:gd name="adj" fmla="val 5714"/>
            </a:avLst>
          </a:prstGeom>
          <a:solidFill>
            <a:srgbClr val="E8452F"/>
          </a:solidFill>
          <a:ln/>
        </p:spPr>
        <p:txBody>
          <a:bodyPr/>
          <a:lstStyle/>
          <a:p>
            <a:endParaRPr lang="fr-FR">
              <a:latin typeface="Aptos" panose="020B0004020202020204" pitchFamily="34" charset="0"/>
            </a:endParaRPr>
          </a:p>
        </p:txBody>
      </p:sp>
      <p:sp>
        <p:nvSpPr>
          <p:cNvPr id="15" name="Text 13"/>
          <p:cNvSpPr/>
          <p:nvPr/>
        </p:nvSpPr>
        <p:spPr>
          <a:xfrm>
            <a:off x="6537960" y="3611880"/>
            <a:ext cx="4800600" cy="320040"/>
          </a:xfrm>
          <a:prstGeom prst="rect">
            <a:avLst/>
          </a:prstGeom>
          <a:noFill/>
          <a:ln/>
        </p:spPr>
        <p:txBody>
          <a:bodyPr wrap="square" lIns="0" tIns="0" rIns="0" bIns="0" rtlCol="0" anchor="ct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v2 (retenue)</a:t>
            </a:r>
            <a:endParaRPr lang="en-US" sz="1400" dirty="0">
              <a:latin typeface="Aptos" panose="020B0004020202020204" pitchFamily="34" charset="0"/>
            </a:endParaRPr>
          </a:p>
        </p:txBody>
      </p:sp>
      <p:sp>
        <p:nvSpPr>
          <p:cNvPr id="16" name="Text 14"/>
          <p:cNvSpPr/>
          <p:nvPr/>
        </p:nvSpPr>
        <p:spPr>
          <a:xfrm>
            <a:off x="6537960" y="3977640"/>
            <a:ext cx="4800600" cy="320040"/>
          </a:xfrm>
          <a:prstGeom prst="rect">
            <a:avLst/>
          </a:prstGeom>
          <a:noFill/>
          <a:ln/>
        </p:spPr>
        <p:txBody>
          <a:bodyPr wrap="square" lIns="0" tIns="0" rIns="0" bIns="0" rtlCol="0" anchor="ctr"/>
          <a:lstStyle/>
          <a:p>
            <a:pPr marL="0" indent="0">
              <a:buNone/>
            </a:pPr>
            <a:r>
              <a:rPr lang="en-US" sz="1250" b="1" dirty="0">
                <a:solidFill>
                  <a:srgbClr val="FFFFFF"/>
                </a:solidFill>
                <a:latin typeface="Aptos" panose="020B0004020202020204" pitchFamily="34" charset="0"/>
                <a:ea typeface="Consolas" pitchFamily="34" charset="-122"/>
                <a:cs typeface="Consolas" pitchFamily="34" charset="-120"/>
              </a:rPr>
              <a:t>data["rate"]</a:t>
            </a:r>
            <a:endParaRPr lang="en-US" sz="1250" dirty="0">
              <a:latin typeface="Aptos" panose="020B0004020202020204" pitchFamily="34" charset="0"/>
            </a:endParaRPr>
          </a:p>
        </p:txBody>
      </p:sp>
      <p:sp>
        <p:nvSpPr>
          <p:cNvPr id="17" name="Text 15"/>
          <p:cNvSpPr/>
          <p:nvPr/>
        </p:nvSpPr>
        <p:spPr>
          <a:xfrm>
            <a:off x="6537960" y="4343400"/>
            <a:ext cx="4800600" cy="548640"/>
          </a:xfrm>
          <a:prstGeom prst="rect">
            <a:avLst/>
          </a:prstGeom>
          <a:noFill/>
          <a:ln/>
        </p:spPr>
        <p:txBody>
          <a:bodyPr wrap="square" lIns="0" tIns="0" rIns="0" bIns="0" rtlCol="0" anchor="ctr"/>
          <a:lstStyle/>
          <a:p>
            <a:pPr marL="0" indent="0">
              <a:buNone/>
            </a:pPr>
            <a:r>
              <a:rPr lang="en-US" sz="1200" dirty="0">
                <a:solidFill>
                  <a:srgbClr val="FFE8E3"/>
                </a:solidFill>
                <a:latin typeface="Aptos" panose="020B0004020202020204" pitchFamily="34" charset="0"/>
                <a:ea typeface="Calibri" pitchFamily="34" charset="-122"/>
                <a:cs typeface="Calibri" pitchFamily="34" charset="-120"/>
              </a:rPr>
              <a:t>Valeur directement accessible, plus simple à exploiter</a:t>
            </a:r>
            <a:endParaRPr lang="en-US" sz="1200" dirty="0">
              <a:latin typeface="Aptos" panose="020B0004020202020204" pitchFamily="34" charset="0"/>
            </a:endParaRPr>
          </a:p>
        </p:txBody>
      </p:sp>
      <p:sp>
        <p:nvSpPr>
          <p:cNvPr id="18" name="Text 16"/>
          <p:cNvSpPr/>
          <p:nvPr/>
        </p:nvSpPr>
        <p:spPr>
          <a:xfrm>
            <a:off x="548640" y="5257800"/>
            <a:ext cx="11064240" cy="457200"/>
          </a:xfrm>
          <a:prstGeom prst="rect">
            <a:avLst/>
          </a:prstGeom>
          <a:noFill/>
          <a:ln/>
        </p:spPr>
        <p:txBody>
          <a:bodyPr wrap="square" lIns="0" tIns="0" rIns="0" bIns="0" rtlCol="0" anchor="ctr"/>
          <a:lstStyle/>
          <a:p>
            <a:pPr marL="0" indent="0">
              <a:buNone/>
            </a:pPr>
            <a:r>
              <a:rPr lang="en-US" sz="1300" b="1" dirty="0">
                <a:solidFill>
                  <a:srgbClr val="1B2740"/>
                </a:solidFill>
                <a:latin typeface="Aptos" panose="020B0004020202020204" pitchFamily="34" charset="0"/>
                <a:ea typeface="Calibri" pitchFamily="34" charset="-122"/>
                <a:cs typeface="Calibri" pitchFamily="34" charset="-120"/>
              </a:rPr>
              <a:t>Gestion d'erreur : </a:t>
            </a:r>
            <a:r>
              <a:rPr lang="en-US" sz="1300" dirty="0">
                <a:solidFill>
                  <a:srgbClr val="1B2740"/>
                </a:solidFill>
                <a:latin typeface="Aptos" panose="020B0004020202020204" pitchFamily="34" charset="0"/>
                <a:ea typeface="Calibri" pitchFamily="34" charset="-122"/>
                <a:cs typeface="Calibri" pitchFamily="34" charset="-120"/>
              </a:rPr>
              <a:t>deux causes distinguées — </a:t>
            </a:r>
            <a:r>
              <a:rPr lang="en-US" sz="1300" dirty="0">
                <a:solidFill>
                  <a:srgbClr val="E8452F"/>
                </a:solidFill>
                <a:latin typeface="Aptos" panose="020B0004020202020204" pitchFamily="34" charset="0"/>
                <a:ea typeface="Consolas" pitchFamily="34" charset="-122"/>
                <a:cs typeface="Consolas" pitchFamily="34" charset="-120"/>
              </a:rPr>
              <a:t>RequestException </a:t>
            </a:r>
            <a:r>
              <a:rPr lang="en-US" sz="1300" dirty="0">
                <a:solidFill>
                  <a:srgbClr val="1B2740"/>
                </a:solidFill>
                <a:latin typeface="Aptos" panose="020B0004020202020204" pitchFamily="34" charset="0"/>
                <a:ea typeface="Calibri" pitchFamily="34" charset="-122"/>
                <a:cs typeface="Calibri" pitchFamily="34" charset="-120"/>
              </a:rPr>
              <a:t>(réseau) vs </a:t>
            </a:r>
            <a:r>
              <a:rPr lang="en-US" sz="1300" dirty="0">
                <a:solidFill>
                  <a:srgbClr val="E8452F"/>
                </a:solidFill>
                <a:latin typeface="Aptos" panose="020B0004020202020204" pitchFamily="34" charset="0"/>
                <a:ea typeface="Consolas" pitchFamily="34" charset="-122"/>
                <a:cs typeface="Consolas" pitchFamily="34" charset="-120"/>
              </a:rPr>
              <a:t>(ValueError, KeyError) </a:t>
            </a:r>
            <a:r>
              <a:rPr lang="en-US" sz="1300" dirty="0">
                <a:solidFill>
                  <a:srgbClr val="1B2740"/>
                </a:solidFill>
                <a:latin typeface="Aptos" panose="020B0004020202020204" pitchFamily="34" charset="0"/>
                <a:ea typeface="Calibri" pitchFamily="34" charset="-122"/>
                <a:cs typeface="Calibri" pitchFamily="34" charset="-120"/>
              </a:rPr>
              <a:t>(réponse mal formée).</a:t>
            </a:r>
            <a:endParaRPr lang="en-US" sz="1300" dirty="0">
              <a:latin typeface="Aptos" panose="020B0004020202020204" pitchFamily="34" charset="0"/>
            </a:endParaRPr>
          </a:p>
        </p:txBody>
      </p:sp>
      <p:sp>
        <p:nvSpPr>
          <p:cNvPr id="19" name="Text 17"/>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8 / 20</a:t>
            </a:r>
            <a:endParaRPr lang="en-US" sz="1000" dirty="0">
              <a:latin typeface="Aptos"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FIABILITÉ</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Gestion des erreurs et cas d'échec</a:t>
            </a:r>
            <a:endParaRPr lang="en-US" sz="2600" dirty="0"/>
          </a:p>
        </p:txBody>
      </p:sp>
      <p:sp>
        <p:nvSpPr>
          <p:cNvPr id="6" name="Shape 4"/>
          <p:cNvSpPr/>
          <p:nvPr/>
        </p:nvSpPr>
        <p:spPr>
          <a:xfrm>
            <a:off x="548640" y="1737360"/>
            <a:ext cx="5349240" cy="4114800"/>
          </a:xfrm>
          <a:prstGeom prst="roundRect">
            <a:avLst>
              <a:gd name="adj" fmla="val 2222"/>
            </a:avLst>
          </a:prstGeom>
          <a:solidFill>
            <a:srgbClr val="1B2740"/>
          </a:solidFill>
          <a:ln/>
        </p:spPr>
        <p:txBody>
          <a:bodyPr/>
          <a:lstStyle/>
          <a:p>
            <a:endParaRPr lang="fr-FR"/>
          </a:p>
        </p:txBody>
      </p:sp>
      <p:sp>
        <p:nvSpPr>
          <p:cNvPr id="7" name="Text 5"/>
          <p:cNvSpPr/>
          <p:nvPr/>
        </p:nvSpPr>
        <p:spPr>
          <a:xfrm>
            <a:off x="868680" y="2011680"/>
            <a:ext cx="4709160" cy="365760"/>
          </a:xfrm>
          <a:prstGeom prst="rect">
            <a:avLst/>
          </a:prstGeom>
          <a:noFill/>
          <a:ln/>
        </p:spPr>
        <p:txBody>
          <a:bodyPr wrap="square" lIns="0" tIns="0" rIns="0" bIns="0" rtlCol="0" anchor="ctr"/>
          <a:lstStyle/>
          <a:p>
            <a:pPr marL="0" indent="0">
              <a:buNone/>
            </a:pPr>
            <a:r>
              <a:rPr lang="en-US" sz="1800" b="1" dirty="0">
                <a:solidFill>
                  <a:srgbClr val="E8452F"/>
                </a:solidFill>
                <a:latin typeface="Calibri" pitchFamily="34" charset="0"/>
                <a:ea typeface="Calibri" pitchFamily="34" charset="-122"/>
                <a:cs typeface="Calibri" pitchFamily="34" charset="-120"/>
              </a:rPr>
              <a:t>Tout ou rien</a:t>
            </a:r>
            <a:endParaRPr lang="en-US" sz="1800" dirty="0"/>
          </a:p>
        </p:txBody>
      </p:sp>
      <p:sp>
        <p:nvSpPr>
          <p:cNvPr id="8" name="Text 6"/>
          <p:cNvSpPr/>
          <p:nvPr/>
        </p:nvSpPr>
        <p:spPr>
          <a:xfrm>
            <a:off x="868680" y="2450592"/>
            <a:ext cx="4709160" cy="320040"/>
          </a:xfrm>
          <a:prstGeom prst="rect">
            <a:avLst/>
          </a:prstGeom>
          <a:noFill/>
          <a:ln/>
        </p:spPr>
        <p:txBody>
          <a:bodyPr wrap="square" lIns="0" tIns="0" rIns="0" bIns="0" rtlCol="0" anchor="ctr"/>
          <a:lstStyle/>
          <a:p>
            <a:pPr marL="0" indent="0">
              <a:buNone/>
            </a:pPr>
            <a:r>
              <a:rPr lang="en-US" sz="1300" dirty="0">
                <a:solidFill>
                  <a:srgbClr val="C9CEDA"/>
                </a:solidFill>
                <a:latin typeface="Consolas" pitchFamily="34" charset="0"/>
                <a:ea typeface="Consolas" pitchFamily="34" charset="-122"/>
                <a:cs typeface="Consolas" pitchFamily="34" charset="-120"/>
              </a:rPr>
              <a:t>try / except / raise</a:t>
            </a:r>
            <a:endParaRPr lang="en-US" sz="1300" dirty="0"/>
          </a:p>
        </p:txBody>
      </p:sp>
      <p:sp>
        <p:nvSpPr>
          <p:cNvPr id="9" name="Text 7"/>
          <p:cNvSpPr/>
          <p:nvPr/>
        </p:nvSpPr>
        <p:spPr>
          <a:xfrm>
            <a:off x="868680" y="2971800"/>
            <a:ext cx="470916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  CSV (sales_raw.csv)</a:t>
            </a:r>
            <a:endParaRPr lang="en-US" sz="1350" dirty="0"/>
          </a:p>
        </p:txBody>
      </p:sp>
      <p:sp>
        <p:nvSpPr>
          <p:cNvPr id="10" name="Text 8"/>
          <p:cNvSpPr/>
          <p:nvPr/>
        </p:nvSpPr>
        <p:spPr>
          <a:xfrm>
            <a:off x="868680" y="3429000"/>
            <a:ext cx="470916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  Connexion SQLite</a:t>
            </a:r>
            <a:endParaRPr lang="en-US" sz="1350" dirty="0"/>
          </a:p>
        </p:txBody>
      </p:sp>
      <p:sp>
        <p:nvSpPr>
          <p:cNvPr id="11" name="Text 9"/>
          <p:cNvSpPr/>
          <p:nvPr/>
        </p:nvSpPr>
        <p:spPr>
          <a:xfrm>
            <a:off x="868680" y="3886200"/>
            <a:ext cx="470916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  Page liste du scraping</a:t>
            </a:r>
            <a:endParaRPr lang="en-US" sz="1350" dirty="0"/>
          </a:p>
        </p:txBody>
      </p:sp>
      <p:sp>
        <p:nvSpPr>
          <p:cNvPr id="12" name="Text 10"/>
          <p:cNvSpPr/>
          <p:nvPr/>
        </p:nvSpPr>
        <p:spPr>
          <a:xfrm>
            <a:off x="868680" y="4343400"/>
            <a:ext cx="470916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  API taux de change</a:t>
            </a:r>
            <a:endParaRPr lang="en-US" sz="1350" dirty="0"/>
          </a:p>
        </p:txBody>
      </p:sp>
      <p:sp>
        <p:nvSpPr>
          <p:cNvPr id="13" name="Text 11"/>
          <p:cNvSpPr/>
          <p:nvPr/>
        </p:nvSpPr>
        <p:spPr>
          <a:xfrm>
            <a:off x="868680" y="4937760"/>
            <a:ext cx="4709160" cy="777240"/>
          </a:xfrm>
          <a:prstGeom prst="rect">
            <a:avLst/>
          </a:prstGeom>
          <a:noFill/>
          <a:ln/>
        </p:spPr>
        <p:txBody>
          <a:bodyPr wrap="square" lIns="0" tIns="0" rIns="0" bIns="0" rtlCol="0" anchor="ctr"/>
          <a:lstStyle/>
          <a:p>
            <a:pPr marL="0" indent="0">
              <a:lnSpc>
                <a:spcPct val="120000"/>
              </a:lnSpc>
              <a:buNone/>
            </a:pPr>
            <a:r>
              <a:rPr lang="en-US" sz="1200" i="1" dirty="0">
                <a:solidFill>
                  <a:srgbClr val="C9CEDA"/>
                </a:solidFill>
                <a:latin typeface="Calibri" pitchFamily="34" charset="0"/>
                <a:ea typeface="Calibri" pitchFamily="34" charset="-122"/>
                <a:cs typeface="Calibri" pitchFamily="34" charset="-120"/>
              </a:rPr>
              <a:t>Un échec arrête le pipeline : les étapes suivantes ne peuvent pas fonctionner sans ces données.</a:t>
            </a:r>
            <a:endParaRPr lang="en-US" sz="1200" dirty="0"/>
          </a:p>
        </p:txBody>
      </p:sp>
      <p:sp>
        <p:nvSpPr>
          <p:cNvPr id="14" name="Shape 12"/>
          <p:cNvSpPr/>
          <p:nvPr/>
        </p:nvSpPr>
        <p:spPr>
          <a:xfrm>
            <a:off x="6263640" y="1737360"/>
            <a:ext cx="5349240" cy="4114800"/>
          </a:xfrm>
          <a:prstGeom prst="roundRect">
            <a:avLst>
              <a:gd name="adj" fmla="val 2222"/>
            </a:avLst>
          </a:prstGeom>
          <a:solidFill>
            <a:srgbClr val="E8452F"/>
          </a:solidFill>
          <a:ln/>
        </p:spPr>
        <p:txBody>
          <a:bodyPr/>
          <a:lstStyle/>
          <a:p>
            <a:endParaRPr lang="fr-FR"/>
          </a:p>
        </p:txBody>
      </p:sp>
      <p:sp>
        <p:nvSpPr>
          <p:cNvPr id="15" name="Text 13"/>
          <p:cNvSpPr/>
          <p:nvPr/>
        </p:nvSpPr>
        <p:spPr>
          <a:xfrm>
            <a:off x="6583680" y="2011680"/>
            <a:ext cx="47091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Best effort</a:t>
            </a:r>
            <a:endParaRPr lang="en-US" sz="1800" dirty="0"/>
          </a:p>
        </p:txBody>
      </p:sp>
      <p:sp>
        <p:nvSpPr>
          <p:cNvPr id="16" name="Text 14"/>
          <p:cNvSpPr/>
          <p:nvPr/>
        </p:nvSpPr>
        <p:spPr>
          <a:xfrm>
            <a:off x="6583680" y="2450592"/>
            <a:ext cx="4709160" cy="320040"/>
          </a:xfrm>
          <a:prstGeom prst="rect">
            <a:avLst/>
          </a:prstGeom>
          <a:noFill/>
          <a:ln/>
        </p:spPr>
        <p:txBody>
          <a:bodyPr wrap="square" lIns="0" tIns="0" rIns="0" bIns="0" rtlCol="0" anchor="ctr"/>
          <a:lstStyle/>
          <a:p>
            <a:pPr marL="0" indent="0">
              <a:buNone/>
            </a:pPr>
            <a:r>
              <a:rPr lang="en-US" sz="1300" dirty="0">
                <a:solidFill>
                  <a:srgbClr val="FFE8E3"/>
                </a:solidFill>
                <a:latin typeface="Consolas" pitchFamily="34" charset="0"/>
                <a:ea typeface="Consolas" pitchFamily="34" charset="-122"/>
                <a:cs typeface="Consolas" pitchFamily="34" charset="-120"/>
              </a:rPr>
              <a:t>try / except / continue</a:t>
            </a:r>
            <a:endParaRPr lang="en-US" sz="1300" dirty="0"/>
          </a:p>
        </p:txBody>
      </p:sp>
      <p:sp>
        <p:nvSpPr>
          <p:cNvPr id="17" name="Text 15"/>
          <p:cNvSpPr/>
          <p:nvPr/>
        </p:nvSpPr>
        <p:spPr>
          <a:xfrm>
            <a:off x="6583680" y="2971800"/>
            <a:ext cx="470916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  Boucle de scraping (20 livres)</a:t>
            </a:r>
            <a:endParaRPr lang="en-US" sz="1350" dirty="0"/>
          </a:p>
        </p:txBody>
      </p:sp>
      <p:sp>
        <p:nvSpPr>
          <p:cNvPr id="18" name="Text 16"/>
          <p:cNvSpPr/>
          <p:nvPr/>
        </p:nvSpPr>
        <p:spPr>
          <a:xfrm>
            <a:off x="6583680" y="3520440"/>
            <a:ext cx="4709160" cy="1188720"/>
          </a:xfrm>
          <a:prstGeom prst="rect">
            <a:avLst/>
          </a:prstGeom>
          <a:noFill/>
          <a:ln/>
        </p:spPr>
        <p:txBody>
          <a:bodyPr wrap="square" lIns="0" tIns="0" rIns="0" bIns="0" rtlCol="0" anchor="ctr"/>
          <a:lstStyle/>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Si un livre échoue (page indisponible, structure inattendue), il est signalé et ignoré — les 19 autres continuent d'être traités.</a:t>
            </a:r>
            <a:endParaRPr lang="en-US" sz="1300" dirty="0"/>
          </a:p>
        </p:txBody>
      </p:sp>
      <p:sp>
        <p:nvSpPr>
          <p:cNvPr id="19" name="Text 17"/>
          <p:cNvSpPr/>
          <p:nvPr/>
        </p:nvSpPr>
        <p:spPr>
          <a:xfrm>
            <a:off x="6583680" y="4937760"/>
            <a:ext cx="4709160" cy="777240"/>
          </a:xfrm>
          <a:prstGeom prst="rect">
            <a:avLst/>
          </a:prstGeom>
          <a:noFill/>
          <a:ln/>
        </p:spPr>
        <p:txBody>
          <a:bodyPr wrap="square" lIns="0" tIns="0" rIns="0" bIns="0" rtlCol="0" anchor="ctr"/>
          <a:lstStyle/>
          <a:p>
            <a:pPr marL="0" indent="0">
              <a:lnSpc>
                <a:spcPct val="120000"/>
              </a:lnSpc>
              <a:buNone/>
            </a:pPr>
            <a:r>
              <a:rPr lang="en-US" sz="1200" i="1" dirty="0">
                <a:solidFill>
                  <a:srgbClr val="FFE8E3"/>
                </a:solidFill>
                <a:latin typeface="Calibri" pitchFamily="34" charset="0"/>
                <a:ea typeface="Calibri" pitchFamily="34" charset="-122"/>
                <a:cs typeface="Calibri" pitchFamily="34" charset="-120"/>
              </a:rPr>
              <a:t>Confirmé en conditions réelles : timeout réseau ponctuel pendant le développement, pipeline non bloqué.</a:t>
            </a:r>
            <a:endParaRPr lang="en-US" sz="1200" dirty="0"/>
          </a:p>
        </p:txBody>
      </p:sp>
      <p:sp>
        <p:nvSpPr>
          <p:cNvPr id="20" name="Text 18"/>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 / 20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1.2</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queries.sql — filtre &amp; enrichissement</a:t>
            </a:r>
            <a:endParaRPr lang="en-US" sz="2600" dirty="0"/>
          </a:p>
        </p:txBody>
      </p:sp>
      <p:sp>
        <p:nvSpPr>
          <p:cNvPr id="6" name="Text 4"/>
          <p:cNvSpPr/>
          <p:nvPr/>
        </p:nvSpPr>
        <p:spPr>
          <a:xfrm>
            <a:off x="548640" y="1508760"/>
            <a:ext cx="11064240" cy="365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Généré automatiquement par extract(), à partir des mêmes variables réellement exécutées — toujours synchronisé avec le code.</a:t>
            </a:r>
            <a:endParaRPr lang="en-US" sz="1300" dirty="0"/>
          </a:p>
        </p:txBody>
      </p:sp>
      <p:sp>
        <p:nvSpPr>
          <p:cNvPr id="7" name="Shape 5"/>
          <p:cNvSpPr/>
          <p:nvPr/>
        </p:nvSpPr>
        <p:spPr>
          <a:xfrm>
            <a:off x="548640" y="2011680"/>
            <a:ext cx="11064240" cy="1371600"/>
          </a:xfrm>
          <a:prstGeom prst="roundRect">
            <a:avLst>
              <a:gd name="adj" fmla="val 5333"/>
            </a:avLst>
          </a:prstGeom>
          <a:solidFill>
            <a:srgbClr val="1B2740"/>
          </a:solidFill>
          <a:ln/>
        </p:spPr>
        <p:txBody>
          <a:bodyPr/>
          <a:lstStyle/>
          <a:p>
            <a:endParaRPr lang="fr-FR"/>
          </a:p>
        </p:txBody>
      </p:sp>
      <p:sp>
        <p:nvSpPr>
          <p:cNvPr id="8" name="Text 6"/>
          <p:cNvSpPr/>
          <p:nvPr/>
        </p:nvSpPr>
        <p:spPr>
          <a:xfrm>
            <a:off x="822960" y="2148840"/>
            <a:ext cx="5486400" cy="274320"/>
          </a:xfrm>
          <a:prstGeom prst="rect">
            <a:avLst/>
          </a:prstGeom>
          <a:noFill/>
          <a:ln/>
        </p:spPr>
        <p:txBody>
          <a:bodyPr wrap="square" lIns="0" tIns="0" rIns="0" bIns="0" rtlCol="0" anchor="ctr"/>
          <a:lstStyle/>
          <a:p>
            <a:pPr marL="0" indent="0">
              <a:buNone/>
            </a:pPr>
            <a:r>
              <a:rPr lang="en-US" sz="1100" b="1" dirty="0">
                <a:solidFill>
                  <a:srgbClr val="E8452F"/>
                </a:solidFill>
                <a:latin typeface="Calibri" pitchFamily="34" charset="0"/>
                <a:ea typeface="Calibri" pitchFamily="34" charset="-122"/>
                <a:cs typeface="Calibri" pitchFamily="34" charset="-120"/>
              </a:rPr>
              <a:t>Requête avec filtre</a:t>
            </a:r>
            <a:endParaRPr lang="en-US" sz="1100" dirty="0"/>
          </a:p>
        </p:txBody>
      </p:sp>
      <p:sp>
        <p:nvSpPr>
          <p:cNvPr id="9" name="Text 7"/>
          <p:cNvSpPr/>
          <p:nvPr/>
        </p:nvSpPr>
        <p:spPr>
          <a:xfrm>
            <a:off x="822960" y="2450592"/>
            <a:ext cx="10515600" cy="822960"/>
          </a:xfrm>
          <a:prstGeom prst="rect">
            <a:avLst/>
          </a:prstGeom>
          <a:noFill/>
          <a:ln/>
        </p:spPr>
        <p:txBody>
          <a:bodyPr wrap="square" lIns="0" tIns="0" rIns="0" bIns="0" rtlCol="0" anchor="ctr"/>
          <a:lstStyle/>
          <a:p>
            <a:pPr marL="0" indent="0">
              <a:lnSpc>
                <a:spcPct val="130000"/>
              </a:lnSpc>
              <a:buNone/>
            </a:pPr>
            <a:r>
              <a:rPr lang="en-US" sz="1400" dirty="0">
                <a:solidFill>
                  <a:srgbClr val="FFFFFF"/>
                </a:solidFill>
                <a:latin typeface="Consolas" pitchFamily="34" charset="0"/>
                <a:ea typeface="Consolas" pitchFamily="34" charset="-122"/>
                <a:cs typeface="Consolas" pitchFamily="34" charset="-120"/>
              </a:rPr>
              <a:t>SELECT * FROM category_rules</a:t>
            </a:r>
            <a:endParaRPr lang="en-US" sz="1400" dirty="0"/>
          </a:p>
          <a:p>
            <a:pPr marL="0" indent="0">
              <a:lnSpc>
                <a:spcPct val="130000"/>
              </a:lnSpc>
              <a:buNone/>
            </a:pPr>
            <a:r>
              <a:rPr lang="en-US" sz="1400" dirty="0">
                <a:solidFill>
                  <a:srgbClr val="FFFFFF"/>
                </a:solidFill>
                <a:latin typeface="Consolas" pitchFamily="34" charset="0"/>
                <a:ea typeface="Consolas" pitchFamily="34" charset="-122"/>
                <a:cs typeface="Consolas" pitchFamily="34" charset="-120"/>
              </a:rPr>
              <a:t>WHERE is_active = 1;</a:t>
            </a:r>
            <a:endParaRPr lang="en-US" sz="1400" dirty="0"/>
          </a:p>
        </p:txBody>
      </p:sp>
      <p:sp>
        <p:nvSpPr>
          <p:cNvPr id="10" name="Shape 8"/>
          <p:cNvSpPr/>
          <p:nvPr/>
        </p:nvSpPr>
        <p:spPr>
          <a:xfrm>
            <a:off x="548640" y="3611880"/>
            <a:ext cx="11064240" cy="2651760"/>
          </a:xfrm>
          <a:prstGeom prst="roundRect">
            <a:avLst>
              <a:gd name="adj" fmla="val 2759"/>
            </a:avLst>
          </a:prstGeom>
          <a:solidFill>
            <a:srgbClr val="1B2740"/>
          </a:solidFill>
          <a:ln/>
        </p:spPr>
        <p:txBody>
          <a:bodyPr/>
          <a:lstStyle/>
          <a:p>
            <a:endParaRPr lang="fr-FR"/>
          </a:p>
        </p:txBody>
      </p:sp>
      <p:sp>
        <p:nvSpPr>
          <p:cNvPr id="11" name="Text 9"/>
          <p:cNvSpPr/>
          <p:nvPr/>
        </p:nvSpPr>
        <p:spPr>
          <a:xfrm>
            <a:off x="822960" y="3749040"/>
            <a:ext cx="7315200" cy="274320"/>
          </a:xfrm>
          <a:prstGeom prst="rect">
            <a:avLst/>
          </a:prstGeom>
          <a:noFill/>
          <a:ln/>
        </p:spPr>
        <p:txBody>
          <a:bodyPr wrap="square" lIns="0" tIns="0" rIns="0" bIns="0" rtlCol="0" anchor="ctr"/>
          <a:lstStyle/>
          <a:p>
            <a:pPr marL="0" indent="0">
              <a:buNone/>
            </a:pPr>
            <a:r>
              <a:rPr lang="en-US" sz="1100" b="1" dirty="0">
                <a:solidFill>
                  <a:srgbClr val="E8452F"/>
                </a:solidFill>
                <a:latin typeface="Calibri" pitchFamily="34" charset="0"/>
                <a:ea typeface="Calibri" pitchFamily="34" charset="-122"/>
                <a:cs typeface="Calibri" pitchFamily="34" charset="-120"/>
              </a:rPr>
              <a:t>Requête d'enrichissement (jointure)</a:t>
            </a:r>
            <a:endParaRPr lang="en-US" sz="1100" dirty="0"/>
          </a:p>
        </p:txBody>
      </p:sp>
      <p:sp>
        <p:nvSpPr>
          <p:cNvPr id="12" name="Text 10"/>
          <p:cNvSpPr/>
          <p:nvPr/>
        </p:nvSpPr>
        <p:spPr>
          <a:xfrm>
            <a:off x="822960" y="4069080"/>
            <a:ext cx="10515600" cy="210312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Consolas" pitchFamily="34" charset="0"/>
                <a:ea typeface="Consolas" pitchFamily="34" charset="-122"/>
                <a:cs typeface="Consolas" pitchFamily="34" charset="-120"/>
              </a:rPr>
              <a:t>SELECT cr.category_name, cr.default_channel_code,</a:t>
            </a:r>
            <a:endParaRPr lang="en-US" sz="1300" dirty="0"/>
          </a:p>
          <a:p>
            <a:pPr marL="0" indent="0">
              <a:lnSpc>
                <a:spcPct val="130000"/>
              </a:lnSpc>
              <a:buNone/>
            </a:pPr>
            <a:r>
              <a:rPr lang="en-US" sz="1300" dirty="0">
                <a:solidFill>
                  <a:srgbClr val="FFFFFF"/>
                </a:solidFill>
                <a:latin typeface="Consolas" pitchFamily="34" charset="0"/>
                <a:ea typeface="Consolas" pitchFamily="34" charset="-122"/>
                <a:cs typeface="Consolas" pitchFamily="34" charset="-120"/>
              </a:rPr>
              <a:t>       cr.is_active AS is_active_cat_rules, cr.margin_rate,</a:t>
            </a:r>
            <a:endParaRPr lang="en-US" sz="1300" dirty="0"/>
          </a:p>
          <a:p>
            <a:pPr marL="0" indent="0">
              <a:lnSpc>
                <a:spcPct val="130000"/>
              </a:lnSpc>
              <a:buNone/>
            </a:pPr>
            <a:r>
              <a:rPr lang="en-US" sz="1300" dirty="0">
                <a:solidFill>
                  <a:srgbClr val="FFFFFF"/>
                </a:solidFill>
                <a:latin typeface="Consolas" pitchFamily="34" charset="0"/>
                <a:ea typeface="Consolas" pitchFamily="34" charset="-122"/>
                <a:cs typeface="Consolas" pitchFamily="34" charset="-120"/>
              </a:rPr>
              <a:t>       c.acquisition_cost_gbp, c.channel_name,</a:t>
            </a:r>
            <a:endParaRPr lang="en-US" sz="1300" dirty="0"/>
          </a:p>
          <a:p>
            <a:pPr marL="0" indent="0">
              <a:lnSpc>
                <a:spcPct val="130000"/>
              </a:lnSpc>
              <a:buNone/>
            </a:pPr>
            <a:r>
              <a:rPr lang="en-US" sz="1300" dirty="0">
                <a:solidFill>
                  <a:srgbClr val="FFFFFF"/>
                </a:solidFill>
                <a:latin typeface="Consolas" pitchFamily="34" charset="0"/>
                <a:ea typeface="Consolas" pitchFamily="34" charset="-122"/>
                <a:cs typeface="Consolas" pitchFamily="34" charset="-120"/>
              </a:rPr>
              <a:t>       c.is_active AS is_active_channels</a:t>
            </a:r>
            <a:endParaRPr lang="en-US" sz="1300" dirty="0"/>
          </a:p>
          <a:p>
            <a:pPr marL="0" indent="0">
              <a:lnSpc>
                <a:spcPct val="130000"/>
              </a:lnSpc>
              <a:buNone/>
            </a:pPr>
            <a:r>
              <a:rPr lang="en-US" sz="1300" dirty="0">
                <a:solidFill>
                  <a:srgbClr val="FFFFFF"/>
                </a:solidFill>
                <a:latin typeface="Consolas" pitchFamily="34" charset="0"/>
                <a:ea typeface="Consolas" pitchFamily="34" charset="-122"/>
                <a:cs typeface="Consolas" pitchFamily="34" charset="-120"/>
              </a:rPr>
              <a:t>FROM category_rules cr</a:t>
            </a:r>
            <a:endParaRPr lang="en-US" sz="1300" dirty="0"/>
          </a:p>
          <a:p>
            <a:pPr marL="0" indent="0">
              <a:lnSpc>
                <a:spcPct val="130000"/>
              </a:lnSpc>
              <a:buNone/>
            </a:pPr>
            <a:r>
              <a:rPr lang="en-US" sz="1300" dirty="0">
                <a:solidFill>
                  <a:srgbClr val="FFFFFF"/>
                </a:solidFill>
                <a:latin typeface="Consolas" pitchFamily="34" charset="0"/>
                <a:ea typeface="Consolas" pitchFamily="34" charset="-122"/>
                <a:cs typeface="Consolas" pitchFamily="34" charset="-120"/>
              </a:rPr>
              <a:t>JOIN channels c ON c.channel_code = cr.default_channel_code;</a:t>
            </a:r>
            <a:endParaRPr lang="en-US" sz="1300" dirty="0"/>
          </a:p>
        </p:txBody>
      </p:sp>
      <p:sp>
        <p:nvSpPr>
          <p:cNvPr id="13" name="Text 11"/>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 / 20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11</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2.1</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3 incohérences réelles, conservées et documentées</a:t>
            </a:r>
            <a:endParaRPr lang="en-US" sz="2600" dirty="0"/>
          </a:p>
        </p:txBody>
      </p:sp>
      <p:sp>
        <p:nvSpPr>
          <p:cNvPr id="6" name="Shape 4"/>
          <p:cNvSpPr/>
          <p:nvPr/>
        </p:nvSpPr>
        <p:spPr>
          <a:xfrm>
            <a:off x="548640" y="1783080"/>
            <a:ext cx="3520440" cy="3017520"/>
          </a:xfrm>
          <a:prstGeom prst="roundRect">
            <a:avLst>
              <a:gd name="adj" fmla="val 3030"/>
            </a:avLst>
          </a:prstGeom>
          <a:solidFill>
            <a:srgbClr val="F2F1EF"/>
          </a:solidFill>
          <a:ln/>
        </p:spPr>
        <p:txBody>
          <a:bodyPr/>
          <a:lstStyle/>
          <a:p>
            <a:endParaRPr lang="fr-FR"/>
          </a:p>
        </p:txBody>
      </p:sp>
      <p:sp>
        <p:nvSpPr>
          <p:cNvPr id="7" name="Shape 5"/>
          <p:cNvSpPr/>
          <p:nvPr/>
        </p:nvSpPr>
        <p:spPr>
          <a:xfrm>
            <a:off x="822960" y="2057400"/>
            <a:ext cx="822960" cy="822960"/>
          </a:xfrm>
          <a:prstGeom prst="roundRect">
            <a:avLst>
              <a:gd name="adj" fmla="val 20000"/>
            </a:avLst>
          </a:prstGeom>
          <a:solidFill>
            <a:srgbClr val="E8452F"/>
          </a:solidFill>
          <a:ln/>
        </p:spPr>
        <p:txBody>
          <a:bodyPr/>
          <a:lstStyle/>
          <a:p>
            <a:endParaRPr lang="fr-FR"/>
          </a:p>
        </p:txBody>
      </p:sp>
      <p:sp>
        <p:nvSpPr>
          <p:cNvPr id="8" name="Text 6"/>
          <p:cNvSpPr/>
          <p:nvPr/>
        </p:nvSpPr>
        <p:spPr>
          <a:xfrm>
            <a:off x="822960" y="205740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PT</a:t>
            </a:r>
            <a:endParaRPr lang="en-US" sz="2200" dirty="0"/>
          </a:p>
        </p:txBody>
      </p:sp>
      <p:sp>
        <p:nvSpPr>
          <p:cNvPr id="9" name="Text 7"/>
          <p:cNvSpPr/>
          <p:nvPr/>
        </p:nvSpPr>
        <p:spPr>
          <a:xfrm>
            <a:off x="822960" y="3017520"/>
            <a:ext cx="2971800" cy="365760"/>
          </a:xfrm>
          <a:prstGeom prst="rect">
            <a:avLst/>
          </a:prstGeom>
          <a:noFill/>
          <a:ln/>
        </p:spPr>
        <p:txBody>
          <a:bodyPr wrap="square" lIns="0" tIns="0" rIns="0" bIns="0" rtlCol="0" anchor="ctr"/>
          <a:lstStyle/>
          <a:p>
            <a:pPr marL="0" indent="0">
              <a:buNone/>
            </a:pPr>
            <a:r>
              <a:rPr lang="en-US" sz="1600" b="1" dirty="0">
                <a:solidFill>
                  <a:srgbClr val="1B2740"/>
                </a:solidFill>
                <a:latin typeface="Calibri" pitchFamily="34" charset="0"/>
                <a:ea typeface="Calibri" pitchFamily="34" charset="-122"/>
                <a:cs typeface="Calibri" pitchFamily="34" charset="-120"/>
              </a:rPr>
              <a:t>Portugal</a:t>
            </a:r>
            <a:endParaRPr lang="en-US" sz="1600" dirty="0"/>
          </a:p>
        </p:txBody>
      </p:sp>
      <p:sp>
        <p:nvSpPr>
          <p:cNvPr id="10" name="Text 8"/>
          <p:cNvSpPr/>
          <p:nvPr/>
        </p:nvSpPr>
        <p:spPr>
          <a:xfrm>
            <a:off x="822960" y="3429000"/>
            <a:ext cx="2971800" cy="1188720"/>
          </a:xfrm>
          <a:prstGeom prst="rect">
            <a:avLst/>
          </a:prstGeom>
          <a:noFill/>
          <a:ln/>
        </p:spPr>
        <p:txBody>
          <a:bodyPr wrap="square" lIns="0" tIns="0" rIns="0" bIns="0" rtlCol="0" anchor="ctr"/>
          <a:lstStyle/>
          <a:p>
            <a:pPr marL="0" indent="0">
              <a:lnSpc>
                <a:spcPct val="125000"/>
              </a:lnSpc>
              <a:buNone/>
            </a:pPr>
            <a:r>
              <a:rPr lang="en-US" sz="1250" dirty="0">
                <a:solidFill>
                  <a:srgbClr val="1B2740"/>
                </a:solidFill>
                <a:latin typeface="Calibri" pitchFamily="34" charset="0"/>
                <a:ea typeface="Calibri" pitchFamily="34" charset="-122"/>
                <a:cs typeface="Calibri" pitchFamily="34" charset="-120"/>
              </a:rPr>
              <a:t>Marqué is_active = 0 dans countries, mais des ventes existent bien.</a:t>
            </a:r>
            <a:endParaRPr lang="en-US" sz="1250" dirty="0"/>
          </a:p>
        </p:txBody>
      </p:sp>
      <p:sp>
        <p:nvSpPr>
          <p:cNvPr id="11" name="Shape 9"/>
          <p:cNvSpPr/>
          <p:nvPr/>
        </p:nvSpPr>
        <p:spPr>
          <a:xfrm>
            <a:off x="4325112" y="1783080"/>
            <a:ext cx="3520440" cy="3017520"/>
          </a:xfrm>
          <a:prstGeom prst="roundRect">
            <a:avLst>
              <a:gd name="adj" fmla="val 3030"/>
            </a:avLst>
          </a:prstGeom>
          <a:solidFill>
            <a:srgbClr val="F2F1EF"/>
          </a:solidFill>
          <a:ln/>
        </p:spPr>
        <p:txBody>
          <a:bodyPr/>
          <a:lstStyle/>
          <a:p>
            <a:endParaRPr lang="fr-FR"/>
          </a:p>
        </p:txBody>
      </p:sp>
      <p:sp>
        <p:nvSpPr>
          <p:cNvPr id="12" name="Shape 10"/>
          <p:cNvSpPr/>
          <p:nvPr/>
        </p:nvSpPr>
        <p:spPr>
          <a:xfrm>
            <a:off x="4599432" y="2057400"/>
            <a:ext cx="822960" cy="822960"/>
          </a:xfrm>
          <a:prstGeom prst="roundRect">
            <a:avLst>
              <a:gd name="adj" fmla="val 20000"/>
            </a:avLst>
          </a:prstGeom>
          <a:solidFill>
            <a:srgbClr val="E8452F"/>
          </a:solidFill>
          <a:ln/>
        </p:spPr>
        <p:txBody>
          <a:bodyPr/>
          <a:lstStyle/>
          <a:p>
            <a:endParaRPr lang="fr-FR"/>
          </a:p>
        </p:txBody>
      </p:sp>
      <p:sp>
        <p:nvSpPr>
          <p:cNvPr id="13" name="Text 11"/>
          <p:cNvSpPr/>
          <p:nvPr/>
        </p:nvSpPr>
        <p:spPr>
          <a:xfrm>
            <a:off x="4599432" y="205740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NL</a:t>
            </a:r>
            <a:endParaRPr lang="en-US" sz="2200" dirty="0"/>
          </a:p>
        </p:txBody>
      </p:sp>
      <p:sp>
        <p:nvSpPr>
          <p:cNvPr id="14" name="Text 12"/>
          <p:cNvSpPr/>
          <p:nvPr/>
        </p:nvSpPr>
        <p:spPr>
          <a:xfrm>
            <a:off x="4599432" y="3017520"/>
            <a:ext cx="2971800" cy="365760"/>
          </a:xfrm>
          <a:prstGeom prst="rect">
            <a:avLst/>
          </a:prstGeom>
          <a:noFill/>
          <a:ln/>
        </p:spPr>
        <p:txBody>
          <a:bodyPr wrap="square" lIns="0" tIns="0" rIns="0" bIns="0" rtlCol="0" anchor="ctr"/>
          <a:lstStyle/>
          <a:p>
            <a:pPr marL="0" indent="0">
              <a:buNone/>
            </a:pPr>
            <a:r>
              <a:rPr lang="en-US" sz="1600" b="1" dirty="0">
                <a:solidFill>
                  <a:srgbClr val="1B2740"/>
                </a:solidFill>
                <a:latin typeface="Calibri" pitchFamily="34" charset="0"/>
                <a:ea typeface="Calibri" pitchFamily="34" charset="-122"/>
                <a:cs typeface="Calibri" pitchFamily="34" charset="-120"/>
              </a:rPr>
              <a:t>Pays-Bas</a:t>
            </a:r>
            <a:endParaRPr lang="en-US" sz="1600" dirty="0"/>
          </a:p>
        </p:txBody>
      </p:sp>
      <p:sp>
        <p:nvSpPr>
          <p:cNvPr id="15" name="Text 13"/>
          <p:cNvSpPr/>
          <p:nvPr/>
        </p:nvSpPr>
        <p:spPr>
          <a:xfrm>
            <a:off x="4599432" y="3429000"/>
            <a:ext cx="2971800" cy="1188720"/>
          </a:xfrm>
          <a:prstGeom prst="rect">
            <a:avLst/>
          </a:prstGeom>
          <a:noFill/>
          <a:ln/>
        </p:spPr>
        <p:txBody>
          <a:bodyPr wrap="square" lIns="0" tIns="0" rIns="0" bIns="0" rtlCol="0" anchor="ctr"/>
          <a:lstStyle/>
          <a:p>
            <a:pPr marL="0" indent="0">
              <a:lnSpc>
                <a:spcPct val="125000"/>
              </a:lnSpc>
              <a:buNone/>
            </a:pPr>
            <a:r>
              <a:rPr lang="en-US" sz="1250" dirty="0">
                <a:solidFill>
                  <a:srgbClr val="1B2740"/>
                </a:solidFill>
                <a:latin typeface="Calibri" pitchFamily="34" charset="0"/>
                <a:ea typeface="Calibri" pitchFamily="34" charset="-122"/>
                <a:cs typeface="Calibri" pitchFamily="34" charset="-120"/>
              </a:rPr>
              <a:t>Ventes existantes, mais aucune ligne dans countries. country_name = "Unknown".</a:t>
            </a:r>
            <a:endParaRPr lang="en-US" sz="1250" dirty="0"/>
          </a:p>
        </p:txBody>
      </p:sp>
      <p:sp>
        <p:nvSpPr>
          <p:cNvPr id="16" name="Shape 14"/>
          <p:cNvSpPr/>
          <p:nvPr/>
        </p:nvSpPr>
        <p:spPr>
          <a:xfrm>
            <a:off x="8101584" y="1783080"/>
            <a:ext cx="3520440" cy="3017520"/>
          </a:xfrm>
          <a:prstGeom prst="roundRect">
            <a:avLst>
              <a:gd name="adj" fmla="val 3030"/>
            </a:avLst>
          </a:prstGeom>
          <a:solidFill>
            <a:srgbClr val="F2F1EF"/>
          </a:solidFill>
          <a:ln/>
        </p:spPr>
        <p:txBody>
          <a:bodyPr/>
          <a:lstStyle/>
          <a:p>
            <a:endParaRPr lang="fr-FR"/>
          </a:p>
        </p:txBody>
      </p:sp>
      <p:sp>
        <p:nvSpPr>
          <p:cNvPr id="17" name="Shape 15"/>
          <p:cNvSpPr/>
          <p:nvPr/>
        </p:nvSpPr>
        <p:spPr>
          <a:xfrm>
            <a:off x="8375904" y="2057400"/>
            <a:ext cx="822960" cy="822960"/>
          </a:xfrm>
          <a:prstGeom prst="roundRect">
            <a:avLst>
              <a:gd name="adj" fmla="val 20000"/>
            </a:avLst>
          </a:prstGeom>
          <a:solidFill>
            <a:srgbClr val="E8452F"/>
          </a:solidFill>
          <a:ln/>
        </p:spPr>
        <p:txBody>
          <a:bodyPr/>
          <a:lstStyle/>
          <a:p>
            <a:endParaRPr lang="fr-FR"/>
          </a:p>
        </p:txBody>
      </p:sp>
      <p:sp>
        <p:nvSpPr>
          <p:cNvPr id="18" name="Text 16"/>
          <p:cNvSpPr/>
          <p:nvPr/>
        </p:nvSpPr>
        <p:spPr>
          <a:xfrm>
            <a:off x="8375904" y="205740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19" name="Text 17"/>
          <p:cNvSpPr/>
          <p:nvPr/>
        </p:nvSpPr>
        <p:spPr>
          <a:xfrm>
            <a:off x="8375904" y="3017520"/>
            <a:ext cx="2971800" cy="365760"/>
          </a:xfrm>
          <a:prstGeom prst="rect">
            <a:avLst/>
          </a:prstGeom>
          <a:noFill/>
          <a:ln/>
        </p:spPr>
        <p:txBody>
          <a:bodyPr wrap="square" lIns="0" tIns="0" rIns="0" bIns="0" rtlCol="0" anchor="ctr"/>
          <a:lstStyle/>
          <a:p>
            <a:pPr marL="0" indent="0">
              <a:buNone/>
            </a:pPr>
            <a:r>
              <a:rPr lang="en-US" sz="1600" b="1" dirty="0">
                <a:solidFill>
                  <a:srgbClr val="1B2740"/>
                </a:solidFill>
                <a:latin typeface="Calibri" pitchFamily="34" charset="0"/>
                <a:ea typeface="Calibri" pitchFamily="34" charset="-122"/>
                <a:cs typeface="Calibri" pitchFamily="34" charset="-120"/>
              </a:rPr>
              <a:t>Catégories</a:t>
            </a:r>
            <a:endParaRPr lang="en-US" sz="1600" dirty="0"/>
          </a:p>
        </p:txBody>
      </p:sp>
      <p:sp>
        <p:nvSpPr>
          <p:cNvPr id="20" name="Text 18"/>
          <p:cNvSpPr/>
          <p:nvPr/>
        </p:nvSpPr>
        <p:spPr>
          <a:xfrm>
            <a:off x="8375904" y="3429000"/>
            <a:ext cx="2971800" cy="1188720"/>
          </a:xfrm>
          <a:prstGeom prst="rect">
            <a:avLst/>
          </a:prstGeom>
          <a:noFill/>
          <a:ln/>
        </p:spPr>
        <p:txBody>
          <a:bodyPr wrap="square" lIns="0" tIns="0" rIns="0" bIns="0" rtlCol="0" anchor="ctr"/>
          <a:lstStyle/>
          <a:p>
            <a:pPr marL="0" indent="0">
              <a:lnSpc>
                <a:spcPct val="125000"/>
              </a:lnSpc>
              <a:buNone/>
            </a:pPr>
            <a:r>
              <a:rPr lang="en-US" sz="1250" dirty="0">
                <a:solidFill>
                  <a:srgbClr val="1B2740"/>
                </a:solidFill>
                <a:latin typeface="Calibri" pitchFamily="34" charset="0"/>
                <a:ea typeface="Calibri" pitchFamily="34" charset="-122"/>
                <a:cs typeface="Calibri" pitchFamily="34" charset="-120"/>
              </a:rPr>
              <a:t>Poetry, Fiction, History... absentes de category_rules (10 catégories couvertes).</a:t>
            </a:r>
            <a:endParaRPr lang="en-US" sz="1250" dirty="0"/>
          </a:p>
        </p:txBody>
      </p:sp>
      <p:sp>
        <p:nvSpPr>
          <p:cNvPr id="21" name="Shape 19"/>
          <p:cNvSpPr/>
          <p:nvPr/>
        </p:nvSpPr>
        <p:spPr>
          <a:xfrm>
            <a:off x="548640" y="5029200"/>
            <a:ext cx="11064240" cy="868680"/>
          </a:xfrm>
          <a:prstGeom prst="roundRect">
            <a:avLst>
              <a:gd name="adj" fmla="val 10526"/>
            </a:avLst>
          </a:prstGeom>
          <a:solidFill>
            <a:srgbClr val="1B2740"/>
          </a:solidFill>
          <a:ln/>
        </p:spPr>
        <p:txBody>
          <a:bodyPr/>
          <a:lstStyle/>
          <a:p>
            <a:endParaRPr lang="fr-FR"/>
          </a:p>
        </p:txBody>
      </p:sp>
      <p:sp>
        <p:nvSpPr>
          <p:cNvPr id="22" name="Text 20"/>
          <p:cNvSpPr/>
          <p:nvPr/>
        </p:nvSpPr>
        <p:spPr>
          <a:xfrm>
            <a:off x="868680" y="5193792"/>
            <a:ext cx="1042416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Décision : inclure ces ventes plutôt que les exclure — le référentiel semble incomplet, pas les ventes erronées.</a:t>
            </a:r>
            <a:endParaRPr lang="en-US" sz="1400" dirty="0"/>
          </a:p>
        </p:txBody>
      </p:sp>
      <p:sp>
        <p:nvSpPr>
          <p:cNvPr id="23" name="Text 21"/>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 / 20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2.1</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Revenu et agrégation sales_by_country</a:t>
            </a:r>
            <a:endParaRPr lang="en-US" sz="2600" dirty="0"/>
          </a:p>
        </p:txBody>
      </p:sp>
      <p:sp>
        <p:nvSpPr>
          <p:cNvPr id="6" name="Shape 4"/>
          <p:cNvSpPr/>
          <p:nvPr/>
        </p:nvSpPr>
        <p:spPr>
          <a:xfrm>
            <a:off x="548640" y="1691640"/>
            <a:ext cx="11064240" cy="1051560"/>
          </a:xfrm>
          <a:prstGeom prst="roundRect">
            <a:avLst>
              <a:gd name="adj" fmla="val 8696"/>
            </a:avLst>
          </a:prstGeom>
          <a:solidFill>
            <a:srgbClr val="1B2740"/>
          </a:solidFill>
          <a:ln/>
        </p:spPr>
        <p:txBody>
          <a:bodyPr/>
          <a:lstStyle/>
          <a:p>
            <a:endParaRPr lang="fr-FR"/>
          </a:p>
        </p:txBody>
      </p:sp>
      <p:sp>
        <p:nvSpPr>
          <p:cNvPr id="7" name="Text 5"/>
          <p:cNvSpPr/>
          <p:nvPr/>
        </p:nvSpPr>
        <p:spPr>
          <a:xfrm>
            <a:off x="548640" y="1691640"/>
            <a:ext cx="11064240" cy="1051560"/>
          </a:xfrm>
          <a:prstGeom prst="rect">
            <a:avLst/>
          </a:prstGeom>
          <a:noFill/>
          <a:ln/>
        </p:spPr>
        <p:txBody>
          <a:bodyPr wrap="square" lIns="0" tIns="0" rIns="0" bIns="0" rtlCol="0" anchor="ctr"/>
          <a:lstStyle/>
          <a:p>
            <a:pPr marL="0" indent="0" algn="ctr">
              <a:buNone/>
            </a:pPr>
            <a:r>
              <a:rPr lang="en-US" sz="2000" b="1" dirty="0">
                <a:solidFill>
                  <a:srgbClr val="E8452F"/>
                </a:solidFill>
                <a:latin typeface="Consolas" pitchFamily="34" charset="0"/>
                <a:ea typeface="Consolas" pitchFamily="34" charset="-122"/>
                <a:cs typeface="Consolas" pitchFamily="34" charset="-120"/>
              </a:rPr>
              <a:t>revenue_gbp = quantity × price_gbp × (1 − discount_rate)</a:t>
            </a:r>
            <a:endParaRPr lang="en-US" sz="2000" dirty="0"/>
          </a:p>
        </p:txBody>
      </p:sp>
      <p:sp>
        <p:nvSpPr>
          <p:cNvPr id="8" name="Text 6"/>
          <p:cNvSpPr/>
          <p:nvPr/>
        </p:nvSpPr>
        <p:spPr>
          <a:xfrm>
            <a:off x="548640" y="2834640"/>
            <a:ext cx="11064240" cy="320040"/>
          </a:xfrm>
          <a:prstGeom prst="rect">
            <a:avLst/>
          </a:prstGeom>
          <a:noFill/>
          <a:ln/>
        </p:spPr>
        <p:txBody>
          <a:bodyPr wrap="square" lIns="0" tIns="0" rIns="0" bIns="0"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(1 − discount_rate), pas discount_rate seul — sinon une vente sans remise aurait un revenu nul</a:t>
            </a:r>
            <a:endParaRPr lang="en-US" sz="1200" dirty="0"/>
          </a:p>
        </p:txBody>
      </p:sp>
      <p:sp>
        <p:nvSpPr>
          <p:cNvPr id="9" name="Text 7"/>
          <p:cNvSpPr/>
          <p:nvPr/>
        </p:nvSpPr>
        <p:spPr>
          <a:xfrm>
            <a:off x="548640" y="3383280"/>
            <a:ext cx="11064240" cy="365760"/>
          </a:xfrm>
          <a:prstGeom prst="rect">
            <a:avLst/>
          </a:prstGeom>
          <a:noFill/>
          <a:ln/>
        </p:spPr>
        <p:txBody>
          <a:bodyPr wrap="square" lIns="0" tIns="0" rIns="0" bIns="0" rtlCol="0" anchor="ctr"/>
          <a:lstStyle/>
          <a:p>
            <a:pPr marL="0" indent="0" algn="ctr">
              <a:buNone/>
            </a:pPr>
            <a:r>
              <a:rPr lang="en-US" sz="1500" b="1" dirty="0">
                <a:solidFill>
                  <a:srgbClr val="1B2740"/>
                </a:solidFill>
                <a:latin typeface="Consolas" pitchFamily="34" charset="0"/>
                <a:ea typeface="Consolas" pitchFamily="34" charset="-122"/>
                <a:cs typeface="Consolas" pitchFamily="34" charset="-120"/>
              </a:rPr>
              <a:t>groupby("country_code")  →  sales_by_country</a:t>
            </a:r>
            <a:endParaRPr lang="en-US" sz="1500" dirty="0"/>
          </a:p>
        </p:txBody>
      </p:sp>
      <p:sp>
        <p:nvSpPr>
          <p:cNvPr id="10" name="Shape 8"/>
          <p:cNvSpPr/>
          <p:nvPr/>
        </p:nvSpPr>
        <p:spPr>
          <a:xfrm>
            <a:off x="548640" y="3977640"/>
            <a:ext cx="1755648" cy="914400"/>
          </a:xfrm>
          <a:prstGeom prst="roundRect">
            <a:avLst>
              <a:gd name="adj" fmla="val 8000"/>
            </a:avLst>
          </a:prstGeom>
          <a:solidFill>
            <a:srgbClr val="F2F1EF"/>
          </a:solidFill>
          <a:ln/>
        </p:spPr>
        <p:txBody>
          <a:bodyPr/>
          <a:lstStyle/>
          <a:p>
            <a:endParaRPr lang="fr-FR"/>
          </a:p>
        </p:txBody>
      </p:sp>
      <p:sp>
        <p:nvSpPr>
          <p:cNvPr id="11" name="Text 9"/>
          <p:cNvSpPr/>
          <p:nvPr/>
        </p:nvSpPr>
        <p:spPr>
          <a:xfrm>
            <a:off x="621792" y="3977640"/>
            <a:ext cx="1609344" cy="914400"/>
          </a:xfrm>
          <a:prstGeom prst="rect">
            <a:avLst/>
          </a:prstGeom>
          <a:noFill/>
          <a:ln/>
        </p:spPr>
        <p:txBody>
          <a:bodyPr wrap="square" lIns="0" tIns="0" rIns="0" bIns="0" rtlCol="0" anchor="ctr"/>
          <a:lstStyle/>
          <a:p>
            <a:pPr marL="0" indent="0" algn="ctr">
              <a:buNone/>
            </a:pPr>
            <a:r>
              <a:rPr lang="en-US" sz="1100" b="1" dirty="0">
                <a:solidFill>
                  <a:srgbClr val="E8452F"/>
                </a:solidFill>
                <a:latin typeface="Consolas" pitchFamily="34" charset="0"/>
                <a:ea typeface="Consolas" pitchFamily="34" charset="-122"/>
                <a:cs typeface="Consolas" pitchFamily="34" charset="-120"/>
              </a:rPr>
              <a:t>country_code</a:t>
            </a:r>
            <a:endParaRPr lang="en-US" sz="1100" dirty="0"/>
          </a:p>
        </p:txBody>
      </p:sp>
      <p:sp>
        <p:nvSpPr>
          <p:cNvPr id="12" name="Shape 10"/>
          <p:cNvSpPr/>
          <p:nvPr/>
        </p:nvSpPr>
        <p:spPr>
          <a:xfrm>
            <a:off x="2414016" y="3977640"/>
            <a:ext cx="1755648" cy="914400"/>
          </a:xfrm>
          <a:prstGeom prst="roundRect">
            <a:avLst>
              <a:gd name="adj" fmla="val 8000"/>
            </a:avLst>
          </a:prstGeom>
          <a:solidFill>
            <a:srgbClr val="F2F1EF"/>
          </a:solidFill>
          <a:ln/>
        </p:spPr>
        <p:txBody>
          <a:bodyPr/>
          <a:lstStyle/>
          <a:p>
            <a:endParaRPr lang="fr-FR"/>
          </a:p>
        </p:txBody>
      </p:sp>
      <p:sp>
        <p:nvSpPr>
          <p:cNvPr id="13" name="Text 11"/>
          <p:cNvSpPr/>
          <p:nvPr/>
        </p:nvSpPr>
        <p:spPr>
          <a:xfrm>
            <a:off x="2487168" y="3977640"/>
            <a:ext cx="1609344" cy="914400"/>
          </a:xfrm>
          <a:prstGeom prst="rect">
            <a:avLst/>
          </a:prstGeom>
          <a:noFill/>
          <a:ln/>
        </p:spPr>
        <p:txBody>
          <a:bodyPr wrap="square" lIns="0" tIns="0" rIns="0" bIns="0" rtlCol="0" anchor="ctr"/>
          <a:lstStyle/>
          <a:p>
            <a:pPr marL="0" indent="0" algn="ctr">
              <a:buNone/>
            </a:pPr>
            <a:r>
              <a:rPr lang="en-US" sz="1100" b="1" dirty="0">
                <a:solidFill>
                  <a:srgbClr val="E8452F"/>
                </a:solidFill>
                <a:latin typeface="Consolas" pitchFamily="34" charset="0"/>
                <a:ea typeface="Consolas" pitchFamily="34" charset="-122"/>
                <a:cs typeface="Consolas" pitchFamily="34" charset="-120"/>
              </a:rPr>
              <a:t>country_name</a:t>
            </a:r>
            <a:endParaRPr lang="en-US" sz="1100" dirty="0"/>
          </a:p>
        </p:txBody>
      </p:sp>
      <p:sp>
        <p:nvSpPr>
          <p:cNvPr id="14" name="Shape 12"/>
          <p:cNvSpPr/>
          <p:nvPr/>
        </p:nvSpPr>
        <p:spPr>
          <a:xfrm>
            <a:off x="4279392" y="3977640"/>
            <a:ext cx="1755648" cy="914400"/>
          </a:xfrm>
          <a:prstGeom prst="roundRect">
            <a:avLst>
              <a:gd name="adj" fmla="val 8000"/>
            </a:avLst>
          </a:prstGeom>
          <a:solidFill>
            <a:srgbClr val="F2F1EF"/>
          </a:solidFill>
          <a:ln/>
        </p:spPr>
        <p:txBody>
          <a:bodyPr/>
          <a:lstStyle/>
          <a:p>
            <a:endParaRPr lang="fr-FR"/>
          </a:p>
        </p:txBody>
      </p:sp>
      <p:sp>
        <p:nvSpPr>
          <p:cNvPr id="15" name="Text 13"/>
          <p:cNvSpPr/>
          <p:nvPr/>
        </p:nvSpPr>
        <p:spPr>
          <a:xfrm>
            <a:off x="4352544" y="3977640"/>
            <a:ext cx="1609344" cy="914400"/>
          </a:xfrm>
          <a:prstGeom prst="rect">
            <a:avLst/>
          </a:prstGeom>
          <a:noFill/>
          <a:ln/>
        </p:spPr>
        <p:txBody>
          <a:bodyPr wrap="square" lIns="0" tIns="0" rIns="0" bIns="0" rtlCol="0" anchor="ctr"/>
          <a:lstStyle/>
          <a:p>
            <a:pPr marL="0" indent="0" algn="ctr">
              <a:buNone/>
            </a:pPr>
            <a:r>
              <a:rPr lang="en-US" sz="1100" b="1" dirty="0">
                <a:solidFill>
                  <a:srgbClr val="E8452F"/>
                </a:solidFill>
                <a:latin typeface="Consolas" pitchFamily="34" charset="0"/>
                <a:ea typeface="Consolas" pitchFamily="34" charset="-122"/>
                <a:cs typeface="Consolas" pitchFamily="34" charset="-120"/>
              </a:rPr>
              <a:t>total_orders</a:t>
            </a:r>
            <a:endParaRPr lang="en-US" sz="1100" dirty="0"/>
          </a:p>
        </p:txBody>
      </p:sp>
      <p:sp>
        <p:nvSpPr>
          <p:cNvPr id="16" name="Shape 14"/>
          <p:cNvSpPr/>
          <p:nvPr/>
        </p:nvSpPr>
        <p:spPr>
          <a:xfrm>
            <a:off x="6144768" y="3977640"/>
            <a:ext cx="1755648" cy="914400"/>
          </a:xfrm>
          <a:prstGeom prst="roundRect">
            <a:avLst>
              <a:gd name="adj" fmla="val 8000"/>
            </a:avLst>
          </a:prstGeom>
          <a:solidFill>
            <a:srgbClr val="F2F1EF"/>
          </a:solidFill>
          <a:ln/>
        </p:spPr>
        <p:txBody>
          <a:bodyPr/>
          <a:lstStyle/>
          <a:p>
            <a:endParaRPr lang="fr-FR"/>
          </a:p>
        </p:txBody>
      </p:sp>
      <p:sp>
        <p:nvSpPr>
          <p:cNvPr id="17" name="Text 15"/>
          <p:cNvSpPr/>
          <p:nvPr/>
        </p:nvSpPr>
        <p:spPr>
          <a:xfrm>
            <a:off x="6217920" y="3977640"/>
            <a:ext cx="1609344" cy="914400"/>
          </a:xfrm>
          <a:prstGeom prst="rect">
            <a:avLst/>
          </a:prstGeom>
          <a:noFill/>
          <a:ln/>
        </p:spPr>
        <p:txBody>
          <a:bodyPr wrap="square" lIns="0" tIns="0" rIns="0" bIns="0" rtlCol="0" anchor="ctr"/>
          <a:lstStyle/>
          <a:p>
            <a:pPr marL="0" indent="0" algn="ctr">
              <a:buNone/>
            </a:pPr>
            <a:r>
              <a:rPr lang="en-US" sz="1100" b="1" dirty="0">
                <a:solidFill>
                  <a:srgbClr val="E8452F"/>
                </a:solidFill>
                <a:latin typeface="Consolas" pitchFamily="34" charset="0"/>
                <a:ea typeface="Consolas" pitchFamily="34" charset="-122"/>
                <a:cs typeface="Consolas" pitchFamily="34" charset="-120"/>
              </a:rPr>
              <a:t>total_quantity</a:t>
            </a:r>
            <a:endParaRPr lang="en-US" sz="1100" dirty="0"/>
          </a:p>
        </p:txBody>
      </p:sp>
      <p:sp>
        <p:nvSpPr>
          <p:cNvPr id="18" name="Shape 16"/>
          <p:cNvSpPr/>
          <p:nvPr/>
        </p:nvSpPr>
        <p:spPr>
          <a:xfrm>
            <a:off x="8010144" y="3977640"/>
            <a:ext cx="1755648" cy="914400"/>
          </a:xfrm>
          <a:prstGeom prst="roundRect">
            <a:avLst>
              <a:gd name="adj" fmla="val 8000"/>
            </a:avLst>
          </a:prstGeom>
          <a:solidFill>
            <a:srgbClr val="F2F1EF"/>
          </a:solidFill>
          <a:ln/>
        </p:spPr>
        <p:txBody>
          <a:bodyPr/>
          <a:lstStyle/>
          <a:p>
            <a:endParaRPr lang="fr-FR"/>
          </a:p>
        </p:txBody>
      </p:sp>
      <p:sp>
        <p:nvSpPr>
          <p:cNvPr id="19" name="Text 17"/>
          <p:cNvSpPr/>
          <p:nvPr/>
        </p:nvSpPr>
        <p:spPr>
          <a:xfrm>
            <a:off x="8083296" y="3977640"/>
            <a:ext cx="1609344" cy="914400"/>
          </a:xfrm>
          <a:prstGeom prst="rect">
            <a:avLst/>
          </a:prstGeom>
          <a:noFill/>
          <a:ln/>
        </p:spPr>
        <p:txBody>
          <a:bodyPr wrap="square" lIns="0" tIns="0" rIns="0" bIns="0" rtlCol="0" anchor="ctr"/>
          <a:lstStyle/>
          <a:p>
            <a:pPr marL="0" indent="0" algn="ctr">
              <a:buNone/>
            </a:pPr>
            <a:r>
              <a:rPr lang="en-US" sz="1100" b="1" dirty="0">
                <a:solidFill>
                  <a:srgbClr val="E8452F"/>
                </a:solidFill>
                <a:latin typeface="Consolas" pitchFamily="34" charset="0"/>
                <a:ea typeface="Consolas" pitchFamily="34" charset="-122"/>
                <a:cs typeface="Consolas" pitchFamily="34" charset="-120"/>
              </a:rPr>
              <a:t>total_revenue_gbp</a:t>
            </a:r>
            <a:endParaRPr lang="en-US" sz="1100" dirty="0"/>
          </a:p>
        </p:txBody>
      </p:sp>
      <p:sp>
        <p:nvSpPr>
          <p:cNvPr id="20" name="Shape 18"/>
          <p:cNvSpPr/>
          <p:nvPr/>
        </p:nvSpPr>
        <p:spPr>
          <a:xfrm>
            <a:off x="9875520" y="3977640"/>
            <a:ext cx="1755648" cy="914400"/>
          </a:xfrm>
          <a:prstGeom prst="roundRect">
            <a:avLst>
              <a:gd name="adj" fmla="val 8000"/>
            </a:avLst>
          </a:prstGeom>
          <a:solidFill>
            <a:srgbClr val="F2F1EF"/>
          </a:solidFill>
          <a:ln/>
        </p:spPr>
        <p:txBody>
          <a:bodyPr/>
          <a:lstStyle/>
          <a:p>
            <a:endParaRPr lang="fr-FR"/>
          </a:p>
        </p:txBody>
      </p:sp>
      <p:sp>
        <p:nvSpPr>
          <p:cNvPr id="21" name="Text 19"/>
          <p:cNvSpPr/>
          <p:nvPr/>
        </p:nvSpPr>
        <p:spPr>
          <a:xfrm>
            <a:off x="9948672" y="3977640"/>
            <a:ext cx="1609344" cy="914400"/>
          </a:xfrm>
          <a:prstGeom prst="rect">
            <a:avLst/>
          </a:prstGeom>
          <a:noFill/>
          <a:ln/>
        </p:spPr>
        <p:txBody>
          <a:bodyPr wrap="square" lIns="0" tIns="0" rIns="0" bIns="0" rtlCol="0" anchor="ctr"/>
          <a:lstStyle/>
          <a:p>
            <a:pPr marL="0" indent="0" algn="ctr">
              <a:buNone/>
            </a:pPr>
            <a:r>
              <a:rPr lang="en-US" sz="1100" b="1" dirty="0">
                <a:solidFill>
                  <a:srgbClr val="E8452F"/>
                </a:solidFill>
                <a:latin typeface="Consolas" pitchFamily="34" charset="0"/>
                <a:ea typeface="Consolas" pitchFamily="34" charset="-122"/>
                <a:cs typeface="Consolas" pitchFamily="34" charset="-120"/>
              </a:rPr>
              <a:t>total_revenue_eur</a:t>
            </a:r>
            <a:endParaRPr lang="en-US" sz="1100" dirty="0"/>
          </a:p>
        </p:txBody>
      </p:sp>
      <p:sp>
        <p:nvSpPr>
          <p:cNvPr id="22" name="Text 20"/>
          <p:cNvSpPr/>
          <p:nvPr/>
        </p:nvSpPr>
        <p:spPr>
          <a:xfrm>
            <a:off x="548640" y="5074920"/>
            <a:ext cx="11064240" cy="32004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Les 6 colonnes minimales attendues par l'énoncé — toutes produites</a:t>
            </a:r>
            <a:endParaRPr lang="en-US" sz="1250" dirty="0"/>
          </a:p>
        </p:txBody>
      </p:sp>
      <p:sp>
        <p:nvSpPr>
          <p:cNvPr id="23" name="Text 21"/>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 / 20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2.2 / 3.1</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Schéma de la base finale — 7 tables</a:t>
            </a:r>
            <a:endParaRPr lang="en-US" sz="2600" dirty="0"/>
          </a:p>
        </p:txBody>
      </p:sp>
      <p:pic>
        <p:nvPicPr>
          <p:cNvPr id="6" name="Image 0" descr="/home/claude/deck_assets/schema.png"/>
          <p:cNvPicPr>
            <a:picLocks noChangeAspect="1"/>
          </p:cNvPicPr>
          <p:nvPr/>
        </p:nvPicPr>
        <p:blipFill>
          <a:blip r:embed="rId3"/>
          <a:stretch>
            <a:fillRect/>
          </a:stretch>
        </p:blipFill>
        <p:spPr>
          <a:xfrm>
            <a:off x="3352648" y="1508760"/>
            <a:ext cx="5486400" cy="4883566"/>
          </a:xfrm>
          <a:prstGeom prst="rect">
            <a:avLst/>
          </a:prstGeom>
        </p:spPr>
      </p:pic>
      <p:sp>
        <p:nvSpPr>
          <p:cNvPr id="7" name="Text 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 / 20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14</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3.1</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RGPD — Minimisation des données</a:t>
            </a:r>
            <a:endParaRPr lang="en-US" sz="2600" dirty="0"/>
          </a:p>
        </p:txBody>
      </p:sp>
      <p:sp>
        <p:nvSpPr>
          <p:cNvPr id="6" name="Text 4"/>
          <p:cNvSpPr/>
          <p:nvPr/>
        </p:nvSpPr>
        <p:spPr>
          <a:xfrm>
            <a:off x="548640" y="1600200"/>
            <a:ext cx="11064240" cy="822960"/>
          </a:xfrm>
          <a:prstGeom prst="rect">
            <a:avLst/>
          </a:prstGeom>
          <a:noFill/>
          <a:ln/>
        </p:spPr>
        <p:txBody>
          <a:bodyPr wrap="square" lIns="0" tIns="0" rIns="0" bIns="0" rtlCol="0" anchor="ctr"/>
          <a:lstStyle/>
          <a:p>
            <a:pPr marL="0" indent="0">
              <a:lnSpc>
                <a:spcPct val="130000"/>
              </a:lnSpc>
              <a:buNone/>
            </a:pPr>
            <a:r>
              <a:rPr lang="en-US" sz="1500" dirty="0">
                <a:solidFill>
                  <a:srgbClr val="1B2740"/>
                </a:solidFill>
                <a:latin typeface="Calibri" pitchFamily="34" charset="0"/>
                <a:ea typeface="Calibri" pitchFamily="34" charset="-122"/>
                <a:cs typeface="Calibri" pitchFamily="34" charset="-120"/>
              </a:rPr>
              <a:t>Le RGPD encadre la collecte et l'usage des données personnelles. Principe central : la minimisation — ne conserver que ce qui est strictement nécessaire à l'usage prévu.</a:t>
            </a:r>
            <a:endParaRPr lang="en-US" sz="1500" dirty="0"/>
          </a:p>
        </p:txBody>
      </p:sp>
      <p:sp>
        <p:nvSpPr>
          <p:cNvPr id="7" name="Shape 5"/>
          <p:cNvSpPr/>
          <p:nvPr/>
        </p:nvSpPr>
        <p:spPr>
          <a:xfrm>
            <a:off x="548640" y="2606040"/>
            <a:ext cx="5349240" cy="2103120"/>
          </a:xfrm>
          <a:prstGeom prst="roundRect">
            <a:avLst>
              <a:gd name="adj" fmla="val 4348"/>
            </a:avLst>
          </a:prstGeom>
          <a:solidFill>
            <a:srgbClr val="F2F1EF"/>
          </a:solidFill>
          <a:ln/>
        </p:spPr>
        <p:txBody>
          <a:bodyPr/>
          <a:lstStyle/>
          <a:p>
            <a:endParaRPr lang="fr-FR"/>
          </a:p>
        </p:txBody>
      </p:sp>
      <p:sp>
        <p:nvSpPr>
          <p:cNvPr id="8" name="Text 6"/>
          <p:cNvSpPr/>
          <p:nvPr/>
        </p:nvSpPr>
        <p:spPr>
          <a:xfrm>
            <a:off x="822960" y="2834640"/>
            <a:ext cx="4800600" cy="320040"/>
          </a:xfrm>
          <a:prstGeom prst="rect">
            <a:avLst/>
          </a:prstGeom>
          <a:noFill/>
          <a:ln/>
        </p:spPr>
        <p:txBody>
          <a:bodyPr wrap="square" lIns="0" tIns="0" rIns="0" bIns="0" rtlCol="0" anchor="ctr"/>
          <a:lstStyle/>
          <a:p>
            <a:pPr marL="0" indent="0">
              <a:buNone/>
            </a:pPr>
            <a:r>
              <a:rPr lang="en-US" sz="1500" b="1" dirty="0">
                <a:solidFill>
                  <a:srgbClr val="E8452F"/>
                </a:solidFill>
                <a:latin typeface="Calibri" pitchFamily="34" charset="0"/>
                <a:ea typeface="Calibri" pitchFamily="34" charset="-122"/>
                <a:cs typeface="Calibri" pitchFamily="34" charset="-120"/>
              </a:rPr>
              <a:t>Application à BookWorld</a:t>
            </a:r>
            <a:endParaRPr lang="en-US" sz="1500" dirty="0"/>
          </a:p>
        </p:txBody>
      </p:sp>
      <p:sp>
        <p:nvSpPr>
          <p:cNvPr id="9" name="Text 7"/>
          <p:cNvSpPr/>
          <p:nvPr/>
        </p:nvSpPr>
        <p:spPr>
          <a:xfrm>
            <a:off x="822960" y="3246120"/>
            <a:ext cx="4800600" cy="1280160"/>
          </a:xfrm>
          <a:prstGeom prst="rect">
            <a:avLst/>
          </a:prstGeom>
          <a:noFill/>
          <a:ln/>
        </p:spPr>
        <p:txBody>
          <a:bodyPr wrap="square" lIns="0" tIns="0" rIns="0" bIns="0" rtlCol="0" anchor="ctr"/>
          <a:lstStyle/>
          <a:p>
            <a:pPr marL="0" indent="0">
              <a:lnSpc>
                <a:spcPct val="130000"/>
              </a:lnSpc>
              <a:buNone/>
            </a:pPr>
            <a:r>
              <a:rPr lang="en-US" sz="1300" dirty="0">
                <a:solidFill>
                  <a:srgbClr val="1B2740"/>
                </a:solidFill>
                <a:latin typeface="Calibri" pitchFamily="34" charset="0"/>
                <a:ea typeface="Calibri" pitchFamily="34" charset="-122"/>
                <a:cs typeface="Calibri" pitchFamily="34" charset="-120"/>
              </a:rPr>
              <a:t>customer_first_name / customer_last_name sont des identifiants directs. L'usage final (agrégation par pays) n'en a jamais besoin.</a:t>
            </a:r>
            <a:endParaRPr lang="en-US" sz="1300" dirty="0"/>
          </a:p>
        </p:txBody>
      </p:sp>
      <p:sp>
        <p:nvSpPr>
          <p:cNvPr id="10" name="Shape 8"/>
          <p:cNvSpPr/>
          <p:nvPr/>
        </p:nvSpPr>
        <p:spPr>
          <a:xfrm>
            <a:off x="6263640" y="2606040"/>
            <a:ext cx="5349240" cy="2103120"/>
          </a:xfrm>
          <a:prstGeom prst="roundRect">
            <a:avLst>
              <a:gd name="adj" fmla="val 4348"/>
            </a:avLst>
          </a:prstGeom>
          <a:solidFill>
            <a:srgbClr val="1B2740"/>
          </a:solidFill>
          <a:ln/>
        </p:spPr>
        <p:txBody>
          <a:bodyPr/>
          <a:lstStyle/>
          <a:p>
            <a:endParaRPr lang="fr-FR"/>
          </a:p>
        </p:txBody>
      </p:sp>
      <p:sp>
        <p:nvSpPr>
          <p:cNvPr id="11" name="Text 9"/>
          <p:cNvSpPr/>
          <p:nvPr/>
        </p:nvSpPr>
        <p:spPr>
          <a:xfrm>
            <a:off x="6537960" y="2834640"/>
            <a:ext cx="4800600" cy="320040"/>
          </a:xfrm>
          <a:prstGeom prst="rect">
            <a:avLst/>
          </a:prstGeom>
          <a:noFill/>
          <a:ln/>
        </p:spPr>
        <p:txBody>
          <a:bodyPr wrap="square" lIns="0" tIns="0" rIns="0" bIns="0" rtlCol="0" anchor="ctr"/>
          <a:lstStyle/>
          <a:p>
            <a:pPr marL="0" indent="0">
              <a:buNone/>
            </a:pPr>
            <a:r>
              <a:rPr lang="en-US" sz="1500" b="1" dirty="0">
                <a:solidFill>
                  <a:srgbClr val="E8452F"/>
                </a:solidFill>
                <a:latin typeface="Calibri" pitchFamily="34" charset="0"/>
                <a:ea typeface="Calibri" pitchFamily="34" charset="-122"/>
                <a:cs typeface="Calibri" pitchFamily="34" charset="-120"/>
              </a:rPr>
              <a:t>Exclusion au niveau du schéma</a:t>
            </a:r>
            <a:endParaRPr lang="en-US" sz="1500" dirty="0"/>
          </a:p>
        </p:txBody>
      </p:sp>
      <p:sp>
        <p:nvSpPr>
          <p:cNvPr id="12" name="Text 10"/>
          <p:cNvSpPr/>
          <p:nvPr/>
        </p:nvSpPr>
        <p:spPr>
          <a:xfrm>
            <a:off x="6537960" y="3246120"/>
            <a:ext cx="4800600" cy="128016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Colonnes absentes de sales dès sa création — pas juste filtrées après coup. "Privacy by design" : une erreur future dans load() ne peut pas les réintroduire.</a:t>
            </a:r>
            <a:endParaRPr lang="en-US" sz="1300" dirty="0"/>
          </a:p>
        </p:txBody>
      </p:sp>
      <p:sp>
        <p:nvSpPr>
          <p:cNvPr id="13" name="Shape 11"/>
          <p:cNvSpPr/>
          <p:nvPr/>
        </p:nvSpPr>
        <p:spPr>
          <a:xfrm>
            <a:off x="548640" y="4937760"/>
            <a:ext cx="11064240" cy="1005840"/>
          </a:xfrm>
          <a:prstGeom prst="roundRect">
            <a:avLst>
              <a:gd name="adj" fmla="val 7273"/>
            </a:avLst>
          </a:prstGeom>
          <a:solidFill>
            <a:srgbClr val="2E3E5C"/>
          </a:solidFill>
          <a:ln/>
        </p:spPr>
        <p:txBody>
          <a:bodyPr/>
          <a:lstStyle/>
          <a:p>
            <a:endParaRPr lang="fr-FR"/>
          </a:p>
        </p:txBody>
      </p:sp>
      <p:sp>
        <p:nvSpPr>
          <p:cNvPr id="14" name="Text 12"/>
          <p:cNvSpPr/>
          <p:nvPr/>
        </p:nvSpPr>
        <p:spPr>
          <a:xfrm>
            <a:off x="822960" y="4937760"/>
            <a:ext cx="10515600" cy="1005840"/>
          </a:xfrm>
          <a:prstGeom prst="rect">
            <a:avLst/>
          </a:prstGeom>
          <a:noFill/>
          <a:ln/>
        </p:spPr>
        <p:txBody>
          <a:bodyPr wrap="square" lIns="0" tIns="0" rIns="0" bIns="0" rtlCol="0" anchor="ctr"/>
          <a:lstStyle/>
          <a:p>
            <a:pPr marL="0" indent="0">
              <a:lnSpc>
                <a:spcPct val="130000"/>
              </a:lnSpc>
              <a:buNone/>
            </a:pPr>
            <a:r>
              <a:rPr lang="en-US" sz="1300" dirty="0">
                <a:solidFill>
                  <a:srgbClr val="E8452F"/>
                </a:solidFill>
                <a:latin typeface="Consolas" pitchFamily="34" charset="0"/>
                <a:ea typeface="Consolas" pitchFamily="34" charset="-122"/>
                <a:cs typeface="Consolas" pitchFamily="34" charset="-120"/>
              </a:rPr>
              <a:t>CREATE TABLE sales (order_id, order_date, book_name, country_code, channel_code,</a:t>
            </a:r>
            <a:endParaRPr lang="en-US" sz="1300" dirty="0"/>
          </a:p>
          <a:p>
            <a:pPr marL="0" indent="0">
              <a:lnSpc>
                <a:spcPct val="130000"/>
              </a:lnSpc>
              <a:buNone/>
            </a:pPr>
            <a:r>
              <a:rPr lang="en-US" sz="1300" dirty="0">
                <a:solidFill>
                  <a:srgbClr val="E8452F"/>
                </a:solidFill>
                <a:latin typeface="Consolas" pitchFamily="34" charset="0"/>
                <a:ea typeface="Consolas" pitchFamily="34" charset="-122"/>
                <a:cs typeface="Consolas" pitchFamily="34" charset="-120"/>
              </a:rPr>
              <a:t>quantity, discount_rate, revenue_gbp, ...)   ← pas de nom / prénom client</a:t>
            </a:r>
            <a:endParaRPr lang="en-US" sz="1300" dirty="0"/>
          </a:p>
        </p:txBody>
      </p:sp>
      <p:sp>
        <p:nvSpPr>
          <p:cNvPr id="15" name="Text 13"/>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 / 20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4.1</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API REST — Endpoints</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1645920"/>
        </p:xfrm>
        <a:graphic>
          <a:graphicData uri="http://schemas.openxmlformats.org/drawingml/2006/table">
            <a:tbl>
              <a:tblPr/>
              <a:tblGrid>
                <a:gridCol w="16459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754880">
                  <a:extLst>
                    <a:ext uri="{9D8B030D-6E8A-4147-A177-3AD203B41FA5}">
                      <a16:colId xmlns:a16="http://schemas.microsoft.com/office/drawing/2014/main" val="20003"/>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Méthode</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Route</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Auth</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Description</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indent="0">
                        <a:buNone/>
                      </a:pPr>
                      <a:r>
                        <a:rPr lang="en-US" sz="1400" dirty="0">
                          <a:solidFill>
                            <a:srgbClr val="1B2740"/>
                          </a:solidFill>
                          <a:latin typeface="Consolas" pitchFamily="34" charset="0"/>
                          <a:ea typeface="Consolas" pitchFamily="34" charset="-122"/>
                          <a:cs typeface="Consolas" pitchFamily="34" charset="-120"/>
                        </a:rPr>
                        <a:t>/health</a:t>
                      </a:r>
                      <a:endParaRPr lang="en-US" sz="1400" dirty="0">
                        <a:latin typeface="Consolas" charset="0"/>
                        <a:ea typeface="Consolas" charset="0"/>
                        <a:cs typeface="Consolas"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{"status": "ok"} si l'API fonctionne</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buNone/>
                      </a:pPr>
                      <a:r>
                        <a:rPr lang="en-US" sz="1400" dirty="0">
                          <a:solidFill>
                            <a:srgbClr val="1B2740"/>
                          </a:solidFill>
                          <a:latin typeface="Consolas" pitchFamily="34" charset="0"/>
                          <a:ea typeface="Consolas" pitchFamily="34" charset="-122"/>
                          <a:cs typeface="Consolas" pitchFamily="34" charset="-120"/>
                        </a:rPr>
                        <a:t>/sales-by-country</a:t>
                      </a:r>
                      <a:endParaRPr lang="en-US" sz="1400" dirty="0">
                        <a:latin typeface="Consolas" charset="0"/>
                        <a:ea typeface="Consolas" charset="0"/>
                        <a:cs typeface="Consolas"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buNone/>
                      </a:pPr>
                      <a:r>
                        <a:rPr lang="en-US" sz="1400" b="1" dirty="0">
                          <a:solidFill>
                            <a:srgbClr val="E8452F"/>
                          </a:solidFill>
                          <a:latin typeface="Calibri" pitchFamily="34" charset="0"/>
                          <a:ea typeface="Calibri" pitchFamily="34" charset="-122"/>
                          <a:cs typeface="Calibri" pitchFamily="34" charset="-120"/>
                        </a:rPr>
                        <a:t>Oui (token)</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Données agrégées en JSON</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Shape 4"/>
          <p:cNvSpPr/>
          <p:nvPr/>
        </p:nvSpPr>
        <p:spPr>
          <a:xfrm>
            <a:off x="548640" y="3566160"/>
            <a:ext cx="11064240" cy="2194560"/>
          </a:xfrm>
          <a:prstGeom prst="roundRect">
            <a:avLst>
              <a:gd name="adj" fmla="val 4167"/>
            </a:avLst>
          </a:prstGeom>
          <a:solidFill>
            <a:srgbClr val="F2F1EF"/>
          </a:solidFill>
          <a:ln/>
        </p:spPr>
        <p:txBody>
          <a:bodyPr/>
          <a:lstStyle/>
          <a:p>
            <a:endParaRPr lang="fr-FR"/>
          </a:p>
        </p:txBody>
      </p:sp>
      <p:sp>
        <p:nvSpPr>
          <p:cNvPr id="8" name="Text 5"/>
          <p:cNvSpPr/>
          <p:nvPr/>
        </p:nvSpPr>
        <p:spPr>
          <a:xfrm>
            <a:off x="868680" y="3749040"/>
            <a:ext cx="10424160" cy="320040"/>
          </a:xfrm>
          <a:prstGeom prst="rect">
            <a:avLst/>
          </a:prstGeom>
          <a:noFill/>
          <a:ln/>
        </p:spPr>
        <p:txBody>
          <a:bodyPr wrap="square" lIns="0" tIns="0" rIns="0" bIns="0" rtlCol="0" anchor="ctr"/>
          <a:lstStyle/>
          <a:p>
            <a:pPr marL="0" indent="0">
              <a:buNone/>
            </a:pPr>
            <a:r>
              <a:rPr lang="en-US" sz="1500" b="1" dirty="0">
                <a:solidFill>
                  <a:srgbClr val="1B2740"/>
                </a:solidFill>
                <a:latin typeface="Calibri" pitchFamily="34" charset="0"/>
                <a:ea typeface="Calibri" pitchFamily="34" charset="-122"/>
                <a:cs typeface="Calibri" pitchFamily="34" charset="-120"/>
              </a:rPr>
              <a:t>Gestion d'erreur de /sales-by-country</a:t>
            </a:r>
            <a:endParaRPr lang="en-US" sz="1500" dirty="0"/>
          </a:p>
        </p:txBody>
      </p:sp>
      <p:sp>
        <p:nvSpPr>
          <p:cNvPr id="9" name="Shape 6"/>
          <p:cNvSpPr/>
          <p:nvPr/>
        </p:nvSpPr>
        <p:spPr>
          <a:xfrm>
            <a:off x="868680" y="4251960"/>
            <a:ext cx="914400" cy="502920"/>
          </a:xfrm>
          <a:prstGeom prst="roundRect">
            <a:avLst>
              <a:gd name="adj" fmla="val 14545"/>
            </a:avLst>
          </a:prstGeom>
          <a:solidFill>
            <a:srgbClr val="E8452F"/>
          </a:solidFill>
          <a:ln/>
        </p:spPr>
        <p:txBody>
          <a:bodyPr/>
          <a:lstStyle/>
          <a:p>
            <a:endParaRPr lang="fr-FR"/>
          </a:p>
        </p:txBody>
      </p:sp>
      <p:sp>
        <p:nvSpPr>
          <p:cNvPr id="10" name="Text 7"/>
          <p:cNvSpPr/>
          <p:nvPr/>
        </p:nvSpPr>
        <p:spPr>
          <a:xfrm>
            <a:off x="868680" y="4251960"/>
            <a:ext cx="914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503</a:t>
            </a:r>
            <a:endParaRPr lang="en-US" sz="1600" dirty="0"/>
          </a:p>
        </p:txBody>
      </p:sp>
      <p:sp>
        <p:nvSpPr>
          <p:cNvPr id="11" name="Text 8"/>
          <p:cNvSpPr/>
          <p:nvPr/>
        </p:nvSpPr>
        <p:spPr>
          <a:xfrm>
            <a:off x="1965960" y="4270248"/>
            <a:ext cx="2743200" cy="274320"/>
          </a:xfrm>
          <a:prstGeom prst="rect">
            <a:avLst/>
          </a:prstGeom>
          <a:noFill/>
          <a:ln/>
        </p:spPr>
        <p:txBody>
          <a:bodyPr wrap="square" lIns="0" tIns="0" rIns="0" bIns="0" rtlCol="0" anchor="ctr"/>
          <a:lstStyle/>
          <a:p>
            <a:pPr marL="0" indent="0">
              <a:buNone/>
            </a:pPr>
            <a:r>
              <a:rPr lang="en-US" sz="1250" b="1" dirty="0">
                <a:solidFill>
                  <a:srgbClr val="1B2740"/>
                </a:solidFill>
                <a:latin typeface="Calibri" pitchFamily="34" charset="0"/>
                <a:ea typeface="Calibri" pitchFamily="34" charset="-122"/>
                <a:cs typeface="Calibri" pitchFamily="34" charset="-120"/>
              </a:rPr>
              <a:t>Service Unavailable</a:t>
            </a:r>
            <a:endParaRPr lang="en-US" sz="1250" dirty="0"/>
          </a:p>
        </p:txBody>
      </p:sp>
      <p:sp>
        <p:nvSpPr>
          <p:cNvPr id="12" name="Text 9"/>
          <p:cNvSpPr/>
          <p:nvPr/>
        </p:nvSpPr>
        <p:spPr>
          <a:xfrm>
            <a:off x="1965960" y="4507992"/>
            <a:ext cx="86868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La base finale n'existe pas encore (pipeline non exécuté)</a:t>
            </a:r>
            <a:endParaRPr lang="en-US" sz="1200" dirty="0"/>
          </a:p>
        </p:txBody>
      </p:sp>
      <p:sp>
        <p:nvSpPr>
          <p:cNvPr id="13" name="Shape 10"/>
          <p:cNvSpPr/>
          <p:nvPr/>
        </p:nvSpPr>
        <p:spPr>
          <a:xfrm>
            <a:off x="868680" y="4937760"/>
            <a:ext cx="914400" cy="502920"/>
          </a:xfrm>
          <a:prstGeom prst="roundRect">
            <a:avLst>
              <a:gd name="adj" fmla="val 14545"/>
            </a:avLst>
          </a:prstGeom>
          <a:solidFill>
            <a:srgbClr val="E8452F"/>
          </a:solidFill>
          <a:ln/>
        </p:spPr>
        <p:txBody>
          <a:bodyPr/>
          <a:lstStyle/>
          <a:p>
            <a:endParaRPr lang="fr-FR"/>
          </a:p>
        </p:txBody>
      </p:sp>
      <p:sp>
        <p:nvSpPr>
          <p:cNvPr id="14" name="Text 11"/>
          <p:cNvSpPr/>
          <p:nvPr/>
        </p:nvSpPr>
        <p:spPr>
          <a:xfrm>
            <a:off x="868680" y="4937760"/>
            <a:ext cx="914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500</a:t>
            </a:r>
            <a:endParaRPr lang="en-US" sz="1600" dirty="0"/>
          </a:p>
        </p:txBody>
      </p:sp>
      <p:sp>
        <p:nvSpPr>
          <p:cNvPr id="15" name="Text 12"/>
          <p:cNvSpPr/>
          <p:nvPr/>
        </p:nvSpPr>
        <p:spPr>
          <a:xfrm>
            <a:off x="1965960" y="4956048"/>
            <a:ext cx="2743200" cy="274320"/>
          </a:xfrm>
          <a:prstGeom prst="rect">
            <a:avLst/>
          </a:prstGeom>
          <a:noFill/>
          <a:ln/>
        </p:spPr>
        <p:txBody>
          <a:bodyPr wrap="square" lIns="0" tIns="0" rIns="0" bIns="0" rtlCol="0" anchor="ctr"/>
          <a:lstStyle/>
          <a:p>
            <a:pPr marL="0" indent="0">
              <a:buNone/>
            </a:pPr>
            <a:r>
              <a:rPr lang="en-US" sz="1250" b="1" dirty="0">
                <a:solidFill>
                  <a:srgbClr val="1B2740"/>
                </a:solidFill>
                <a:latin typeface="Calibri" pitchFamily="34" charset="0"/>
                <a:ea typeface="Calibri" pitchFamily="34" charset="-122"/>
                <a:cs typeface="Calibri" pitchFamily="34" charset="-120"/>
              </a:rPr>
              <a:t>Internal Server Error</a:t>
            </a:r>
            <a:endParaRPr lang="en-US" sz="1250" dirty="0"/>
          </a:p>
        </p:txBody>
      </p:sp>
      <p:sp>
        <p:nvSpPr>
          <p:cNvPr id="6" name="Text 13"/>
          <p:cNvSpPr/>
          <p:nvPr/>
        </p:nvSpPr>
        <p:spPr>
          <a:xfrm>
            <a:off x="1965960" y="5193792"/>
            <a:ext cx="86868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Une table attendue est illisible</a:t>
            </a:r>
            <a:endParaRPr lang="en-US" sz="1200" dirty="0"/>
          </a:p>
        </p:txBody>
      </p:sp>
      <p:sp>
        <p:nvSpPr>
          <p:cNvPr id="17" name="Text 1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15 / 20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16</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4.1</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Authentification par token</a:t>
            </a:r>
            <a:endParaRPr lang="en-US" sz="2600" dirty="0"/>
          </a:p>
        </p:txBody>
      </p:sp>
      <p:sp>
        <p:nvSpPr>
          <p:cNvPr id="6" name="Shape 4"/>
          <p:cNvSpPr/>
          <p:nvPr/>
        </p:nvSpPr>
        <p:spPr>
          <a:xfrm>
            <a:off x="548640" y="1691640"/>
            <a:ext cx="11064240" cy="1097280"/>
          </a:xfrm>
          <a:prstGeom prst="roundRect">
            <a:avLst>
              <a:gd name="adj" fmla="val 8333"/>
            </a:avLst>
          </a:prstGeom>
          <a:solidFill>
            <a:srgbClr val="1B2740"/>
          </a:solidFill>
          <a:ln/>
        </p:spPr>
        <p:txBody>
          <a:bodyPr/>
          <a:lstStyle/>
          <a:p>
            <a:endParaRPr lang="fr-FR"/>
          </a:p>
        </p:txBody>
      </p:sp>
      <p:sp>
        <p:nvSpPr>
          <p:cNvPr id="7" name="Text 5"/>
          <p:cNvSpPr/>
          <p:nvPr/>
        </p:nvSpPr>
        <p:spPr>
          <a:xfrm>
            <a:off x="548640" y="1691640"/>
            <a:ext cx="11064240" cy="1097280"/>
          </a:xfrm>
          <a:prstGeom prst="rect">
            <a:avLst/>
          </a:prstGeom>
          <a:noFill/>
          <a:ln/>
        </p:spPr>
        <p:txBody>
          <a:bodyPr wrap="square" lIns="0" tIns="0" rIns="0" bIns="0" rtlCol="0" anchor="ctr"/>
          <a:lstStyle/>
          <a:p>
            <a:pPr marL="0" indent="0" algn="ctr">
              <a:buNone/>
            </a:pPr>
            <a:r>
              <a:rPr lang="en-US" sz="2200" b="1" dirty="0">
                <a:solidFill>
                  <a:srgbClr val="E8452F"/>
                </a:solidFill>
                <a:latin typeface="Consolas" pitchFamily="34" charset="0"/>
                <a:ea typeface="Consolas" pitchFamily="34" charset="-122"/>
                <a:cs typeface="Consolas" pitchFamily="34" charset="-120"/>
              </a:rPr>
              <a:t>Authorization: Bearer &lt;token&gt;</a:t>
            </a:r>
            <a:endParaRPr lang="en-US" sz="2200" dirty="0"/>
          </a:p>
        </p:txBody>
      </p:sp>
      <p:sp>
        <p:nvSpPr>
          <p:cNvPr id="8" name="Shape 6"/>
          <p:cNvSpPr/>
          <p:nvPr/>
        </p:nvSpPr>
        <p:spPr>
          <a:xfrm>
            <a:off x="548640" y="3063240"/>
            <a:ext cx="5349240" cy="1965960"/>
          </a:xfrm>
          <a:prstGeom prst="roundRect">
            <a:avLst>
              <a:gd name="adj" fmla="val 4651"/>
            </a:avLst>
          </a:prstGeom>
          <a:solidFill>
            <a:srgbClr val="F2F1EF"/>
          </a:solidFill>
          <a:ln/>
        </p:spPr>
        <p:txBody>
          <a:bodyPr/>
          <a:lstStyle/>
          <a:p>
            <a:endParaRPr lang="fr-FR"/>
          </a:p>
        </p:txBody>
      </p:sp>
      <p:sp>
        <p:nvSpPr>
          <p:cNvPr id="9" name="Text 7"/>
          <p:cNvSpPr/>
          <p:nvPr/>
        </p:nvSpPr>
        <p:spPr>
          <a:xfrm>
            <a:off x="822960" y="3291840"/>
            <a:ext cx="4800600" cy="320040"/>
          </a:xfrm>
          <a:prstGeom prst="rect">
            <a:avLst/>
          </a:prstGeom>
          <a:noFill/>
          <a:ln/>
        </p:spPr>
        <p:txBody>
          <a:bodyPr wrap="square" lIns="0" tIns="0" rIns="0" bIns="0" rtlCol="0" anchor="ctr"/>
          <a:lstStyle/>
          <a:p>
            <a:pPr marL="0" indent="0">
              <a:buNone/>
            </a:pPr>
            <a:r>
              <a:rPr lang="en-US" sz="1500" b="1" dirty="0">
                <a:solidFill>
                  <a:srgbClr val="E8452F"/>
                </a:solidFill>
                <a:latin typeface="Calibri" pitchFamily="34" charset="0"/>
                <a:ea typeface="Calibri" pitchFamily="34" charset="-122"/>
                <a:cs typeface="Calibri" pitchFamily="34" charset="-120"/>
              </a:rPr>
              <a:t>Stockage du secret</a:t>
            </a:r>
            <a:endParaRPr lang="en-US" sz="1500" dirty="0"/>
          </a:p>
        </p:txBody>
      </p:sp>
      <p:sp>
        <p:nvSpPr>
          <p:cNvPr id="10" name="Text 8"/>
          <p:cNvSpPr/>
          <p:nvPr/>
        </p:nvSpPr>
        <p:spPr>
          <a:xfrm>
            <a:off x="822960" y="3703320"/>
            <a:ext cx="4800600" cy="1188720"/>
          </a:xfrm>
          <a:prstGeom prst="rect">
            <a:avLst/>
          </a:prstGeom>
          <a:noFill/>
          <a:ln/>
        </p:spPr>
        <p:txBody>
          <a:bodyPr wrap="square" lIns="0" tIns="0" rIns="0" bIns="0" rtlCol="0" anchor="ctr"/>
          <a:lstStyle/>
          <a:p>
            <a:pPr marL="0" indent="0">
              <a:lnSpc>
                <a:spcPct val="130000"/>
              </a:lnSpc>
              <a:buNone/>
            </a:pPr>
            <a:r>
              <a:rPr lang="en-US" sz="1300" dirty="0">
                <a:solidFill>
                  <a:srgbClr val="1B2740"/>
                </a:solidFill>
                <a:latin typeface="Calibri" pitchFamily="34" charset="0"/>
                <a:ea typeface="Calibri" pitchFamily="34" charset="-122"/>
                <a:cs typeface="Calibri" pitchFamily="34" charset="-120"/>
              </a:rPr>
              <a:t>BOOKWORLD_API_TOKEN dans un fichier .env (jamais commité). .env.example sert de modèle, sans exposer de vraie valeur.</a:t>
            </a:r>
            <a:endParaRPr lang="en-US" sz="1300" dirty="0"/>
          </a:p>
        </p:txBody>
      </p:sp>
      <p:sp>
        <p:nvSpPr>
          <p:cNvPr id="11" name="Shape 9"/>
          <p:cNvSpPr/>
          <p:nvPr/>
        </p:nvSpPr>
        <p:spPr>
          <a:xfrm>
            <a:off x="6263640" y="3063240"/>
            <a:ext cx="5349240" cy="1965960"/>
          </a:xfrm>
          <a:prstGeom prst="roundRect">
            <a:avLst>
              <a:gd name="adj" fmla="val 4651"/>
            </a:avLst>
          </a:prstGeom>
          <a:solidFill>
            <a:srgbClr val="F2F1EF"/>
          </a:solidFill>
          <a:ln/>
        </p:spPr>
        <p:txBody>
          <a:bodyPr/>
          <a:lstStyle/>
          <a:p>
            <a:endParaRPr lang="fr-FR"/>
          </a:p>
        </p:txBody>
      </p:sp>
      <p:sp>
        <p:nvSpPr>
          <p:cNvPr id="12" name="Text 10"/>
          <p:cNvSpPr/>
          <p:nvPr/>
        </p:nvSpPr>
        <p:spPr>
          <a:xfrm>
            <a:off x="6537960" y="3291840"/>
            <a:ext cx="4800600" cy="320040"/>
          </a:xfrm>
          <a:prstGeom prst="rect">
            <a:avLst/>
          </a:prstGeom>
          <a:noFill/>
          <a:ln/>
        </p:spPr>
        <p:txBody>
          <a:bodyPr wrap="square" lIns="0" tIns="0" rIns="0" bIns="0" rtlCol="0" anchor="ctr"/>
          <a:lstStyle/>
          <a:p>
            <a:pPr marL="0" indent="0">
              <a:buNone/>
            </a:pPr>
            <a:r>
              <a:rPr lang="en-US" sz="1500" b="1" dirty="0">
                <a:solidFill>
                  <a:srgbClr val="E8452F"/>
                </a:solidFill>
                <a:latin typeface="Calibri" pitchFamily="34" charset="0"/>
                <a:ea typeface="Calibri" pitchFamily="34" charset="-122"/>
                <a:cs typeface="Calibri" pitchFamily="34" charset="-120"/>
              </a:rPr>
              <a:t>Pourquoi l'en-tête, pas l'URL</a:t>
            </a:r>
            <a:endParaRPr lang="en-US" sz="1500" dirty="0"/>
          </a:p>
        </p:txBody>
      </p:sp>
      <p:sp>
        <p:nvSpPr>
          <p:cNvPr id="13" name="Text 11"/>
          <p:cNvSpPr/>
          <p:nvPr/>
        </p:nvSpPr>
        <p:spPr>
          <a:xfrm>
            <a:off x="6537960" y="3703320"/>
            <a:ext cx="4800600" cy="1188720"/>
          </a:xfrm>
          <a:prstGeom prst="rect">
            <a:avLst/>
          </a:prstGeom>
          <a:noFill/>
          <a:ln/>
        </p:spPr>
        <p:txBody>
          <a:bodyPr wrap="square" lIns="0" tIns="0" rIns="0" bIns="0" rtlCol="0" anchor="ctr"/>
          <a:lstStyle/>
          <a:p>
            <a:pPr marL="0" indent="0">
              <a:lnSpc>
                <a:spcPct val="130000"/>
              </a:lnSpc>
              <a:buNone/>
            </a:pPr>
            <a:r>
              <a:rPr lang="en-US" sz="1300" dirty="0">
                <a:solidFill>
                  <a:srgbClr val="1B2740"/>
                </a:solidFill>
                <a:latin typeface="Calibri" pitchFamily="34" charset="0"/>
                <a:ea typeface="Calibri" pitchFamily="34" charset="-122"/>
                <a:cs typeface="Calibri" pitchFamily="34" charset="-120"/>
              </a:rPr>
              <a:t>Le token ne transite jamais dans l'URL : absent des logs serveur et de l'historique du navigateur. Pratique standard pour une API REST en production.</a:t>
            </a:r>
            <a:endParaRPr lang="en-US" sz="1300" dirty="0"/>
          </a:p>
        </p:txBody>
      </p:sp>
      <p:sp>
        <p:nvSpPr>
          <p:cNvPr id="14" name="Text 12"/>
          <p:cNvSpPr/>
          <p:nvPr/>
        </p:nvSpPr>
        <p:spPr>
          <a:xfrm>
            <a:off x="548640" y="5257800"/>
            <a:ext cx="110642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Une première version acceptait aussi ?token=... par commodité de test — retirée après un retour de professeur.</a:t>
            </a:r>
            <a:endParaRPr lang="en-US" sz="1250" dirty="0"/>
          </a:p>
        </p:txBody>
      </p:sp>
      <p:sp>
        <p:nvSpPr>
          <p:cNvPr id="15" name="Text 13"/>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16 / 20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740"/>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17</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DÉMONSTRATION</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L'API en conditions réelles</a:t>
            </a:r>
            <a:endParaRPr lang="en-US" sz="2600" dirty="0"/>
          </a:p>
        </p:txBody>
      </p:sp>
      <p:sp>
        <p:nvSpPr>
          <p:cNvPr id="6" name="Shape 4"/>
          <p:cNvSpPr/>
          <p:nvPr/>
        </p:nvSpPr>
        <p:spPr>
          <a:xfrm>
            <a:off x="548640" y="1737360"/>
            <a:ext cx="11064240" cy="1005840"/>
          </a:xfrm>
          <a:prstGeom prst="roundRect">
            <a:avLst>
              <a:gd name="adj" fmla="val 7273"/>
            </a:avLst>
          </a:prstGeom>
          <a:solidFill>
            <a:srgbClr val="10182B"/>
          </a:solidFill>
          <a:ln w="12700">
            <a:solidFill>
              <a:srgbClr val="2E3E5C"/>
            </a:solidFill>
            <a:prstDash val="solid"/>
          </a:ln>
        </p:spPr>
        <p:txBody>
          <a:bodyPr/>
          <a:lstStyle/>
          <a:p>
            <a:endParaRPr lang="fr-FR"/>
          </a:p>
        </p:txBody>
      </p:sp>
      <p:sp>
        <p:nvSpPr>
          <p:cNvPr id="7" name="Text 5"/>
          <p:cNvSpPr/>
          <p:nvPr/>
        </p:nvSpPr>
        <p:spPr>
          <a:xfrm>
            <a:off x="822960" y="1737360"/>
            <a:ext cx="10515600" cy="1005840"/>
          </a:xfrm>
          <a:prstGeom prst="rect">
            <a:avLst/>
          </a:prstGeom>
          <a:noFill/>
          <a:ln/>
        </p:spPr>
        <p:txBody>
          <a:bodyPr wrap="square" lIns="0" tIns="0" rIns="0" bIns="0" rtlCol="0" anchor="ctr"/>
          <a:lstStyle/>
          <a:p>
            <a:pPr marL="0" indent="0">
              <a:buNone/>
            </a:pPr>
            <a:r>
              <a:rPr lang="en-US" sz="1450" dirty="0">
                <a:solidFill>
                  <a:srgbClr val="7CFC9C"/>
                </a:solidFill>
                <a:latin typeface="Consolas" pitchFamily="34" charset="0"/>
                <a:ea typeface="Consolas" pitchFamily="34" charset="-122"/>
                <a:cs typeface="Consolas" pitchFamily="34" charset="-120"/>
              </a:rPr>
              <a:t>$ curl -H "Authorization: Bearer ****" http://127.0.0.1:5000/sales-by-country</a:t>
            </a:r>
            <a:endParaRPr lang="en-US" sz="1450" dirty="0"/>
          </a:p>
        </p:txBody>
      </p:sp>
      <p:sp>
        <p:nvSpPr>
          <p:cNvPr id="8" name="Shape 6"/>
          <p:cNvSpPr/>
          <p:nvPr/>
        </p:nvSpPr>
        <p:spPr>
          <a:xfrm>
            <a:off x="548640" y="2926080"/>
            <a:ext cx="11064240" cy="3017520"/>
          </a:xfrm>
          <a:prstGeom prst="roundRect">
            <a:avLst>
              <a:gd name="adj" fmla="val 2424"/>
            </a:avLst>
          </a:prstGeom>
          <a:solidFill>
            <a:srgbClr val="10182B"/>
          </a:solidFill>
          <a:ln w="12700">
            <a:solidFill>
              <a:srgbClr val="2E3E5C"/>
            </a:solidFill>
            <a:prstDash val="solid"/>
          </a:ln>
        </p:spPr>
        <p:txBody>
          <a:bodyPr/>
          <a:lstStyle/>
          <a:p>
            <a:endParaRPr lang="fr-FR"/>
          </a:p>
        </p:txBody>
      </p:sp>
      <p:sp>
        <p:nvSpPr>
          <p:cNvPr id="9" name="Text 7"/>
          <p:cNvSpPr/>
          <p:nvPr/>
        </p:nvSpPr>
        <p:spPr>
          <a:xfrm>
            <a:off x="822960" y="3108960"/>
            <a:ext cx="10515600" cy="2651760"/>
          </a:xfrm>
          <a:prstGeom prst="rect">
            <a:avLst/>
          </a:prstGeom>
          <a:noFill/>
          <a:ln/>
        </p:spPr>
        <p:txBody>
          <a:bodyPr wrap="square" lIns="0" tIns="0" rIns="0" bIns="0" rtlCol="0" anchor="ctr"/>
          <a:lstStyle/>
          <a:p>
            <a:pPr marL="0" indent="0">
              <a:lnSpc>
                <a:spcPct val="135000"/>
              </a:lnSpc>
              <a:buNone/>
            </a:pPr>
            <a:r>
              <a:rPr lang="en-US" sz="1300" dirty="0">
                <a:solidFill>
                  <a:srgbClr val="E8E8E8"/>
                </a:solidFill>
                <a:latin typeface="Consolas" pitchFamily="34" charset="0"/>
                <a:ea typeface="Consolas" pitchFamily="34" charset="-122"/>
                <a:cs typeface="Consolas" pitchFamily="34" charset="-120"/>
              </a:rPr>
              <a:t>[</a:t>
            </a:r>
            <a:endParaRPr lang="en-US" sz="1300" dirty="0"/>
          </a:p>
          <a:p>
            <a:pPr marL="0" indent="0">
              <a:lnSpc>
                <a:spcPct val="135000"/>
              </a:lnSpc>
              <a:buNone/>
            </a:pPr>
            <a:r>
              <a:rPr lang="en-US" sz="1300" dirty="0">
                <a:solidFill>
                  <a:srgbClr val="E8E8E8"/>
                </a:solidFill>
                <a:latin typeface="Consolas" pitchFamily="34" charset="0"/>
                <a:ea typeface="Consolas" pitchFamily="34" charset="-122"/>
                <a:cs typeface="Consolas" pitchFamily="34" charset="-120"/>
              </a:rPr>
              <a:t>  {"country_code": "FR", "country_name": "France", "total_orders": 56,</a:t>
            </a:r>
            <a:endParaRPr lang="en-US" sz="1300" dirty="0"/>
          </a:p>
          <a:p>
            <a:pPr marL="0" indent="0">
              <a:lnSpc>
                <a:spcPct val="135000"/>
              </a:lnSpc>
              <a:buNone/>
            </a:pPr>
            <a:r>
              <a:rPr lang="en-US" sz="1300" dirty="0">
                <a:solidFill>
                  <a:srgbClr val="E8E8E8"/>
                </a:solidFill>
                <a:latin typeface="Consolas" pitchFamily="34" charset="0"/>
                <a:ea typeface="Consolas" pitchFamily="34" charset="-122"/>
                <a:cs typeface="Consolas" pitchFamily="34" charset="-120"/>
              </a:rPr>
              <a:t>   "total_quantity": 130, "total_revenue_gbp": 3979.20, "total_revenue_eur": 4654.87},</a:t>
            </a:r>
            <a:endParaRPr lang="en-US" sz="1300" dirty="0"/>
          </a:p>
          <a:p>
            <a:pPr marL="0" indent="0">
              <a:lnSpc>
                <a:spcPct val="135000"/>
              </a:lnSpc>
              <a:buNone/>
            </a:pPr>
            <a:r>
              <a:rPr lang="en-US" sz="1300" dirty="0">
                <a:solidFill>
                  <a:srgbClr val="E8E8E8"/>
                </a:solidFill>
                <a:latin typeface="Consolas" pitchFamily="34" charset="0"/>
                <a:ea typeface="Consolas" pitchFamily="34" charset="-122"/>
                <a:cs typeface="Consolas" pitchFamily="34" charset="-120"/>
              </a:rPr>
              <a:t>  {"country_code": "DE", "country_name": "Germany", "total_orders": 40, ...},</a:t>
            </a:r>
            <a:endParaRPr lang="en-US" sz="1300" dirty="0"/>
          </a:p>
          <a:p>
            <a:pPr marL="0" indent="0">
              <a:lnSpc>
                <a:spcPct val="135000"/>
              </a:lnSpc>
              <a:buNone/>
            </a:pPr>
            <a:r>
              <a:rPr lang="en-US" sz="1300" dirty="0">
                <a:solidFill>
                  <a:srgbClr val="E8E8E8"/>
                </a:solidFill>
                <a:latin typeface="Consolas" pitchFamily="34" charset="0"/>
                <a:ea typeface="Consolas" pitchFamily="34" charset="-122"/>
                <a:cs typeface="Consolas" pitchFamily="34" charset="-120"/>
              </a:rPr>
              <a:t>  {"country_code": "PT", "country_name": "Portugal", "total_orders": 20, ...},</a:t>
            </a:r>
            <a:endParaRPr lang="en-US" sz="1300" dirty="0"/>
          </a:p>
          <a:p>
            <a:pPr marL="0" indent="0">
              <a:lnSpc>
                <a:spcPct val="135000"/>
              </a:lnSpc>
              <a:buNone/>
            </a:pPr>
            <a:r>
              <a:rPr lang="en-US" sz="1300" dirty="0">
                <a:solidFill>
                  <a:srgbClr val="E8E8E8"/>
                </a:solidFill>
                <a:latin typeface="Consolas" pitchFamily="34" charset="0"/>
                <a:ea typeface="Consolas" pitchFamily="34" charset="-122"/>
                <a:cs typeface="Consolas" pitchFamily="34" charset="-120"/>
              </a:rPr>
              <a:t>  {"country_code": "NL", "country_name": "Unknown", "total_orders": 19, ...}</a:t>
            </a:r>
            <a:endParaRPr lang="en-US" sz="1300" dirty="0"/>
          </a:p>
          <a:p>
            <a:pPr marL="0" indent="0">
              <a:lnSpc>
                <a:spcPct val="135000"/>
              </a:lnSpc>
              <a:buNone/>
            </a:pPr>
            <a:r>
              <a:rPr lang="en-US" sz="1300" dirty="0">
                <a:solidFill>
                  <a:srgbClr val="E8E8E8"/>
                </a:solidFill>
                <a:latin typeface="Consolas" pitchFamily="34" charset="0"/>
                <a:ea typeface="Consolas" pitchFamily="34" charset="-122"/>
                <a:cs typeface="Consolas" pitchFamily="34" charset="-120"/>
              </a:rPr>
              <a:t>  ... (8 pays au total)</a:t>
            </a:r>
            <a:endParaRPr lang="en-US" sz="1300" dirty="0"/>
          </a:p>
          <a:p>
            <a:pPr marL="0" indent="0">
              <a:lnSpc>
                <a:spcPct val="135000"/>
              </a:lnSpc>
              <a:buNone/>
            </a:pPr>
            <a:r>
              <a:rPr lang="en-US" sz="1300" dirty="0">
                <a:solidFill>
                  <a:srgbClr val="E8E8E8"/>
                </a:solidFill>
                <a:latin typeface="Consolas" pitchFamily="34" charset="0"/>
                <a:ea typeface="Consolas" pitchFamily="34" charset="-122"/>
                <a:cs typeface="Consolas" pitchFamily="34" charset="-120"/>
              </a:rPr>
              <a:t>]</a:t>
            </a:r>
            <a:endParaRPr lang="en-US" sz="1300" dirty="0"/>
          </a:p>
        </p:txBody>
      </p:sp>
      <p:sp>
        <p:nvSpPr>
          <p:cNvPr id="10" name="Text 8"/>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17 / 20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18</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5</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Versioning &amp; documentation</a:t>
            </a:r>
            <a:endParaRPr lang="en-US" sz="2600" dirty="0"/>
          </a:p>
        </p:txBody>
      </p:sp>
      <p:sp>
        <p:nvSpPr>
          <p:cNvPr id="6" name="Shape 4"/>
          <p:cNvSpPr/>
          <p:nvPr/>
        </p:nvSpPr>
        <p:spPr>
          <a:xfrm>
            <a:off x="548640" y="1691640"/>
            <a:ext cx="5120640" cy="4297680"/>
          </a:xfrm>
          <a:prstGeom prst="roundRect">
            <a:avLst>
              <a:gd name="adj" fmla="val 2128"/>
            </a:avLst>
          </a:prstGeom>
          <a:solidFill>
            <a:srgbClr val="1B2740"/>
          </a:solidFill>
          <a:ln/>
        </p:spPr>
        <p:txBody>
          <a:bodyPr/>
          <a:lstStyle/>
          <a:p>
            <a:endParaRPr lang="fr-FR"/>
          </a:p>
        </p:txBody>
      </p:sp>
      <p:sp>
        <p:nvSpPr>
          <p:cNvPr id="7" name="Text 5"/>
          <p:cNvSpPr/>
          <p:nvPr/>
        </p:nvSpPr>
        <p:spPr>
          <a:xfrm>
            <a:off x="822960" y="1874520"/>
            <a:ext cx="4572000" cy="320040"/>
          </a:xfrm>
          <a:prstGeom prst="rect">
            <a:avLst/>
          </a:prstGeom>
          <a:noFill/>
          <a:ln/>
        </p:spPr>
        <p:txBody>
          <a:bodyPr wrap="square" lIns="0" tIns="0" rIns="0" bIns="0" rtlCol="0" anchor="ctr"/>
          <a:lstStyle/>
          <a:p>
            <a:pPr marL="0" indent="0">
              <a:buNone/>
            </a:pPr>
            <a:r>
              <a:rPr lang="en-US" sz="1250" b="1" dirty="0">
                <a:solidFill>
                  <a:srgbClr val="E8452F"/>
                </a:solidFill>
                <a:latin typeface="Consolas" pitchFamily="34" charset="0"/>
                <a:ea typeface="Consolas" pitchFamily="34" charset="-122"/>
                <a:cs typeface="Consolas" pitchFamily="34" charset="-120"/>
              </a:rPr>
              <a:t>github.com/prieber/BookWorld</a:t>
            </a:r>
            <a:endParaRPr lang="en-US" sz="1250" dirty="0"/>
          </a:p>
        </p:txBody>
      </p:sp>
      <p:sp>
        <p:nvSpPr>
          <p:cNvPr id="8" name="Text 6"/>
          <p:cNvSpPr/>
          <p:nvPr/>
        </p:nvSpPr>
        <p:spPr>
          <a:xfrm>
            <a:off x="868680" y="2331720"/>
            <a:ext cx="4480560" cy="3200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pipeline.py</a:t>
            </a:r>
            <a:endParaRPr lang="en-US" sz="1300" dirty="0"/>
          </a:p>
        </p:txBody>
      </p:sp>
      <p:sp>
        <p:nvSpPr>
          <p:cNvPr id="9" name="Text 7"/>
          <p:cNvSpPr/>
          <p:nvPr/>
        </p:nvSpPr>
        <p:spPr>
          <a:xfrm>
            <a:off x="868680" y="2715768"/>
            <a:ext cx="4480560" cy="3200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api.py</a:t>
            </a:r>
            <a:endParaRPr lang="en-US" sz="1300" dirty="0"/>
          </a:p>
        </p:txBody>
      </p:sp>
      <p:sp>
        <p:nvSpPr>
          <p:cNvPr id="10" name="Text 8"/>
          <p:cNvSpPr/>
          <p:nvPr/>
        </p:nvSpPr>
        <p:spPr>
          <a:xfrm>
            <a:off x="868680" y="3099816"/>
            <a:ext cx="4480560" cy="3200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schema_final.sql</a:t>
            </a:r>
            <a:endParaRPr lang="en-US" sz="1300" dirty="0"/>
          </a:p>
        </p:txBody>
      </p:sp>
      <p:sp>
        <p:nvSpPr>
          <p:cNvPr id="11" name="Text 9"/>
          <p:cNvSpPr/>
          <p:nvPr/>
        </p:nvSpPr>
        <p:spPr>
          <a:xfrm>
            <a:off x="868680" y="3483864"/>
            <a:ext cx="4480560" cy="3200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requirements.txt</a:t>
            </a:r>
            <a:endParaRPr lang="en-US" sz="1300" dirty="0"/>
          </a:p>
        </p:txBody>
      </p:sp>
      <p:sp>
        <p:nvSpPr>
          <p:cNvPr id="12" name="Text 10"/>
          <p:cNvSpPr/>
          <p:nvPr/>
        </p:nvSpPr>
        <p:spPr>
          <a:xfrm>
            <a:off x="868680" y="3867912"/>
            <a:ext cx="4480560" cy="3200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.env.example</a:t>
            </a:r>
            <a:endParaRPr lang="en-US" sz="1300" dirty="0"/>
          </a:p>
        </p:txBody>
      </p:sp>
      <p:sp>
        <p:nvSpPr>
          <p:cNvPr id="13" name="Text 11"/>
          <p:cNvSpPr/>
          <p:nvPr/>
        </p:nvSpPr>
        <p:spPr>
          <a:xfrm>
            <a:off x="868680" y="4251960"/>
            <a:ext cx="4480560" cy="3200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README.md / README.fr.md</a:t>
            </a:r>
            <a:endParaRPr lang="en-US" sz="1300" dirty="0"/>
          </a:p>
        </p:txBody>
      </p:sp>
      <p:sp>
        <p:nvSpPr>
          <p:cNvPr id="14" name="Text 12"/>
          <p:cNvSpPr/>
          <p:nvPr/>
        </p:nvSpPr>
        <p:spPr>
          <a:xfrm>
            <a:off x="868680" y="4636008"/>
            <a:ext cx="4480560" cy="3200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data/</a:t>
            </a:r>
            <a:endParaRPr lang="en-US" sz="1300" dirty="0"/>
          </a:p>
        </p:txBody>
      </p:sp>
      <p:sp>
        <p:nvSpPr>
          <p:cNvPr id="15" name="Text 13"/>
          <p:cNvSpPr/>
          <p:nvPr/>
        </p:nvSpPr>
        <p:spPr>
          <a:xfrm>
            <a:off x="868680" y="5020056"/>
            <a:ext cx="4480560" cy="3200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output_pipeline/</a:t>
            </a:r>
            <a:endParaRPr lang="en-US" sz="1300" dirty="0"/>
          </a:p>
        </p:txBody>
      </p:sp>
      <p:sp>
        <p:nvSpPr>
          <p:cNvPr id="16" name="Shape 14"/>
          <p:cNvSpPr/>
          <p:nvPr/>
        </p:nvSpPr>
        <p:spPr>
          <a:xfrm>
            <a:off x="6035040" y="1691640"/>
            <a:ext cx="5120640" cy="4297680"/>
          </a:xfrm>
          <a:prstGeom prst="roundRect">
            <a:avLst>
              <a:gd name="adj" fmla="val 2128"/>
            </a:avLst>
          </a:prstGeom>
          <a:solidFill>
            <a:srgbClr val="F2F1EF"/>
          </a:solidFill>
          <a:ln/>
        </p:spPr>
        <p:txBody>
          <a:bodyPr/>
          <a:lstStyle/>
          <a:p>
            <a:endParaRPr lang="fr-FR"/>
          </a:p>
        </p:txBody>
      </p:sp>
      <p:sp>
        <p:nvSpPr>
          <p:cNvPr id="17" name="Text 15"/>
          <p:cNvSpPr/>
          <p:nvPr/>
        </p:nvSpPr>
        <p:spPr>
          <a:xfrm>
            <a:off x="6309360" y="1874520"/>
            <a:ext cx="4572000" cy="320040"/>
          </a:xfrm>
          <a:prstGeom prst="rect">
            <a:avLst/>
          </a:prstGeom>
          <a:noFill/>
          <a:ln/>
        </p:spPr>
        <p:txBody>
          <a:bodyPr wrap="square" lIns="0" tIns="0" rIns="0" bIns="0" rtlCol="0" anchor="ctr"/>
          <a:lstStyle/>
          <a:p>
            <a:pPr marL="0" indent="0">
              <a:buNone/>
            </a:pPr>
            <a:r>
              <a:rPr lang="en-US" sz="1400" b="1" dirty="0">
                <a:solidFill>
                  <a:srgbClr val="E8452F"/>
                </a:solidFill>
                <a:latin typeface="Calibri" pitchFamily="34" charset="0"/>
                <a:ea typeface="Calibri" pitchFamily="34" charset="-122"/>
                <a:cs typeface="Calibri" pitchFamily="34" charset="-120"/>
              </a:rPr>
              <a:t>README.md documente</a:t>
            </a:r>
            <a:endParaRPr lang="en-US" sz="1400" dirty="0"/>
          </a:p>
        </p:txBody>
      </p:sp>
      <p:sp>
        <p:nvSpPr>
          <p:cNvPr id="18" name="Text 16"/>
          <p:cNvSpPr/>
          <p:nvPr/>
        </p:nvSpPr>
        <p:spPr>
          <a:xfrm>
            <a:off x="6355080" y="2331720"/>
            <a:ext cx="4480560" cy="411480"/>
          </a:xfrm>
          <a:prstGeom prst="rect">
            <a:avLst/>
          </a:prstGeom>
          <a:noFill/>
          <a:ln/>
        </p:spPr>
        <p:txBody>
          <a:bodyPr wrap="square" lIns="0" tIns="0" rIns="0" bIns="0" rtlCol="0" anchor="ctr"/>
          <a:lstStyle/>
          <a:p>
            <a:pPr marL="0" indent="0">
              <a:buNone/>
            </a:pPr>
            <a:r>
              <a:rPr lang="en-US" sz="1350" dirty="0">
                <a:solidFill>
                  <a:srgbClr val="1B2740"/>
                </a:solidFill>
                <a:latin typeface="Calibri" pitchFamily="34" charset="0"/>
                <a:ea typeface="Calibri" pitchFamily="34" charset="-122"/>
                <a:cs typeface="Calibri" pitchFamily="34" charset="-120"/>
              </a:rPr>
              <a:t>✓ Installation des dépendances</a:t>
            </a:r>
            <a:endParaRPr lang="en-US" sz="1350" dirty="0"/>
          </a:p>
        </p:txBody>
      </p:sp>
      <p:sp>
        <p:nvSpPr>
          <p:cNvPr id="19" name="Text 17"/>
          <p:cNvSpPr/>
          <p:nvPr/>
        </p:nvSpPr>
        <p:spPr>
          <a:xfrm>
            <a:off x="6355080" y="2834640"/>
            <a:ext cx="4480560" cy="411480"/>
          </a:xfrm>
          <a:prstGeom prst="rect">
            <a:avLst/>
          </a:prstGeom>
          <a:noFill/>
          <a:ln/>
        </p:spPr>
        <p:txBody>
          <a:bodyPr wrap="square" lIns="0" tIns="0" rIns="0" bIns="0" rtlCol="0" anchor="ctr"/>
          <a:lstStyle/>
          <a:p>
            <a:pPr marL="0" indent="0">
              <a:buNone/>
            </a:pPr>
            <a:r>
              <a:rPr lang="en-US" sz="1350" dirty="0">
                <a:solidFill>
                  <a:srgbClr val="1B2740"/>
                </a:solidFill>
                <a:latin typeface="Calibri" pitchFamily="34" charset="0"/>
                <a:ea typeface="Calibri" pitchFamily="34" charset="-122"/>
                <a:cs typeface="Calibri" pitchFamily="34" charset="-120"/>
              </a:rPr>
              <a:t>✓ Exécution du pipeline</a:t>
            </a:r>
            <a:endParaRPr lang="en-US" sz="1350" dirty="0"/>
          </a:p>
        </p:txBody>
      </p:sp>
      <p:sp>
        <p:nvSpPr>
          <p:cNvPr id="20" name="Text 18"/>
          <p:cNvSpPr/>
          <p:nvPr/>
        </p:nvSpPr>
        <p:spPr>
          <a:xfrm>
            <a:off x="6355080" y="3337560"/>
            <a:ext cx="4480560" cy="411480"/>
          </a:xfrm>
          <a:prstGeom prst="rect">
            <a:avLst/>
          </a:prstGeom>
          <a:noFill/>
          <a:ln/>
        </p:spPr>
        <p:txBody>
          <a:bodyPr wrap="square" lIns="0" tIns="0" rIns="0" bIns="0" rtlCol="0" anchor="ctr"/>
          <a:lstStyle/>
          <a:p>
            <a:pPr marL="0" indent="0">
              <a:buNone/>
            </a:pPr>
            <a:r>
              <a:rPr lang="en-US" sz="1350" dirty="0">
                <a:solidFill>
                  <a:srgbClr val="1B2740"/>
                </a:solidFill>
                <a:latin typeface="Calibri" pitchFamily="34" charset="0"/>
                <a:ea typeface="Calibri" pitchFamily="34" charset="-122"/>
                <a:cs typeface="Calibri" pitchFamily="34" charset="-120"/>
              </a:rPr>
              <a:t>✓ Lancement de l'API</a:t>
            </a:r>
            <a:endParaRPr lang="en-US" sz="1350" dirty="0"/>
          </a:p>
        </p:txBody>
      </p:sp>
      <p:sp>
        <p:nvSpPr>
          <p:cNvPr id="21" name="Text 19"/>
          <p:cNvSpPr/>
          <p:nvPr/>
        </p:nvSpPr>
        <p:spPr>
          <a:xfrm>
            <a:off x="6355080" y="3840480"/>
            <a:ext cx="4480560" cy="411480"/>
          </a:xfrm>
          <a:prstGeom prst="rect">
            <a:avLst/>
          </a:prstGeom>
          <a:noFill/>
          <a:ln/>
        </p:spPr>
        <p:txBody>
          <a:bodyPr wrap="square" lIns="0" tIns="0" rIns="0" bIns="0" rtlCol="0" anchor="ctr"/>
          <a:lstStyle/>
          <a:p>
            <a:pPr marL="0" indent="0">
              <a:buNone/>
            </a:pPr>
            <a:r>
              <a:rPr lang="en-US" sz="1350" dirty="0">
                <a:solidFill>
                  <a:srgbClr val="1B2740"/>
                </a:solidFill>
                <a:latin typeface="Calibri" pitchFamily="34" charset="0"/>
                <a:ea typeface="Calibri" pitchFamily="34" charset="-122"/>
                <a:cs typeface="Calibri" pitchFamily="34" charset="-120"/>
              </a:rPr>
              <a:t>✓ Authentification par token</a:t>
            </a:r>
            <a:endParaRPr lang="en-US" sz="1350" dirty="0"/>
          </a:p>
        </p:txBody>
      </p:sp>
      <p:sp>
        <p:nvSpPr>
          <p:cNvPr id="22" name="Text 20"/>
          <p:cNvSpPr/>
          <p:nvPr/>
        </p:nvSpPr>
        <p:spPr>
          <a:xfrm>
            <a:off x="6355080" y="4343400"/>
            <a:ext cx="4480560" cy="411480"/>
          </a:xfrm>
          <a:prstGeom prst="rect">
            <a:avLst/>
          </a:prstGeom>
          <a:noFill/>
          <a:ln/>
        </p:spPr>
        <p:txBody>
          <a:bodyPr wrap="square" lIns="0" tIns="0" rIns="0" bIns="0" rtlCol="0" anchor="ctr"/>
          <a:lstStyle/>
          <a:p>
            <a:pPr marL="0" indent="0">
              <a:buNone/>
            </a:pPr>
            <a:r>
              <a:rPr lang="en-US" sz="1350" dirty="0">
                <a:solidFill>
                  <a:srgbClr val="1B2740"/>
                </a:solidFill>
                <a:latin typeface="Calibri" pitchFamily="34" charset="0"/>
                <a:ea typeface="Calibri" pitchFamily="34" charset="-122"/>
                <a:cs typeface="Calibri" pitchFamily="34" charset="-120"/>
              </a:rPr>
              <a:t>✓ Rôle des fichiers principaux</a:t>
            </a:r>
            <a:endParaRPr lang="en-US" sz="1350" dirty="0"/>
          </a:p>
        </p:txBody>
      </p:sp>
      <p:sp>
        <p:nvSpPr>
          <p:cNvPr id="23" name="Text 21"/>
          <p:cNvSpPr/>
          <p:nvPr/>
        </p:nvSpPr>
        <p:spPr>
          <a:xfrm>
            <a:off x="6355080" y="4846320"/>
            <a:ext cx="4480560" cy="411480"/>
          </a:xfrm>
          <a:prstGeom prst="rect">
            <a:avLst/>
          </a:prstGeom>
          <a:noFill/>
          <a:ln/>
        </p:spPr>
        <p:txBody>
          <a:bodyPr wrap="square" lIns="0" tIns="0" rIns="0" bIns="0" rtlCol="0" anchor="ctr"/>
          <a:lstStyle/>
          <a:p>
            <a:pPr marL="0" indent="0">
              <a:buNone/>
            </a:pPr>
            <a:r>
              <a:rPr lang="en-US" sz="1350" dirty="0">
                <a:solidFill>
                  <a:srgbClr val="1B2740"/>
                </a:solidFill>
                <a:latin typeface="Calibri" pitchFamily="34" charset="0"/>
                <a:ea typeface="Calibri" pitchFamily="34" charset="-122"/>
                <a:cs typeface="Calibri" pitchFamily="34" charset="-120"/>
              </a:rPr>
              <a:t>✓ Notes qualité des données</a:t>
            </a:r>
            <a:endParaRPr lang="en-US" sz="1350" dirty="0"/>
          </a:p>
        </p:txBody>
      </p:sp>
      <p:sp>
        <p:nvSpPr>
          <p:cNvPr id="24" name="Text 2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18 / 20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19</a:t>
            </a:r>
            <a:endParaRPr lang="en-US" sz="2000" dirty="0"/>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Calibri" pitchFamily="34" charset="0"/>
                <a:ea typeface="Calibri" pitchFamily="34" charset="-122"/>
                <a:cs typeface="Calibri" pitchFamily="34" charset="-120"/>
              </a:rPr>
              <a:t>POINT 6</a:t>
            </a:r>
            <a:endParaRPr lang="en-US" sz="1200" dirty="0"/>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Calibri" pitchFamily="34" charset="0"/>
                <a:ea typeface="Calibri" pitchFamily="34" charset="-122"/>
                <a:cs typeface="Calibri" pitchFamily="34" charset="-120"/>
              </a:rPr>
              <a:t>Limites et améliorations possibles</a:t>
            </a:r>
            <a:endParaRPr lang="en-US" sz="2600" dirty="0"/>
          </a:p>
        </p:txBody>
      </p:sp>
      <p:sp>
        <p:nvSpPr>
          <p:cNvPr id="6" name="Shape 4"/>
          <p:cNvSpPr/>
          <p:nvPr/>
        </p:nvSpPr>
        <p:spPr>
          <a:xfrm>
            <a:off x="548640" y="1691640"/>
            <a:ext cx="457200" cy="457200"/>
          </a:xfrm>
          <a:prstGeom prst="roundRect">
            <a:avLst>
              <a:gd name="adj" fmla="val 20000"/>
            </a:avLst>
          </a:prstGeom>
          <a:solidFill>
            <a:srgbClr val="E8452F"/>
          </a:solidFill>
          <a:ln/>
        </p:spPr>
        <p:txBody>
          <a:bodyPr/>
          <a:lstStyle/>
          <a:p>
            <a:endParaRPr lang="fr-FR"/>
          </a:p>
        </p:txBody>
      </p:sp>
      <p:sp>
        <p:nvSpPr>
          <p:cNvPr id="7" name="Text 5"/>
          <p:cNvSpPr/>
          <p:nvPr/>
        </p:nvSpPr>
        <p:spPr>
          <a:xfrm>
            <a:off x="54864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1188720" y="1709928"/>
            <a:ext cx="10058400" cy="566928"/>
          </a:xfrm>
          <a:prstGeom prst="roundRect">
            <a:avLst>
              <a:gd name="adj" fmla="val 12903"/>
            </a:avLst>
          </a:prstGeom>
          <a:solidFill>
            <a:srgbClr val="F2F1EF"/>
          </a:solidFill>
          <a:ln/>
        </p:spPr>
        <p:txBody>
          <a:bodyPr/>
          <a:lstStyle/>
          <a:p>
            <a:endParaRPr lang="fr-FR"/>
          </a:p>
        </p:txBody>
      </p:sp>
      <p:sp>
        <p:nvSpPr>
          <p:cNvPr id="9" name="Text 7"/>
          <p:cNvSpPr/>
          <p:nvPr/>
        </p:nvSpPr>
        <p:spPr>
          <a:xfrm>
            <a:off x="1463040" y="1709928"/>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Calibri" pitchFamily="34" charset="0"/>
                <a:ea typeface="Calibri" pitchFamily="34" charset="-122"/>
                <a:cs typeface="Calibri" pitchFamily="34" charset="-120"/>
              </a:rPr>
              <a:t>Intégrité référentielle partielle (3 relations sans FK stricte)</a:t>
            </a:r>
            <a:endParaRPr lang="en-US" sz="1450" dirty="0"/>
          </a:p>
        </p:txBody>
      </p:sp>
      <p:sp>
        <p:nvSpPr>
          <p:cNvPr id="10" name="Shape 8"/>
          <p:cNvSpPr/>
          <p:nvPr/>
        </p:nvSpPr>
        <p:spPr>
          <a:xfrm>
            <a:off x="548640" y="2532888"/>
            <a:ext cx="457200" cy="457200"/>
          </a:xfrm>
          <a:prstGeom prst="roundRect">
            <a:avLst>
              <a:gd name="adj" fmla="val 20000"/>
            </a:avLst>
          </a:prstGeom>
          <a:solidFill>
            <a:srgbClr val="E8452F"/>
          </a:solidFill>
          <a:ln/>
        </p:spPr>
        <p:txBody>
          <a:bodyPr/>
          <a:lstStyle/>
          <a:p>
            <a:endParaRPr lang="fr-FR"/>
          </a:p>
        </p:txBody>
      </p:sp>
      <p:sp>
        <p:nvSpPr>
          <p:cNvPr id="11" name="Text 9"/>
          <p:cNvSpPr/>
          <p:nvPr/>
        </p:nvSpPr>
        <p:spPr>
          <a:xfrm>
            <a:off x="548640" y="25328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Shape 10"/>
          <p:cNvSpPr/>
          <p:nvPr/>
        </p:nvSpPr>
        <p:spPr>
          <a:xfrm>
            <a:off x="1188720" y="2551176"/>
            <a:ext cx="10058400" cy="566928"/>
          </a:xfrm>
          <a:prstGeom prst="roundRect">
            <a:avLst>
              <a:gd name="adj" fmla="val 12903"/>
            </a:avLst>
          </a:prstGeom>
          <a:solidFill>
            <a:srgbClr val="F2F1EF"/>
          </a:solidFill>
          <a:ln/>
        </p:spPr>
        <p:txBody>
          <a:bodyPr/>
          <a:lstStyle/>
          <a:p>
            <a:endParaRPr lang="fr-FR"/>
          </a:p>
        </p:txBody>
      </p:sp>
      <p:sp>
        <p:nvSpPr>
          <p:cNvPr id="13" name="Text 11"/>
          <p:cNvSpPr/>
          <p:nvPr/>
        </p:nvSpPr>
        <p:spPr>
          <a:xfrm>
            <a:off x="1463040" y="2551176"/>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Calibri" pitchFamily="34" charset="0"/>
                <a:ea typeface="Calibri" pitchFamily="34" charset="-122"/>
                <a:cs typeface="Calibri" pitchFamily="34" charset="-120"/>
              </a:rPr>
              <a:t>Peu de nettoyage nécessaire sur les données d'entrée (sources déjà propres)</a:t>
            </a:r>
            <a:endParaRPr lang="en-US" sz="1450" dirty="0"/>
          </a:p>
        </p:txBody>
      </p:sp>
      <p:sp>
        <p:nvSpPr>
          <p:cNvPr id="14" name="Shape 12"/>
          <p:cNvSpPr/>
          <p:nvPr/>
        </p:nvSpPr>
        <p:spPr>
          <a:xfrm>
            <a:off x="548640" y="3374136"/>
            <a:ext cx="457200" cy="457200"/>
          </a:xfrm>
          <a:prstGeom prst="roundRect">
            <a:avLst>
              <a:gd name="adj" fmla="val 20000"/>
            </a:avLst>
          </a:prstGeom>
          <a:solidFill>
            <a:srgbClr val="E8452F"/>
          </a:solidFill>
          <a:ln/>
        </p:spPr>
        <p:txBody>
          <a:bodyPr/>
          <a:lstStyle/>
          <a:p>
            <a:endParaRPr lang="fr-FR"/>
          </a:p>
        </p:txBody>
      </p:sp>
      <p:sp>
        <p:nvSpPr>
          <p:cNvPr id="15" name="Text 13"/>
          <p:cNvSpPr/>
          <p:nvPr/>
        </p:nvSpPr>
        <p:spPr>
          <a:xfrm>
            <a:off x="548640" y="337413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Shape 14"/>
          <p:cNvSpPr/>
          <p:nvPr/>
        </p:nvSpPr>
        <p:spPr>
          <a:xfrm>
            <a:off x="1188720" y="3392424"/>
            <a:ext cx="10058400" cy="566928"/>
          </a:xfrm>
          <a:prstGeom prst="roundRect">
            <a:avLst>
              <a:gd name="adj" fmla="val 12903"/>
            </a:avLst>
          </a:prstGeom>
          <a:solidFill>
            <a:srgbClr val="F2F1EF"/>
          </a:solidFill>
          <a:ln/>
        </p:spPr>
        <p:txBody>
          <a:bodyPr/>
          <a:lstStyle/>
          <a:p>
            <a:endParaRPr lang="fr-FR"/>
          </a:p>
        </p:txBody>
      </p:sp>
      <p:sp>
        <p:nvSpPr>
          <p:cNvPr id="17" name="Text 15"/>
          <p:cNvSpPr/>
          <p:nvPr/>
        </p:nvSpPr>
        <p:spPr>
          <a:xfrm>
            <a:off x="1463040" y="3392424"/>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Calibri" pitchFamily="34" charset="0"/>
                <a:ea typeface="Calibri" pitchFamily="34" charset="-122"/>
                <a:cs typeface="Calibri" pitchFamily="34" charset="-120"/>
              </a:rPr>
              <a:t>API accessible en local uniquement — ngrok pour une démo ponctuelle</a:t>
            </a:r>
            <a:endParaRPr lang="en-US" sz="1450" dirty="0"/>
          </a:p>
        </p:txBody>
      </p:sp>
      <p:sp>
        <p:nvSpPr>
          <p:cNvPr id="18" name="Shape 16"/>
          <p:cNvSpPr/>
          <p:nvPr/>
        </p:nvSpPr>
        <p:spPr>
          <a:xfrm>
            <a:off x="548640" y="4215384"/>
            <a:ext cx="457200" cy="457200"/>
          </a:xfrm>
          <a:prstGeom prst="roundRect">
            <a:avLst>
              <a:gd name="adj" fmla="val 20000"/>
            </a:avLst>
          </a:prstGeom>
          <a:solidFill>
            <a:srgbClr val="E8452F"/>
          </a:solidFill>
          <a:ln/>
        </p:spPr>
        <p:txBody>
          <a:bodyPr/>
          <a:lstStyle/>
          <a:p>
            <a:endParaRPr lang="fr-FR"/>
          </a:p>
        </p:txBody>
      </p:sp>
      <p:sp>
        <p:nvSpPr>
          <p:cNvPr id="19" name="Text 17"/>
          <p:cNvSpPr/>
          <p:nvPr/>
        </p:nvSpPr>
        <p:spPr>
          <a:xfrm>
            <a:off x="548640" y="42153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Shape 18"/>
          <p:cNvSpPr/>
          <p:nvPr/>
        </p:nvSpPr>
        <p:spPr>
          <a:xfrm>
            <a:off x="1188720" y="4233672"/>
            <a:ext cx="10058400" cy="566928"/>
          </a:xfrm>
          <a:prstGeom prst="roundRect">
            <a:avLst>
              <a:gd name="adj" fmla="val 12903"/>
            </a:avLst>
          </a:prstGeom>
          <a:solidFill>
            <a:srgbClr val="F2F1EF"/>
          </a:solidFill>
          <a:ln/>
        </p:spPr>
        <p:txBody>
          <a:bodyPr/>
          <a:lstStyle/>
          <a:p>
            <a:endParaRPr lang="fr-FR"/>
          </a:p>
        </p:txBody>
      </p:sp>
      <p:sp>
        <p:nvSpPr>
          <p:cNvPr id="21" name="Text 19"/>
          <p:cNvSpPr/>
          <p:nvPr/>
        </p:nvSpPr>
        <p:spPr>
          <a:xfrm>
            <a:off x="1463040" y="4233672"/>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Calibri" pitchFamily="34" charset="0"/>
                <a:ea typeface="Calibri" pitchFamily="34" charset="-122"/>
                <a:cs typeface="Calibri" pitchFamily="34" charset="-120"/>
              </a:rPr>
              <a:t>Scraping séquentiel, sans parallélisation</a:t>
            </a:r>
            <a:endParaRPr lang="en-US" sz="1450" dirty="0"/>
          </a:p>
        </p:txBody>
      </p:sp>
      <p:sp>
        <p:nvSpPr>
          <p:cNvPr id="22" name="Shape 20"/>
          <p:cNvSpPr/>
          <p:nvPr/>
        </p:nvSpPr>
        <p:spPr>
          <a:xfrm>
            <a:off x="548640" y="5056632"/>
            <a:ext cx="457200" cy="457200"/>
          </a:xfrm>
          <a:prstGeom prst="roundRect">
            <a:avLst>
              <a:gd name="adj" fmla="val 20000"/>
            </a:avLst>
          </a:prstGeom>
          <a:solidFill>
            <a:srgbClr val="E8452F"/>
          </a:solidFill>
          <a:ln/>
        </p:spPr>
        <p:txBody>
          <a:bodyPr/>
          <a:lstStyle/>
          <a:p>
            <a:endParaRPr lang="fr-FR"/>
          </a:p>
        </p:txBody>
      </p:sp>
      <p:sp>
        <p:nvSpPr>
          <p:cNvPr id="23" name="Text 21"/>
          <p:cNvSpPr/>
          <p:nvPr/>
        </p:nvSpPr>
        <p:spPr>
          <a:xfrm>
            <a:off x="548640" y="50566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Shape 22"/>
          <p:cNvSpPr/>
          <p:nvPr/>
        </p:nvSpPr>
        <p:spPr>
          <a:xfrm>
            <a:off x="1188720" y="5074920"/>
            <a:ext cx="10058400" cy="566928"/>
          </a:xfrm>
          <a:prstGeom prst="roundRect">
            <a:avLst>
              <a:gd name="adj" fmla="val 12903"/>
            </a:avLst>
          </a:prstGeom>
          <a:solidFill>
            <a:srgbClr val="F2F1EF"/>
          </a:solidFill>
          <a:ln/>
        </p:spPr>
        <p:txBody>
          <a:bodyPr/>
          <a:lstStyle/>
          <a:p>
            <a:endParaRPr lang="fr-FR"/>
          </a:p>
        </p:txBody>
      </p:sp>
      <p:sp>
        <p:nvSpPr>
          <p:cNvPr id="25" name="Text 23"/>
          <p:cNvSpPr/>
          <p:nvPr/>
        </p:nvSpPr>
        <p:spPr>
          <a:xfrm>
            <a:off x="1463040" y="5074920"/>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Calibri" pitchFamily="34" charset="0"/>
                <a:ea typeface="Calibri" pitchFamily="34" charset="-122"/>
                <a:cs typeface="Calibri" pitchFamily="34" charset="-120"/>
              </a:rPr>
              <a:t>Authentification simple — à renforcer (JWT, rotation) pour un usage réel</a:t>
            </a:r>
            <a:endParaRPr lang="en-US" sz="1450" dirty="0"/>
          </a:p>
        </p:txBody>
      </p:sp>
      <p:sp>
        <p:nvSpPr>
          <p:cNvPr id="26" name="Text 2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19 / 20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740"/>
        </a:solidFill>
        <a:effectLst/>
      </p:bgPr>
    </p:bg>
    <p:spTree>
      <p:nvGrpSpPr>
        <p:cNvPr id="1" name=""/>
        <p:cNvGrpSpPr/>
        <p:nvPr/>
      </p:nvGrpSpPr>
      <p:grpSpPr>
        <a:xfrm>
          <a:off x="0" y="0"/>
          <a:ext cx="0" cy="0"/>
          <a:chOff x="0" y="0"/>
          <a:chExt cx="0" cy="0"/>
        </a:xfrm>
      </p:grpSpPr>
      <p:sp>
        <p:nvSpPr>
          <p:cNvPr id="2" name="Shape 0"/>
          <p:cNvSpPr/>
          <p:nvPr/>
        </p:nvSpPr>
        <p:spPr>
          <a:xfrm>
            <a:off x="-1371600" y="-1828800"/>
            <a:ext cx="4572000" cy="4572000"/>
          </a:xfrm>
          <a:prstGeom prst="ellipse">
            <a:avLst/>
          </a:prstGeom>
          <a:solidFill>
            <a:srgbClr val="2E3E5C"/>
          </a:solidFill>
          <a:ln/>
        </p:spPr>
        <p:txBody>
          <a:bodyPr/>
          <a:lstStyle/>
          <a:p>
            <a:endParaRPr lang="fr-FR"/>
          </a:p>
        </p:txBody>
      </p:sp>
      <p:sp>
        <p:nvSpPr>
          <p:cNvPr id="3" name="Shape 1"/>
          <p:cNvSpPr/>
          <p:nvPr/>
        </p:nvSpPr>
        <p:spPr>
          <a:xfrm>
            <a:off x="9875520" y="4389120"/>
            <a:ext cx="4114800" cy="4114800"/>
          </a:xfrm>
          <a:prstGeom prst="ellipse">
            <a:avLst/>
          </a:prstGeom>
          <a:solidFill>
            <a:srgbClr val="C23420"/>
          </a:solidFill>
          <a:ln/>
        </p:spPr>
        <p:txBody>
          <a:bodyPr/>
          <a:lstStyle/>
          <a:p>
            <a:endParaRPr lang="fr-FR"/>
          </a:p>
        </p:txBody>
      </p:sp>
      <p:sp>
        <p:nvSpPr>
          <p:cNvPr id="4" name="Text 2"/>
          <p:cNvSpPr/>
          <p:nvPr/>
        </p:nvSpPr>
        <p:spPr>
          <a:xfrm>
            <a:off x="548640" y="1188720"/>
            <a:ext cx="5486400" cy="365760"/>
          </a:xfrm>
          <a:prstGeom prst="rect">
            <a:avLst/>
          </a:prstGeom>
          <a:noFill/>
          <a:ln/>
        </p:spPr>
        <p:txBody>
          <a:bodyPr wrap="square" lIns="0" tIns="0" rIns="0" bIns="0" rtlCol="0" anchor="ctr"/>
          <a:lstStyle/>
          <a:p>
            <a:pPr marL="0" indent="0">
              <a:buNone/>
            </a:pPr>
            <a:r>
              <a:rPr lang="en-US" sz="1300" b="1" kern="0" spc="200" dirty="0">
                <a:solidFill>
                  <a:srgbClr val="E8452F"/>
                </a:solidFill>
                <a:latin typeface="Calibri" pitchFamily="34" charset="0"/>
                <a:ea typeface="Calibri" pitchFamily="34" charset="-122"/>
                <a:cs typeface="Calibri" pitchFamily="34" charset="-120"/>
              </a:rPr>
              <a:t>EN RÉSUMÉ</a:t>
            </a:r>
            <a:endParaRPr lang="en-US" sz="1300" dirty="0"/>
          </a:p>
        </p:txBody>
      </p:sp>
      <p:sp>
        <p:nvSpPr>
          <p:cNvPr id="5" name="Text 3"/>
          <p:cNvSpPr/>
          <p:nvPr/>
        </p:nvSpPr>
        <p:spPr>
          <a:xfrm>
            <a:off x="548640" y="1554480"/>
            <a:ext cx="10058400" cy="9144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Un pipeline complet, de la donnée brute à l'API</a:t>
            </a:r>
            <a:endParaRPr lang="en-US" sz="3400" dirty="0"/>
          </a:p>
        </p:txBody>
      </p:sp>
      <p:sp>
        <p:nvSpPr>
          <p:cNvPr id="6" name="Shape 4"/>
          <p:cNvSpPr/>
          <p:nvPr/>
        </p:nvSpPr>
        <p:spPr>
          <a:xfrm>
            <a:off x="548640" y="2752344"/>
            <a:ext cx="146304" cy="146304"/>
          </a:xfrm>
          <a:prstGeom prst="roundRect">
            <a:avLst>
              <a:gd name="adj" fmla="val 25000"/>
            </a:avLst>
          </a:prstGeom>
          <a:solidFill>
            <a:srgbClr val="E8452F"/>
          </a:solidFill>
          <a:ln/>
        </p:spPr>
        <p:txBody>
          <a:bodyPr/>
          <a:lstStyle/>
          <a:p>
            <a:endParaRPr lang="fr-FR"/>
          </a:p>
        </p:txBody>
      </p:sp>
      <p:sp>
        <p:nvSpPr>
          <p:cNvPr id="7" name="Text 5"/>
          <p:cNvSpPr/>
          <p:nvPr/>
        </p:nvSpPr>
        <p:spPr>
          <a:xfrm>
            <a:off x="914400" y="2697480"/>
            <a:ext cx="10058400" cy="457200"/>
          </a:xfrm>
          <a:prstGeom prst="rect">
            <a:avLst/>
          </a:prstGeom>
          <a:noFill/>
          <a:ln/>
        </p:spPr>
        <p:txBody>
          <a:bodyPr wrap="square" lIns="0" tIns="0" rIns="0" bIns="0" rtlCol="0" anchor="ctr"/>
          <a:lstStyle/>
          <a:p>
            <a:pPr marL="0" indent="0">
              <a:buNone/>
            </a:pPr>
            <a:r>
              <a:rPr lang="en-US" sz="1500" dirty="0">
                <a:solidFill>
                  <a:srgbClr val="E8E8E8"/>
                </a:solidFill>
                <a:latin typeface="Calibri" pitchFamily="34" charset="0"/>
                <a:ea typeface="Calibri" pitchFamily="34" charset="-122"/>
                <a:cs typeface="Calibri" pitchFamily="34" charset="-120"/>
              </a:rPr>
              <a:t>4 sources hétérogènes centralisées, avec une gestion d'erreurs différenciée</a:t>
            </a:r>
            <a:endParaRPr lang="en-US" sz="1500" dirty="0"/>
          </a:p>
        </p:txBody>
      </p:sp>
      <p:sp>
        <p:nvSpPr>
          <p:cNvPr id="8" name="Shape 6"/>
          <p:cNvSpPr/>
          <p:nvPr/>
        </p:nvSpPr>
        <p:spPr>
          <a:xfrm>
            <a:off x="548640" y="3300984"/>
            <a:ext cx="146304" cy="146304"/>
          </a:xfrm>
          <a:prstGeom prst="roundRect">
            <a:avLst>
              <a:gd name="adj" fmla="val 25000"/>
            </a:avLst>
          </a:prstGeom>
          <a:solidFill>
            <a:srgbClr val="E8452F"/>
          </a:solidFill>
          <a:ln/>
        </p:spPr>
        <p:txBody>
          <a:bodyPr/>
          <a:lstStyle/>
          <a:p>
            <a:endParaRPr lang="fr-FR"/>
          </a:p>
        </p:txBody>
      </p:sp>
      <p:sp>
        <p:nvSpPr>
          <p:cNvPr id="9" name="Text 7"/>
          <p:cNvSpPr/>
          <p:nvPr/>
        </p:nvSpPr>
        <p:spPr>
          <a:xfrm>
            <a:off x="914400" y="3246120"/>
            <a:ext cx="10058400" cy="457200"/>
          </a:xfrm>
          <a:prstGeom prst="rect">
            <a:avLst/>
          </a:prstGeom>
          <a:noFill/>
          <a:ln/>
        </p:spPr>
        <p:txBody>
          <a:bodyPr wrap="square" lIns="0" tIns="0" rIns="0" bIns="0" rtlCol="0" anchor="ctr"/>
          <a:lstStyle/>
          <a:p>
            <a:pPr marL="0" indent="0">
              <a:buNone/>
            </a:pPr>
            <a:r>
              <a:rPr lang="en-US" sz="1500" dirty="0">
                <a:solidFill>
                  <a:srgbClr val="E8E8E8"/>
                </a:solidFill>
                <a:latin typeface="Calibri" pitchFamily="34" charset="0"/>
                <a:ea typeface="Calibri" pitchFamily="34" charset="-122"/>
                <a:cs typeface="Calibri" pitchFamily="34" charset="-120"/>
              </a:rPr>
              <a:t>Données réelles imparfaites traitées avec transparence, pas masquées</a:t>
            </a:r>
            <a:endParaRPr lang="en-US" sz="1500" dirty="0"/>
          </a:p>
        </p:txBody>
      </p:sp>
      <p:sp>
        <p:nvSpPr>
          <p:cNvPr id="10" name="Shape 8"/>
          <p:cNvSpPr/>
          <p:nvPr/>
        </p:nvSpPr>
        <p:spPr>
          <a:xfrm>
            <a:off x="548640" y="3849624"/>
            <a:ext cx="146304" cy="146304"/>
          </a:xfrm>
          <a:prstGeom prst="roundRect">
            <a:avLst>
              <a:gd name="adj" fmla="val 25000"/>
            </a:avLst>
          </a:prstGeom>
          <a:solidFill>
            <a:srgbClr val="E8452F"/>
          </a:solidFill>
          <a:ln/>
        </p:spPr>
        <p:txBody>
          <a:bodyPr/>
          <a:lstStyle/>
          <a:p>
            <a:endParaRPr lang="fr-FR"/>
          </a:p>
        </p:txBody>
      </p:sp>
      <p:sp>
        <p:nvSpPr>
          <p:cNvPr id="11" name="Text 9"/>
          <p:cNvSpPr/>
          <p:nvPr/>
        </p:nvSpPr>
        <p:spPr>
          <a:xfrm>
            <a:off x="914400" y="3794760"/>
            <a:ext cx="10058400" cy="457200"/>
          </a:xfrm>
          <a:prstGeom prst="rect">
            <a:avLst/>
          </a:prstGeom>
          <a:noFill/>
          <a:ln/>
        </p:spPr>
        <p:txBody>
          <a:bodyPr wrap="square" lIns="0" tIns="0" rIns="0" bIns="0" rtlCol="0" anchor="ctr"/>
          <a:lstStyle/>
          <a:p>
            <a:pPr marL="0" indent="0">
              <a:buNone/>
            </a:pPr>
            <a:r>
              <a:rPr lang="en-US" sz="1500" dirty="0">
                <a:solidFill>
                  <a:srgbClr val="E8E8E8"/>
                </a:solidFill>
                <a:latin typeface="Calibri" pitchFamily="34" charset="0"/>
                <a:ea typeface="Calibri" pitchFamily="34" charset="-122"/>
                <a:cs typeface="Calibri" pitchFamily="34" charset="-120"/>
              </a:rPr>
              <a:t>Base finale conforme RGPD, API REST sécurisée et documentée</a:t>
            </a:r>
            <a:endParaRPr lang="en-US" sz="1500" dirty="0"/>
          </a:p>
        </p:txBody>
      </p:sp>
      <p:sp>
        <p:nvSpPr>
          <p:cNvPr id="12" name="Shape 10"/>
          <p:cNvSpPr/>
          <p:nvPr/>
        </p:nvSpPr>
        <p:spPr>
          <a:xfrm>
            <a:off x="548640" y="4398264"/>
            <a:ext cx="146304" cy="146304"/>
          </a:xfrm>
          <a:prstGeom prst="roundRect">
            <a:avLst>
              <a:gd name="adj" fmla="val 25000"/>
            </a:avLst>
          </a:prstGeom>
          <a:solidFill>
            <a:srgbClr val="E8452F"/>
          </a:solidFill>
          <a:ln/>
        </p:spPr>
        <p:txBody>
          <a:bodyPr/>
          <a:lstStyle/>
          <a:p>
            <a:endParaRPr lang="fr-FR"/>
          </a:p>
        </p:txBody>
      </p:sp>
      <p:sp>
        <p:nvSpPr>
          <p:cNvPr id="13" name="Text 11"/>
          <p:cNvSpPr/>
          <p:nvPr/>
        </p:nvSpPr>
        <p:spPr>
          <a:xfrm>
            <a:off x="914400" y="4343400"/>
            <a:ext cx="10058400" cy="457200"/>
          </a:xfrm>
          <a:prstGeom prst="rect">
            <a:avLst/>
          </a:prstGeom>
          <a:noFill/>
          <a:ln/>
        </p:spPr>
        <p:txBody>
          <a:bodyPr wrap="square" lIns="0" tIns="0" rIns="0" bIns="0" rtlCol="0" anchor="ctr"/>
          <a:lstStyle/>
          <a:p>
            <a:pPr marL="0" indent="0">
              <a:buNone/>
            </a:pPr>
            <a:r>
              <a:rPr lang="en-US" sz="1500" dirty="0">
                <a:solidFill>
                  <a:srgbClr val="E8E8E8"/>
                </a:solidFill>
                <a:latin typeface="Calibri" pitchFamily="34" charset="0"/>
                <a:ea typeface="Calibri" pitchFamily="34" charset="-122"/>
                <a:cs typeface="Calibri" pitchFamily="34" charset="-120"/>
              </a:rPr>
              <a:t>Projet versionné, testé et documenté de bout en bout sur GitHub</a:t>
            </a:r>
            <a:endParaRPr lang="en-US" sz="1500" dirty="0"/>
          </a:p>
        </p:txBody>
      </p:sp>
      <p:sp>
        <p:nvSpPr>
          <p:cNvPr id="14" name="Shape 12"/>
          <p:cNvSpPr/>
          <p:nvPr/>
        </p:nvSpPr>
        <p:spPr>
          <a:xfrm>
            <a:off x="548640" y="5212080"/>
            <a:ext cx="1097280" cy="0"/>
          </a:xfrm>
          <a:prstGeom prst="line">
            <a:avLst/>
          </a:prstGeom>
          <a:noFill/>
          <a:ln w="38100">
            <a:solidFill>
              <a:srgbClr val="E8452F"/>
            </a:solidFill>
            <a:prstDash val="solid"/>
          </a:ln>
        </p:spPr>
        <p:txBody>
          <a:bodyPr/>
          <a:lstStyle/>
          <a:p>
            <a:endParaRPr lang="fr-FR"/>
          </a:p>
        </p:txBody>
      </p:sp>
      <p:sp>
        <p:nvSpPr>
          <p:cNvPr id="15" name="Text 13"/>
          <p:cNvSpPr/>
          <p:nvPr/>
        </p:nvSpPr>
        <p:spPr>
          <a:xfrm>
            <a:off x="548640" y="5440680"/>
            <a:ext cx="73152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Merci de votre attention</a:t>
            </a:r>
            <a:endParaRPr lang="en-US" sz="2400" dirty="0"/>
          </a:p>
        </p:txBody>
      </p:sp>
      <p:sp>
        <p:nvSpPr>
          <p:cNvPr id="16" name="Text 14"/>
          <p:cNvSpPr/>
          <p:nvPr/>
        </p:nvSpPr>
        <p:spPr>
          <a:xfrm>
            <a:off x="548640" y="5943600"/>
            <a:ext cx="7315200" cy="457200"/>
          </a:xfrm>
          <a:prstGeom prst="rect">
            <a:avLst/>
          </a:prstGeom>
          <a:noFill/>
          <a:ln/>
        </p:spPr>
        <p:txBody>
          <a:bodyPr wrap="square" lIns="0" tIns="0" rIns="0" bIns="0" rtlCol="0" anchor="ctr"/>
          <a:lstStyle/>
          <a:p>
            <a:pPr marL="0" indent="0">
              <a:buNone/>
            </a:pPr>
            <a:r>
              <a:rPr lang="en-US" sz="1600" dirty="0">
                <a:solidFill>
                  <a:srgbClr val="E8452F"/>
                </a:solidFill>
                <a:latin typeface="Calibri" pitchFamily="34" charset="0"/>
                <a:ea typeface="Calibri" pitchFamily="34" charset="-122"/>
                <a:cs typeface="Calibri" pitchFamily="34" charset="-120"/>
              </a:rPr>
              <a:t>Questions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1190</TotalTime>
  <Words>2104</Words>
  <Application>Microsoft Office PowerPoint</Application>
  <PresentationFormat>Grand écran</PresentationFormat>
  <Paragraphs>325</Paragraphs>
  <Slides>20</Slides>
  <Notes>20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20</vt:i4>
      </vt:variant>
    </vt:vector>
  </HeadingPairs>
  <TitlesOfParts>
    <vt:vector size="25" baseType="lpstr">
      <vt:lpstr>Aptos</vt: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Pierre RIEBER</cp:lastModifiedBy>
  <cp:revision>11</cp:revision>
  <dcterms:created xsi:type="dcterms:W3CDTF">2026-07-13T13:30:02Z</dcterms:created>
  <dcterms:modified xsi:type="dcterms:W3CDTF">2026-07-14T09:22:59Z</dcterms:modified>
</cp:coreProperties>
</file>